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Lst>
  <p:sldSz cy="5670550" cx="10080625"/>
  <p:notesSz cx="7559675" cy="106918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451CCBE-08B7-4547-8EA2-F0E2F9F66573}">
  <a:tblStyle styleId="{9451CCBE-08B7-4547-8EA2-F0E2F9F66573}"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5" name="Google Shape;5;n"/>
          <p:cNvSpPr txBox="1"/>
          <p:nvPr>
            <p:ph idx="3" type="hdr"/>
          </p:nvPr>
        </p:nvSpPr>
        <p:spPr>
          <a:xfrm>
            <a:off x="0" y="0"/>
            <a:ext cx="3280680" cy="53424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6" name="Google Shape;6;n"/>
          <p:cNvSpPr txBox="1"/>
          <p:nvPr>
            <p:ph idx="10" type="dt"/>
          </p:nvPr>
        </p:nvSpPr>
        <p:spPr>
          <a:xfrm>
            <a:off x="4278960" y="0"/>
            <a:ext cx="3280680" cy="53424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10157400"/>
            <a:ext cx="3280680" cy="534240"/>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fld id="{00000000-1234-1234-1234-123412341234}" type="slidenum">
              <a:rPr b="0" i="0" lang="es-ES" sz="1400" u="none" cap="none" strike="noStrike">
                <a:latin typeface="Times New Roman"/>
                <a:ea typeface="Times New Roman"/>
                <a:cs typeface="Times New Roman"/>
                <a:sym typeface="Times New Roman"/>
              </a:rPr>
              <a:t>‹#›</a:t>
            </a:fld>
            <a:endParaRPr b="0" i="0" sz="1400" u="none" cap="none" strike="noStrike">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1: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5" name="Google Shape;65;p1: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2: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0" name="Google Shape;70;p2: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3: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6" name="Google Shape;76;p3: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4: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2" name="Google Shape;82;p4: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5: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8" name="Google Shape;88;p5: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6: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95" name="Google Shape;95;p6: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7: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01" name="Google Shape;101;p7: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8: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08" name="Google Shape;108;p8: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9: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15" name="Google Shape;115;p9: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10: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24" name="Google Shape;124;p10: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1: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31" name="Google Shape;131;p11: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2: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38" name="Google Shape;138;p12: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3: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45" name="Google Shape;145;p13: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4: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51" name="Google Shape;151;p14: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5: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59" name="Google Shape;159;p15: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6: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84" name="Google Shape;184;p16: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7: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90" name="Google Shape;190;p17: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8: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02" name="Google Shape;202;p18: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9: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09" name="Google Shape;209;p19: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20: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25" name="Google Shape;225;p20: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1: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35" name="Google Shape;235;p21: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22: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41" name="Google Shape;241;p22: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23: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61" name="Google Shape;261;p23: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4: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77" name="Google Shape;277;p24: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25: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83" name="Google Shape;283;p25: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26: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89" name="Google Shape;289;p26: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27: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295" name="Google Shape;295;p27: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28: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01" name="Google Shape;301;p28: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9: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8" name="Google Shape;308;p29: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s-ES" sz="2000" strike="noStrike">
                <a:latin typeface="Arial"/>
                <a:ea typeface="Arial"/>
                <a:cs typeface="Arial"/>
                <a:sym typeface="Arial"/>
              </a:rPr>
              <a:t>Esquema conceptual: Descripción de alto nivel del contenido de información de la base de datos, independiente del SGBD que se vaya a utilizar.</a:t>
            </a:r>
            <a:endParaRPr b="0" sz="2000" strike="noStrike">
              <a:latin typeface="Arial"/>
              <a:ea typeface="Arial"/>
              <a:cs typeface="Arial"/>
              <a:sym typeface="Arial"/>
            </a:endParaRPr>
          </a:p>
          <a:p>
            <a:pPr indent="0" lvl="0" marL="0" rtl="0" algn="l">
              <a:spcBef>
                <a:spcPts val="0"/>
              </a:spcBef>
              <a:spcAft>
                <a:spcPts val="0"/>
              </a:spcAft>
              <a:buNone/>
            </a:pPr>
            <a:r>
              <a:t/>
            </a:r>
            <a:endParaRPr b="0" sz="2000" strike="noStrike">
              <a:latin typeface="Arial"/>
              <a:ea typeface="Arial"/>
              <a:cs typeface="Arial"/>
              <a:sym typeface="Arial"/>
            </a:endParaRPr>
          </a:p>
          <a:p>
            <a:pPr indent="0" lvl="0" marL="0" rtl="0" algn="l">
              <a:spcBef>
                <a:spcPts val="0"/>
              </a:spcBef>
              <a:spcAft>
                <a:spcPts val="0"/>
              </a:spcAft>
              <a:buNone/>
            </a:pPr>
            <a:r>
              <a:rPr b="0" lang="es-ES" sz="2000" strike="noStrike">
                <a:latin typeface="Arial"/>
                <a:ea typeface="Arial"/>
                <a:cs typeface="Arial"/>
                <a:sym typeface="Arial"/>
              </a:rPr>
              <a:t>Modelo conceptual: Lenguaje que se utiliza para describir esquemas conceptuales.</a:t>
            </a:r>
            <a:endParaRPr b="0" sz="2000" strike="noStrike">
              <a:latin typeface="Arial"/>
              <a:ea typeface="Arial"/>
              <a:cs typeface="Arial"/>
              <a:sym typeface="Arial"/>
            </a:endParaRPr>
          </a:p>
          <a:p>
            <a:pPr indent="0" lvl="0" marL="0" rtl="0" algn="l">
              <a:spcBef>
                <a:spcPts val="0"/>
              </a:spcBef>
              <a:spcAft>
                <a:spcPts val="0"/>
              </a:spcAft>
              <a:buNone/>
            </a:pPr>
            <a:r>
              <a:t/>
            </a:r>
            <a:endParaRPr b="0" sz="2000" strike="noStrike">
              <a:latin typeface="Arial"/>
              <a:ea typeface="Arial"/>
              <a:cs typeface="Arial"/>
              <a:sym typeface="Arial"/>
            </a:endParaRPr>
          </a:p>
          <a:p>
            <a:pPr indent="0" lvl="0" marL="0" rtl="0" algn="l">
              <a:spcBef>
                <a:spcPts val="0"/>
              </a:spcBef>
              <a:spcAft>
                <a:spcPts val="0"/>
              </a:spcAft>
              <a:buNone/>
            </a:pPr>
            <a:r>
              <a:rPr b="0" lang="es-ES" sz="2000" strike="noStrike">
                <a:latin typeface="Arial"/>
                <a:ea typeface="Arial"/>
                <a:cs typeface="Arial"/>
                <a:sym typeface="Arial"/>
              </a:rPr>
              <a:t>Propósito: Obtener un esquema completo que lo exprese todo.</a:t>
            </a:r>
            <a:endParaRPr b="0" sz="2000" strike="noStrike">
              <a:latin typeface="Arial"/>
              <a:ea typeface="Arial"/>
              <a:cs typeface="Arial"/>
              <a:sym typeface="Aria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30: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6" name="Google Shape;316;p30:notes"/>
          <p:cNvSpPr txBox="1"/>
          <p:nvPr>
            <p:ph idx="1" type="body"/>
          </p:nvPr>
        </p:nvSpPr>
        <p:spPr>
          <a:xfrm>
            <a:off x="756000" y="5078520"/>
            <a:ext cx="6047640" cy="1076652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s-ES" sz="2000" strike="noStrike">
                <a:latin typeface="Arial"/>
                <a:ea typeface="Arial"/>
                <a:cs typeface="Arial"/>
                <a:sym typeface="Arial"/>
              </a:rPr>
              <a:t>Modelos de datos físicos</a:t>
            </a:r>
            <a:endParaRPr b="0" sz="2000" strike="noStrike">
              <a:latin typeface="Arial"/>
              <a:ea typeface="Arial"/>
              <a:cs typeface="Arial"/>
              <a:sym typeface="Arial"/>
            </a:endParaRPr>
          </a:p>
          <a:p>
            <a:pPr indent="0" lvl="0" marL="0" rtl="0" algn="l">
              <a:spcBef>
                <a:spcPts val="0"/>
              </a:spcBef>
              <a:spcAft>
                <a:spcPts val="0"/>
              </a:spcAft>
              <a:buNone/>
            </a:pPr>
            <a:r>
              <a:t/>
            </a:r>
            <a:endParaRPr b="0" sz="2000" strike="noStrike">
              <a:latin typeface="Arial"/>
              <a:ea typeface="Arial"/>
              <a:cs typeface="Arial"/>
              <a:sym typeface="Arial"/>
            </a:endParaRPr>
          </a:p>
          <a:p>
            <a:pPr indent="0" lvl="0" marL="0" rtl="0" algn="l">
              <a:spcBef>
                <a:spcPts val="0"/>
              </a:spcBef>
              <a:spcAft>
                <a:spcPts val="0"/>
              </a:spcAft>
              <a:buNone/>
            </a:pPr>
            <a:r>
              <a:rPr b="0" lang="es-ES" sz="2000" strike="noStrike">
                <a:latin typeface="Arial"/>
                <a:ea typeface="Arial"/>
                <a:cs typeface="Arial"/>
                <a:sym typeface="Arial"/>
              </a:rPr>
              <a:t>El modelo de datos físicos representa cómo se construirá el modelo en la base de datos.</a:t>
            </a:r>
            <a:endParaRPr b="0" sz="2000" strike="noStrike">
              <a:latin typeface="Arial"/>
              <a:ea typeface="Arial"/>
              <a:cs typeface="Arial"/>
              <a:sym typeface="Arial"/>
            </a:endParaRPr>
          </a:p>
          <a:p>
            <a:pPr indent="0" lvl="0" marL="0" rtl="0" algn="l">
              <a:spcBef>
                <a:spcPts val="0"/>
              </a:spcBef>
              <a:spcAft>
                <a:spcPts val="0"/>
              </a:spcAft>
              <a:buNone/>
            </a:pPr>
            <a:r>
              <a:t/>
            </a:r>
            <a:endParaRPr b="0" sz="2000" strike="noStrike">
              <a:latin typeface="Arial"/>
              <a:ea typeface="Arial"/>
              <a:cs typeface="Arial"/>
              <a:sym typeface="Arial"/>
            </a:endParaRPr>
          </a:p>
          <a:p>
            <a:pPr indent="0" lvl="0" marL="0" rtl="0" algn="l">
              <a:spcBef>
                <a:spcPts val="0"/>
              </a:spcBef>
              <a:spcAft>
                <a:spcPts val="0"/>
              </a:spcAft>
              <a:buNone/>
            </a:pPr>
            <a:r>
              <a:rPr b="0" lang="es-ES" sz="2000" strike="noStrike">
                <a:latin typeface="Arial"/>
                <a:ea typeface="Arial"/>
                <a:cs typeface="Arial"/>
                <a:sym typeface="Arial"/>
              </a:rPr>
              <a:t>Un modelo de base de datos física muestra todas las estructuras de tabla, incluidos el nombre de columna, el tipo de datos de columna, las restricciones de columna, la clave principal, la clave externa y las relaciones entre las tablas.</a:t>
            </a:r>
            <a:endParaRPr b="0" sz="2000" strike="noStrike">
              <a:latin typeface="Arial"/>
              <a:ea typeface="Arial"/>
              <a:cs typeface="Arial"/>
              <a:sym typeface="Arial"/>
            </a:endParaRPr>
          </a:p>
          <a:p>
            <a:pPr indent="0" lvl="0" marL="0" rtl="0" algn="l">
              <a:spcBef>
                <a:spcPts val="0"/>
              </a:spcBef>
              <a:spcAft>
                <a:spcPts val="0"/>
              </a:spcAft>
              <a:buNone/>
            </a:pPr>
            <a:r>
              <a:t/>
            </a:r>
            <a:endParaRPr b="0" sz="2000" strike="noStrike">
              <a:latin typeface="Arial"/>
              <a:ea typeface="Arial"/>
              <a:cs typeface="Arial"/>
              <a:sym typeface="Arial"/>
            </a:endParaRPr>
          </a:p>
          <a:p>
            <a:pPr indent="0" lvl="0" marL="0" rtl="0" algn="l">
              <a:spcBef>
                <a:spcPts val="0"/>
              </a:spcBef>
              <a:spcAft>
                <a:spcPts val="0"/>
              </a:spcAft>
              <a:buNone/>
            </a:pPr>
            <a:r>
              <a:rPr b="0" lang="es-ES" sz="2000" strike="noStrike">
                <a:latin typeface="Arial"/>
                <a:ea typeface="Arial"/>
                <a:cs typeface="Arial"/>
                <a:sym typeface="Arial"/>
              </a:rPr>
              <a:t>Las características de un modelo de datos físicos incluyen:</a:t>
            </a:r>
            <a:endParaRPr b="0" sz="2000" strike="noStrike">
              <a:latin typeface="Arial"/>
              <a:ea typeface="Arial"/>
              <a:cs typeface="Arial"/>
              <a:sym typeface="Arial"/>
            </a:endParaRPr>
          </a:p>
          <a:p>
            <a:pPr indent="0" lvl="0" marL="0" rtl="0" algn="l">
              <a:spcBef>
                <a:spcPts val="0"/>
              </a:spcBef>
              <a:spcAft>
                <a:spcPts val="0"/>
              </a:spcAft>
              <a:buNone/>
            </a:pPr>
            <a:r>
              <a:t/>
            </a:r>
            <a:endParaRPr b="0" sz="2000" strike="noStrike">
              <a:latin typeface="Arial"/>
              <a:ea typeface="Arial"/>
              <a:cs typeface="Arial"/>
              <a:sym typeface="Arial"/>
            </a:endParaRPr>
          </a:p>
          <a:p>
            <a:pPr indent="0" lvl="0" marL="0" rtl="0" algn="l">
              <a:spcBef>
                <a:spcPts val="0"/>
              </a:spcBef>
              <a:spcAft>
                <a:spcPts val="0"/>
              </a:spcAft>
              <a:buNone/>
            </a:pPr>
            <a:r>
              <a:rPr b="0" lang="es-ES" sz="2000" strike="noStrike">
                <a:latin typeface="Arial"/>
                <a:ea typeface="Arial"/>
                <a:cs typeface="Arial"/>
                <a:sym typeface="Arial"/>
              </a:rPr>
              <a:t>    Especificación de todas las tablas y columnas.</a:t>
            </a:r>
            <a:endParaRPr b="0" sz="2000" strike="noStrike">
              <a:latin typeface="Arial"/>
              <a:ea typeface="Arial"/>
              <a:cs typeface="Arial"/>
              <a:sym typeface="Arial"/>
            </a:endParaRPr>
          </a:p>
          <a:p>
            <a:pPr indent="0" lvl="0" marL="0" rtl="0" algn="l">
              <a:spcBef>
                <a:spcPts val="0"/>
              </a:spcBef>
              <a:spcAft>
                <a:spcPts val="0"/>
              </a:spcAft>
              <a:buNone/>
            </a:pPr>
            <a:r>
              <a:rPr b="0" lang="es-ES" sz="2000" strike="noStrike">
                <a:latin typeface="Arial"/>
                <a:ea typeface="Arial"/>
                <a:cs typeface="Arial"/>
                <a:sym typeface="Arial"/>
              </a:rPr>
              <a:t>    Las claves externas se usan para identificar relaciones entre tablas.</a:t>
            </a:r>
            <a:endParaRPr b="0" sz="2000" strike="noStrike">
              <a:latin typeface="Arial"/>
              <a:ea typeface="Arial"/>
              <a:cs typeface="Arial"/>
              <a:sym typeface="Arial"/>
            </a:endParaRPr>
          </a:p>
          <a:p>
            <a:pPr indent="0" lvl="0" marL="0" rtl="0" algn="l">
              <a:spcBef>
                <a:spcPts val="0"/>
              </a:spcBef>
              <a:spcAft>
                <a:spcPts val="0"/>
              </a:spcAft>
              <a:buNone/>
            </a:pPr>
            <a:r>
              <a:rPr b="0" lang="es-ES" sz="2000" strike="noStrike">
                <a:latin typeface="Arial"/>
                <a:ea typeface="Arial"/>
                <a:cs typeface="Arial"/>
                <a:sym typeface="Arial"/>
              </a:rPr>
              <a:t>    La desnormalización puede ocurrir según los requisitos del usuario.</a:t>
            </a:r>
            <a:endParaRPr b="0" sz="2000" strike="noStrike">
              <a:latin typeface="Arial"/>
              <a:ea typeface="Arial"/>
              <a:cs typeface="Arial"/>
              <a:sym typeface="Arial"/>
            </a:endParaRPr>
          </a:p>
          <a:p>
            <a:pPr indent="0" lvl="0" marL="0" rtl="0" algn="l">
              <a:spcBef>
                <a:spcPts val="0"/>
              </a:spcBef>
              <a:spcAft>
                <a:spcPts val="0"/>
              </a:spcAft>
              <a:buNone/>
            </a:pPr>
            <a:r>
              <a:t/>
            </a:r>
            <a:endParaRPr b="0" sz="2000" strike="noStrike">
              <a:latin typeface="Arial"/>
              <a:ea typeface="Arial"/>
              <a:cs typeface="Arial"/>
              <a:sym typeface="Arial"/>
            </a:endParaRPr>
          </a:p>
          <a:p>
            <a:pPr indent="0" lvl="0" marL="0" rtl="0" algn="l">
              <a:spcBef>
                <a:spcPts val="0"/>
              </a:spcBef>
              <a:spcAft>
                <a:spcPts val="0"/>
              </a:spcAft>
              <a:buNone/>
            </a:pPr>
            <a:r>
              <a:rPr b="0" lang="es-ES" sz="2000" strike="noStrike">
                <a:latin typeface="Arial"/>
                <a:ea typeface="Arial"/>
                <a:cs typeface="Arial"/>
                <a:sym typeface="Arial"/>
              </a:rPr>
              <a:t>Las consideraciones físicas pueden hacer que el modelo de datos físicos sea bastante diferente del modelo de datos lógicos.</a:t>
            </a:r>
            <a:endParaRPr b="0" sz="2000" strike="noStrike">
              <a:latin typeface="Arial"/>
              <a:ea typeface="Arial"/>
              <a:cs typeface="Arial"/>
              <a:sym typeface="Arial"/>
            </a:endParaRPr>
          </a:p>
          <a:p>
            <a:pPr indent="0" lvl="0" marL="0" rtl="0" algn="l">
              <a:spcBef>
                <a:spcPts val="0"/>
              </a:spcBef>
              <a:spcAft>
                <a:spcPts val="0"/>
              </a:spcAft>
              <a:buNone/>
            </a:pPr>
            <a:r>
              <a:t/>
            </a:r>
            <a:endParaRPr b="0" sz="2000" strike="noStrike">
              <a:latin typeface="Arial"/>
              <a:ea typeface="Arial"/>
              <a:cs typeface="Arial"/>
              <a:sym typeface="Arial"/>
            </a:endParaRPr>
          </a:p>
          <a:p>
            <a:pPr indent="0" lvl="0" marL="0" rtl="0" algn="l">
              <a:spcBef>
                <a:spcPts val="0"/>
              </a:spcBef>
              <a:spcAft>
                <a:spcPts val="0"/>
              </a:spcAft>
              <a:buNone/>
            </a:pPr>
            <a:r>
              <a:rPr b="0" lang="es-ES" sz="2000" strike="noStrike">
                <a:latin typeface="Arial"/>
                <a:ea typeface="Arial"/>
                <a:cs typeface="Arial"/>
                <a:sym typeface="Arial"/>
              </a:rPr>
              <a:t>El modelo de datos físicos será diferente para diferentes Sistemas de Gestión de Base de datos. Por ejemplo, el tipo de datos para una columna puede ser diferente entre MySQL y SQL Server.</a:t>
            </a:r>
            <a:endParaRPr b="0" sz="2000" strike="noStrike">
              <a:latin typeface="Arial"/>
              <a:ea typeface="Arial"/>
              <a:cs typeface="Arial"/>
              <a:sym typeface="Arial"/>
            </a:endParaRPr>
          </a:p>
          <a:p>
            <a:pPr indent="0" lvl="0" marL="0" rtl="0" algn="l">
              <a:spcBef>
                <a:spcPts val="0"/>
              </a:spcBef>
              <a:spcAft>
                <a:spcPts val="0"/>
              </a:spcAft>
              <a:buNone/>
            </a:pPr>
            <a:r>
              <a:t/>
            </a:r>
            <a:endParaRPr b="0" sz="2000" strike="noStrike">
              <a:latin typeface="Arial"/>
              <a:ea typeface="Arial"/>
              <a:cs typeface="Arial"/>
              <a:sym typeface="Arial"/>
            </a:endParaRPr>
          </a:p>
          <a:p>
            <a:pPr indent="0" lvl="0" marL="0" rtl="0" algn="l">
              <a:spcBef>
                <a:spcPts val="0"/>
              </a:spcBef>
              <a:spcAft>
                <a:spcPts val="0"/>
              </a:spcAft>
              <a:buNone/>
            </a:pPr>
            <a:r>
              <a:rPr b="0" lang="es-ES" sz="2000" strike="noStrike">
                <a:latin typeface="Arial"/>
                <a:ea typeface="Arial"/>
                <a:cs typeface="Arial"/>
                <a:sym typeface="Arial"/>
              </a:rPr>
              <a:t>Los pasos básico para el diseño del modelo de datos físicos son los siguientes:</a:t>
            </a:r>
            <a:endParaRPr b="0" sz="2000" strike="noStrike">
              <a:latin typeface="Arial"/>
              <a:ea typeface="Arial"/>
              <a:cs typeface="Arial"/>
              <a:sym typeface="Arial"/>
            </a:endParaRPr>
          </a:p>
          <a:p>
            <a:pPr indent="0" lvl="0" marL="0" rtl="0" algn="l">
              <a:spcBef>
                <a:spcPts val="0"/>
              </a:spcBef>
              <a:spcAft>
                <a:spcPts val="0"/>
              </a:spcAft>
              <a:buNone/>
            </a:pPr>
            <a:r>
              <a:t/>
            </a:r>
            <a:endParaRPr b="0" sz="2000" strike="noStrike">
              <a:latin typeface="Arial"/>
              <a:ea typeface="Arial"/>
              <a:cs typeface="Arial"/>
              <a:sym typeface="Arial"/>
            </a:endParaRPr>
          </a:p>
          <a:p>
            <a:pPr indent="0" lvl="0" marL="0" rtl="0" algn="l">
              <a:spcBef>
                <a:spcPts val="0"/>
              </a:spcBef>
              <a:spcAft>
                <a:spcPts val="0"/>
              </a:spcAft>
              <a:buNone/>
            </a:pPr>
            <a:r>
              <a:rPr b="0" lang="es-ES" sz="2000" strike="noStrike">
                <a:latin typeface="Arial"/>
                <a:ea typeface="Arial"/>
                <a:cs typeface="Arial"/>
                <a:sym typeface="Arial"/>
              </a:rPr>
              <a:t>    Convertir entidades en tablas.</a:t>
            </a:r>
            <a:endParaRPr b="0" sz="2000" strike="noStrike">
              <a:latin typeface="Arial"/>
              <a:ea typeface="Arial"/>
              <a:cs typeface="Arial"/>
              <a:sym typeface="Arial"/>
            </a:endParaRPr>
          </a:p>
          <a:p>
            <a:pPr indent="0" lvl="0" marL="0" rtl="0" algn="l">
              <a:spcBef>
                <a:spcPts val="0"/>
              </a:spcBef>
              <a:spcAft>
                <a:spcPts val="0"/>
              </a:spcAft>
              <a:buNone/>
            </a:pPr>
            <a:r>
              <a:rPr b="0" lang="es-ES" sz="2000" strike="noStrike">
                <a:latin typeface="Arial"/>
                <a:ea typeface="Arial"/>
                <a:cs typeface="Arial"/>
                <a:sym typeface="Arial"/>
              </a:rPr>
              <a:t>    Convertir relaciones en claves externas.</a:t>
            </a:r>
            <a:endParaRPr b="0" sz="2000" strike="noStrike">
              <a:latin typeface="Arial"/>
              <a:ea typeface="Arial"/>
              <a:cs typeface="Arial"/>
              <a:sym typeface="Arial"/>
            </a:endParaRPr>
          </a:p>
          <a:p>
            <a:pPr indent="0" lvl="0" marL="0" rtl="0" algn="l">
              <a:spcBef>
                <a:spcPts val="0"/>
              </a:spcBef>
              <a:spcAft>
                <a:spcPts val="0"/>
              </a:spcAft>
              <a:buNone/>
            </a:pPr>
            <a:r>
              <a:rPr b="0" lang="es-ES" sz="2000" strike="noStrike">
                <a:latin typeface="Arial"/>
                <a:ea typeface="Arial"/>
                <a:cs typeface="Arial"/>
                <a:sym typeface="Arial"/>
              </a:rPr>
              <a:t>    Convertir atributos en columnas.</a:t>
            </a:r>
            <a:endParaRPr b="0" sz="2000" strike="noStrike">
              <a:latin typeface="Arial"/>
              <a:ea typeface="Arial"/>
              <a:cs typeface="Arial"/>
              <a:sym typeface="Arial"/>
            </a:endParaRPr>
          </a:p>
          <a:p>
            <a:pPr indent="0" lvl="0" marL="0" rtl="0" algn="l">
              <a:spcBef>
                <a:spcPts val="0"/>
              </a:spcBef>
              <a:spcAft>
                <a:spcPts val="0"/>
              </a:spcAft>
              <a:buNone/>
            </a:pPr>
            <a:r>
              <a:rPr b="0" lang="es-ES" sz="2000" strike="noStrike">
                <a:latin typeface="Arial"/>
                <a:ea typeface="Arial"/>
                <a:cs typeface="Arial"/>
                <a:sym typeface="Arial"/>
              </a:rPr>
              <a:t>    Modificar el modelo de datos físicos en función de las restricciones / requisitos físicos.</a:t>
            </a:r>
            <a:endParaRPr b="0" sz="2000" strike="noStrike">
              <a:latin typeface="Arial"/>
              <a:ea typeface="Arial"/>
              <a:cs typeface="Arial"/>
              <a:sym typeface="Arial"/>
            </a:endParaRPr>
          </a:p>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31: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4" name="Google Shape;324;p31: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s-ES" sz="2000" strike="noStrike">
                <a:latin typeface="Arial"/>
                <a:ea typeface="Arial"/>
                <a:cs typeface="Arial"/>
                <a:sym typeface="Arial"/>
              </a:rPr>
              <a:t>Los pasos para diseñar el modelo de datos lógicos son los siguientes:</a:t>
            </a:r>
            <a:endParaRPr b="0" sz="2000" strike="noStrike">
              <a:latin typeface="Arial"/>
              <a:ea typeface="Arial"/>
              <a:cs typeface="Arial"/>
              <a:sym typeface="Arial"/>
            </a:endParaRPr>
          </a:p>
          <a:p>
            <a:pPr indent="0" lvl="0" marL="0" rtl="0" algn="l">
              <a:spcBef>
                <a:spcPts val="0"/>
              </a:spcBef>
              <a:spcAft>
                <a:spcPts val="0"/>
              </a:spcAft>
              <a:buNone/>
            </a:pPr>
            <a:r>
              <a:t/>
            </a:r>
            <a:endParaRPr b="0" sz="2000" strike="noStrike">
              <a:latin typeface="Arial"/>
              <a:ea typeface="Arial"/>
              <a:cs typeface="Arial"/>
              <a:sym typeface="Arial"/>
            </a:endParaRPr>
          </a:p>
          <a:p>
            <a:pPr indent="0" lvl="0" marL="0" rtl="0" algn="l">
              <a:spcBef>
                <a:spcPts val="0"/>
              </a:spcBef>
              <a:spcAft>
                <a:spcPts val="0"/>
              </a:spcAft>
              <a:buNone/>
            </a:pPr>
            <a:r>
              <a:rPr b="0" lang="es-ES" sz="2000" strike="noStrike">
                <a:latin typeface="Arial"/>
                <a:ea typeface="Arial"/>
                <a:cs typeface="Arial"/>
                <a:sym typeface="Arial"/>
              </a:rPr>
              <a:t>    Especifique claves primarias para todas las entidades.</a:t>
            </a:r>
            <a:endParaRPr b="0" sz="2000" strike="noStrike">
              <a:latin typeface="Arial"/>
              <a:ea typeface="Arial"/>
              <a:cs typeface="Arial"/>
              <a:sym typeface="Arial"/>
            </a:endParaRPr>
          </a:p>
          <a:p>
            <a:pPr indent="0" lvl="0" marL="0" rtl="0" algn="l">
              <a:spcBef>
                <a:spcPts val="0"/>
              </a:spcBef>
              <a:spcAft>
                <a:spcPts val="0"/>
              </a:spcAft>
              <a:buNone/>
            </a:pPr>
            <a:r>
              <a:rPr b="0" lang="es-ES" sz="2000" strike="noStrike">
                <a:latin typeface="Arial"/>
                <a:ea typeface="Arial"/>
                <a:cs typeface="Arial"/>
                <a:sym typeface="Arial"/>
              </a:rPr>
              <a:t>    Encuentra las relaciones entre diferentes entidades.</a:t>
            </a:r>
            <a:endParaRPr b="0" sz="2000" strike="noStrike">
              <a:latin typeface="Arial"/>
              <a:ea typeface="Arial"/>
              <a:cs typeface="Arial"/>
              <a:sym typeface="Arial"/>
            </a:endParaRPr>
          </a:p>
          <a:p>
            <a:pPr indent="0" lvl="0" marL="0" rtl="0" algn="l">
              <a:spcBef>
                <a:spcPts val="0"/>
              </a:spcBef>
              <a:spcAft>
                <a:spcPts val="0"/>
              </a:spcAft>
              <a:buNone/>
            </a:pPr>
            <a:r>
              <a:rPr b="0" lang="es-ES" sz="2000" strike="noStrike">
                <a:latin typeface="Arial"/>
                <a:ea typeface="Arial"/>
                <a:cs typeface="Arial"/>
                <a:sym typeface="Arial"/>
              </a:rPr>
              <a:t>    Encuentra todos los atributos para cada entidad.</a:t>
            </a:r>
            <a:endParaRPr b="0" sz="2000" strike="noStrike">
              <a:latin typeface="Arial"/>
              <a:ea typeface="Arial"/>
              <a:cs typeface="Arial"/>
              <a:sym typeface="Arial"/>
            </a:endParaRPr>
          </a:p>
          <a:p>
            <a:pPr indent="0" lvl="0" marL="0" rtl="0" algn="l">
              <a:spcBef>
                <a:spcPts val="0"/>
              </a:spcBef>
              <a:spcAft>
                <a:spcPts val="0"/>
              </a:spcAft>
              <a:buNone/>
            </a:pPr>
            <a:r>
              <a:rPr b="0" lang="es-ES" sz="2000" strike="noStrike">
                <a:latin typeface="Arial"/>
                <a:ea typeface="Arial"/>
                <a:cs typeface="Arial"/>
                <a:sym typeface="Arial"/>
              </a:rPr>
              <a:t>    Resuelva las relaciones de muchos a muchos.</a:t>
            </a:r>
            <a:endParaRPr b="0" sz="2000" strike="noStrike">
              <a:latin typeface="Arial"/>
              <a:ea typeface="Arial"/>
              <a:cs typeface="Arial"/>
              <a:sym typeface="Arial"/>
            </a:endParaRPr>
          </a:p>
          <a:p>
            <a:pPr indent="0" lvl="0" marL="0" rtl="0" algn="l">
              <a:spcBef>
                <a:spcPts val="0"/>
              </a:spcBef>
              <a:spcAft>
                <a:spcPts val="0"/>
              </a:spcAft>
              <a:buNone/>
            </a:pPr>
            <a:r>
              <a:rPr b="0" lang="es-ES" sz="2000" strike="noStrike">
                <a:latin typeface="Arial"/>
                <a:ea typeface="Arial"/>
                <a:cs typeface="Arial"/>
                <a:sym typeface="Arial"/>
              </a:rPr>
              <a:t>    Normalización.</a:t>
            </a:r>
            <a:endParaRPr b="0" sz="2000" strike="noStrike">
              <a:latin typeface="Arial"/>
              <a:ea typeface="Arial"/>
              <a:cs typeface="Arial"/>
              <a:sym typeface="Arial"/>
            </a:endParaRPr>
          </a:p>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32: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2" name="Google Shape;332;p32: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33: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9" name="Google Shape;339;p33:notes"/>
          <p:cNvSpPr txBox="1"/>
          <p:nvPr>
            <p:ph idx="1" type="body"/>
          </p:nvPr>
        </p:nvSpPr>
        <p:spPr>
          <a:xfrm>
            <a:off x="288000" y="5040000"/>
            <a:ext cx="6912000" cy="5400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s-ES" sz="1200" strike="noStrike">
                <a:latin typeface="Arial"/>
                <a:ea typeface="Arial"/>
                <a:cs typeface="Arial"/>
                <a:sym typeface="Arial"/>
              </a:rPr>
              <a:t>1. Representación de la información: Toda la información en la Base de datos es representada de forma explícita y única a nivel lógico, por medio de valores en columnas de filas de tablas.</a:t>
            </a:r>
            <a:endParaRPr b="0" sz="1200" strike="noStrike">
              <a:latin typeface="Arial"/>
              <a:ea typeface="Arial"/>
              <a:cs typeface="Arial"/>
              <a:sym typeface="Arial"/>
            </a:endParaRPr>
          </a:p>
          <a:p>
            <a:pPr indent="0" lvl="0" marL="0" rtl="0" algn="l">
              <a:spcBef>
                <a:spcPts val="0"/>
              </a:spcBef>
              <a:spcAft>
                <a:spcPts val="0"/>
              </a:spcAft>
              <a:buNone/>
            </a:pPr>
            <a:r>
              <a:t/>
            </a:r>
            <a:endParaRPr b="0" sz="1200" strike="noStrike">
              <a:latin typeface="Arial"/>
              <a:ea typeface="Arial"/>
              <a:cs typeface="Arial"/>
              <a:sym typeface="Arial"/>
            </a:endParaRPr>
          </a:p>
          <a:p>
            <a:pPr indent="0" lvl="0" marL="0" rtl="0" algn="l">
              <a:spcBef>
                <a:spcPts val="0"/>
              </a:spcBef>
              <a:spcAft>
                <a:spcPts val="0"/>
              </a:spcAft>
              <a:buNone/>
            </a:pPr>
            <a:r>
              <a:rPr b="0" lang="es-ES" sz="1200" strike="noStrike">
                <a:latin typeface="Arial"/>
                <a:ea typeface="Arial"/>
                <a:cs typeface="Arial"/>
                <a:sym typeface="Arial"/>
              </a:rPr>
              <a:t>2. Acceso garantizado: Todo dato (valor atómico) debe ser accesible mediante una combinación de tabla, un valor de su clave y el nombre de una columna.</a:t>
            </a:r>
            <a:endParaRPr b="0" sz="1200" strike="noStrike">
              <a:latin typeface="Arial"/>
              <a:ea typeface="Arial"/>
              <a:cs typeface="Arial"/>
              <a:sym typeface="Arial"/>
            </a:endParaRPr>
          </a:p>
          <a:p>
            <a:pPr indent="0" lvl="0" marL="0" rtl="0" algn="l">
              <a:spcBef>
                <a:spcPts val="0"/>
              </a:spcBef>
              <a:spcAft>
                <a:spcPts val="0"/>
              </a:spcAft>
              <a:buNone/>
            </a:pPr>
            <a:r>
              <a:t/>
            </a:r>
            <a:endParaRPr b="0" sz="1200" strike="noStrike">
              <a:latin typeface="Arial"/>
              <a:ea typeface="Arial"/>
              <a:cs typeface="Arial"/>
              <a:sym typeface="Arial"/>
            </a:endParaRPr>
          </a:p>
          <a:p>
            <a:pPr indent="0" lvl="0" marL="0" rtl="0" algn="l">
              <a:spcBef>
                <a:spcPts val="0"/>
              </a:spcBef>
              <a:spcAft>
                <a:spcPts val="0"/>
              </a:spcAft>
              <a:buNone/>
            </a:pPr>
            <a:r>
              <a:rPr b="0" lang="es-ES" sz="1200" strike="noStrike">
                <a:latin typeface="Arial"/>
                <a:ea typeface="Arial"/>
                <a:cs typeface="Arial"/>
                <a:sym typeface="Arial"/>
              </a:rPr>
              <a:t>3. Tratamiento sistemático de valores nulos: El SGBD debe soportar la representación y manipulación de información desconocida y/o no aplicable, independientemente del tipo de dato.</a:t>
            </a:r>
            <a:endParaRPr b="0" sz="1200" strike="noStrike">
              <a:latin typeface="Arial"/>
              <a:ea typeface="Arial"/>
              <a:cs typeface="Arial"/>
              <a:sym typeface="Arial"/>
            </a:endParaRPr>
          </a:p>
          <a:p>
            <a:pPr indent="0" lvl="0" marL="0" rtl="0" algn="l">
              <a:spcBef>
                <a:spcPts val="0"/>
              </a:spcBef>
              <a:spcAft>
                <a:spcPts val="0"/>
              </a:spcAft>
              <a:buNone/>
            </a:pPr>
            <a:r>
              <a:t/>
            </a:r>
            <a:endParaRPr b="0" sz="1200" strike="noStrike">
              <a:latin typeface="Arial"/>
              <a:ea typeface="Arial"/>
              <a:cs typeface="Arial"/>
              <a:sym typeface="Arial"/>
            </a:endParaRPr>
          </a:p>
          <a:p>
            <a:pPr indent="0" lvl="0" marL="0" rtl="0" algn="l">
              <a:spcBef>
                <a:spcPts val="0"/>
              </a:spcBef>
              <a:spcAft>
                <a:spcPts val="0"/>
              </a:spcAft>
              <a:buNone/>
            </a:pPr>
            <a:r>
              <a:rPr b="0" lang="es-ES" sz="1200" strike="noStrike">
                <a:latin typeface="Arial"/>
                <a:ea typeface="Arial"/>
                <a:cs typeface="Arial"/>
                <a:sym typeface="Arial"/>
              </a:rPr>
              <a:t>4. Catálogo en línea (diccionario de datos) basado en el modelo relacional. La descripción de la base de datos se debe representar en el nivel lógico de la misma manera que los datos ordinarios, de forma que los usuarios autorizados puedan consultarla con el mismo lenguaje con el que consultan los datos.</a:t>
            </a:r>
            <a:endParaRPr b="0" sz="1200" strike="noStrike">
              <a:latin typeface="Arial"/>
              <a:ea typeface="Arial"/>
              <a:cs typeface="Arial"/>
              <a:sym typeface="Arial"/>
            </a:endParaRPr>
          </a:p>
          <a:p>
            <a:pPr indent="0" lvl="0" marL="0" rtl="0" algn="l">
              <a:spcBef>
                <a:spcPts val="0"/>
              </a:spcBef>
              <a:spcAft>
                <a:spcPts val="0"/>
              </a:spcAft>
              <a:buNone/>
            </a:pPr>
            <a:r>
              <a:t/>
            </a:r>
            <a:endParaRPr b="0" sz="1200" strike="noStrike">
              <a:latin typeface="Arial"/>
              <a:ea typeface="Arial"/>
              <a:cs typeface="Arial"/>
              <a:sym typeface="Arial"/>
            </a:endParaRPr>
          </a:p>
          <a:p>
            <a:pPr indent="0" lvl="0" marL="0" rtl="0" algn="l">
              <a:spcBef>
                <a:spcPts val="0"/>
              </a:spcBef>
              <a:spcAft>
                <a:spcPts val="0"/>
              </a:spcAft>
              <a:buNone/>
            </a:pPr>
            <a:r>
              <a:rPr b="0" lang="es-ES" sz="1200" strike="noStrike">
                <a:latin typeface="Arial"/>
                <a:ea typeface="Arial"/>
                <a:cs typeface="Arial"/>
                <a:sym typeface="Arial"/>
              </a:rPr>
              <a:t>5. Sublenguaje de datos completo: El SGBD debe soportar al menos un lenguaje relacional:</a:t>
            </a:r>
            <a:endParaRPr b="0" sz="1200" strike="noStrike">
              <a:latin typeface="Arial"/>
              <a:ea typeface="Arial"/>
              <a:cs typeface="Arial"/>
              <a:sym typeface="Arial"/>
            </a:endParaRPr>
          </a:p>
          <a:p>
            <a:pPr indent="0" lvl="0" marL="0" rtl="0" algn="l">
              <a:spcBef>
                <a:spcPts val="0"/>
              </a:spcBef>
              <a:spcAft>
                <a:spcPts val="0"/>
              </a:spcAft>
              <a:buNone/>
            </a:pPr>
            <a:r>
              <a:rPr b="0" lang="es-ES" sz="1200" strike="noStrike">
                <a:latin typeface="Arial"/>
                <a:ea typeface="Arial"/>
                <a:cs typeface="Arial"/>
                <a:sym typeface="Arial"/>
              </a:rPr>
              <a:t>	a) con sintaxis lineal.</a:t>
            </a:r>
            <a:endParaRPr b="0" sz="1200" strike="noStrike">
              <a:latin typeface="Arial"/>
              <a:ea typeface="Arial"/>
              <a:cs typeface="Arial"/>
              <a:sym typeface="Arial"/>
            </a:endParaRPr>
          </a:p>
          <a:p>
            <a:pPr indent="0" lvl="0" marL="0" rtl="0" algn="l">
              <a:spcBef>
                <a:spcPts val="0"/>
              </a:spcBef>
              <a:spcAft>
                <a:spcPts val="0"/>
              </a:spcAft>
              <a:buNone/>
            </a:pPr>
            <a:r>
              <a:rPr b="0" lang="es-ES" sz="1200" strike="noStrike">
                <a:latin typeface="Arial"/>
                <a:ea typeface="Arial"/>
                <a:cs typeface="Arial"/>
                <a:sym typeface="Arial"/>
              </a:rPr>
              <a:t>	b) que pueda ser usado interactivamente o en programas (embebido).</a:t>
            </a:r>
            <a:endParaRPr b="0" sz="1200" strike="noStrike">
              <a:latin typeface="Arial"/>
              <a:ea typeface="Arial"/>
              <a:cs typeface="Arial"/>
              <a:sym typeface="Arial"/>
            </a:endParaRPr>
          </a:p>
          <a:p>
            <a:pPr indent="0" lvl="0" marL="0" rtl="0" algn="l">
              <a:spcBef>
                <a:spcPts val="0"/>
              </a:spcBef>
              <a:spcAft>
                <a:spcPts val="0"/>
              </a:spcAft>
              <a:buNone/>
            </a:pPr>
            <a:r>
              <a:rPr b="0" lang="es-ES" sz="1200" strike="noStrike">
                <a:latin typeface="Arial"/>
                <a:ea typeface="Arial"/>
                <a:cs typeface="Arial"/>
                <a:sym typeface="Arial"/>
              </a:rPr>
              <a:t>	c) con soporte para operaciones de:</a:t>
            </a:r>
            <a:endParaRPr b="0" sz="1200" strike="noStrike">
              <a:latin typeface="Arial"/>
              <a:ea typeface="Arial"/>
              <a:cs typeface="Arial"/>
              <a:sym typeface="Arial"/>
            </a:endParaRPr>
          </a:p>
          <a:p>
            <a:pPr indent="0" lvl="0" marL="0" rtl="0" algn="l">
              <a:spcBef>
                <a:spcPts val="0"/>
              </a:spcBef>
              <a:spcAft>
                <a:spcPts val="0"/>
              </a:spcAft>
              <a:buNone/>
            </a:pPr>
            <a:r>
              <a:rPr b="0" lang="es-ES" sz="1200" strike="noStrike">
                <a:latin typeface="Arial"/>
                <a:ea typeface="Arial"/>
                <a:cs typeface="Arial"/>
                <a:sym typeface="Arial"/>
              </a:rPr>
              <a:t>		- definición de datos (p.e. declaración de vistas).</a:t>
            </a:r>
            <a:endParaRPr b="0" sz="1200" strike="noStrike">
              <a:latin typeface="Arial"/>
              <a:ea typeface="Arial"/>
              <a:cs typeface="Arial"/>
              <a:sym typeface="Arial"/>
            </a:endParaRPr>
          </a:p>
          <a:p>
            <a:pPr indent="0" lvl="0" marL="0" rtl="0" algn="l">
              <a:spcBef>
                <a:spcPts val="0"/>
              </a:spcBef>
              <a:spcAft>
                <a:spcPts val="0"/>
              </a:spcAft>
              <a:buNone/>
            </a:pPr>
            <a:r>
              <a:rPr b="0" lang="es-ES" sz="1200" strike="noStrike">
                <a:latin typeface="Arial"/>
                <a:ea typeface="Arial"/>
                <a:cs typeface="Arial"/>
                <a:sym typeface="Arial"/>
              </a:rPr>
              <a:t>		- manipulación de datos (p.e. recuperación y modificación de tuplas).</a:t>
            </a:r>
            <a:endParaRPr b="0" sz="1200" strike="noStrike">
              <a:latin typeface="Arial"/>
              <a:ea typeface="Arial"/>
              <a:cs typeface="Arial"/>
              <a:sym typeface="Arial"/>
            </a:endParaRPr>
          </a:p>
          <a:p>
            <a:pPr indent="0" lvl="0" marL="0" rtl="0" algn="l">
              <a:spcBef>
                <a:spcPts val="0"/>
              </a:spcBef>
              <a:spcAft>
                <a:spcPts val="0"/>
              </a:spcAft>
              <a:buNone/>
            </a:pPr>
            <a:r>
              <a:rPr b="0" lang="es-ES" sz="1200" strike="noStrike">
                <a:latin typeface="Arial"/>
                <a:ea typeface="Arial"/>
                <a:cs typeface="Arial"/>
                <a:sym typeface="Arial"/>
              </a:rPr>
              <a:t>		- restricciones de seguridad e integridad.</a:t>
            </a:r>
            <a:endParaRPr b="0" sz="1200" strike="noStrike">
              <a:latin typeface="Arial"/>
              <a:ea typeface="Arial"/>
              <a:cs typeface="Arial"/>
              <a:sym typeface="Arial"/>
            </a:endParaRPr>
          </a:p>
          <a:p>
            <a:pPr indent="0" lvl="0" marL="0" rtl="0" algn="l">
              <a:spcBef>
                <a:spcPts val="0"/>
              </a:spcBef>
              <a:spcAft>
                <a:spcPts val="0"/>
              </a:spcAft>
              <a:buNone/>
            </a:pPr>
            <a:r>
              <a:rPr b="0" lang="es-ES" sz="1200" strike="noStrike">
                <a:latin typeface="Arial"/>
                <a:ea typeface="Arial"/>
                <a:cs typeface="Arial"/>
                <a:sym typeface="Arial"/>
              </a:rPr>
              <a:t>		- gestión de transacciones.</a:t>
            </a:r>
            <a:endParaRPr b="0" sz="1200" strike="noStrike">
              <a:latin typeface="Arial"/>
              <a:ea typeface="Arial"/>
              <a:cs typeface="Arial"/>
              <a:sym typeface="Arial"/>
            </a:endParaRPr>
          </a:p>
          <a:p>
            <a:pPr indent="0" lvl="0" marL="0" rtl="0" algn="l">
              <a:spcBef>
                <a:spcPts val="0"/>
              </a:spcBef>
              <a:spcAft>
                <a:spcPts val="0"/>
              </a:spcAft>
              <a:buNone/>
            </a:pPr>
            <a:r>
              <a:t/>
            </a:r>
            <a:endParaRPr b="0" sz="1200" strike="noStrike">
              <a:latin typeface="Arial"/>
              <a:ea typeface="Arial"/>
              <a:cs typeface="Arial"/>
              <a:sym typeface="Arial"/>
            </a:endParaRPr>
          </a:p>
          <a:p>
            <a:pPr indent="0" lvl="0" marL="0" rtl="0" algn="l">
              <a:spcBef>
                <a:spcPts val="0"/>
              </a:spcBef>
              <a:spcAft>
                <a:spcPts val="0"/>
              </a:spcAft>
              <a:buNone/>
            </a:pPr>
            <a:r>
              <a:rPr b="0" lang="es-ES" sz="1200" strike="noStrike">
                <a:latin typeface="Arial"/>
                <a:ea typeface="Arial"/>
                <a:cs typeface="Arial"/>
                <a:sym typeface="Arial"/>
              </a:rPr>
              <a:t>6. Actualización de vistas: todas las vistas teóricamente actualizables deben poder serlo en la práctica.</a:t>
            </a:r>
            <a:endParaRPr b="0" sz="1200" strike="noStrike">
              <a:latin typeface="Arial"/>
              <a:ea typeface="Arial"/>
              <a:cs typeface="Arial"/>
              <a:sym typeface="Arial"/>
            </a:endParaRPr>
          </a:p>
          <a:p>
            <a:pPr indent="0" lvl="0" marL="0" rtl="0" algn="l">
              <a:spcBef>
                <a:spcPts val="0"/>
              </a:spcBef>
              <a:spcAft>
                <a:spcPts val="0"/>
              </a:spcAft>
              <a:buNone/>
            </a:pPr>
            <a:r>
              <a:rPr b="0" lang="es-ES" sz="1200" strike="noStrike">
                <a:latin typeface="Arial"/>
                <a:ea typeface="Arial"/>
                <a:cs typeface="Arial"/>
                <a:sym typeface="Arial"/>
              </a:rPr>
              <a:t>(sigue)</a:t>
            </a:r>
            <a:endParaRPr b="0" sz="1200" strike="noStrike">
              <a:latin typeface="Arial"/>
              <a:ea typeface="Arial"/>
              <a:cs typeface="Arial"/>
              <a:sym typeface="Aria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34: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5" name="Google Shape;345;p34:notes"/>
          <p:cNvSpPr txBox="1"/>
          <p:nvPr>
            <p:ph idx="1" type="body"/>
          </p:nvPr>
        </p:nvSpPr>
        <p:spPr>
          <a:xfrm>
            <a:off x="360000" y="5078520"/>
            <a:ext cx="6840000" cy="4811040"/>
          </a:xfrm>
          <a:prstGeom prst="rect">
            <a:avLst/>
          </a:prstGeom>
          <a:noFill/>
          <a:ln>
            <a:noFill/>
          </a:ln>
        </p:spPr>
        <p:txBody>
          <a:bodyPr anchorCtr="0" anchor="t" bIns="0" lIns="0" spcFirstLastPara="1" rIns="0" wrap="square" tIns="0">
            <a:noAutofit/>
          </a:bodyPr>
          <a:lstStyle/>
          <a:p>
            <a:pPr indent="-216000" lvl="0" marL="216000" rtl="0" algn="l">
              <a:lnSpc>
                <a:spcPct val="115000"/>
              </a:lnSpc>
              <a:spcBef>
                <a:spcPts val="0"/>
              </a:spcBef>
              <a:spcAft>
                <a:spcPts val="0"/>
              </a:spcAft>
              <a:buNone/>
            </a:pPr>
            <a:r>
              <a:rPr b="0" lang="es-ES" sz="1200" strike="noStrike">
                <a:latin typeface="Arial"/>
                <a:ea typeface="Arial"/>
                <a:cs typeface="Arial"/>
                <a:sym typeface="Arial"/>
              </a:rPr>
              <a:t>7. Inserción, modificación y borrado de tuplas de alto nivel: todas las operaciones de manipulación de datos deben operar sobre conjuntos de filas.</a:t>
            </a:r>
            <a:endParaRPr b="0" sz="1200" strike="noStrike">
              <a:latin typeface="Arial"/>
              <a:ea typeface="Arial"/>
              <a:cs typeface="Arial"/>
              <a:sym typeface="Arial"/>
            </a:endParaRPr>
          </a:p>
          <a:p>
            <a:pPr indent="-216000" lvl="0" marL="216000" rtl="0" algn="l">
              <a:lnSpc>
                <a:spcPct val="115000"/>
              </a:lnSpc>
              <a:spcBef>
                <a:spcPts val="0"/>
              </a:spcBef>
              <a:spcAft>
                <a:spcPts val="0"/>
              </a:spcAft>
              <a:buNone/>
            </a:pPr>
            <a:r>
              <a:t/>
            </a:r>
            <a:endParaRPr b="0" sz="1200" strike="noStrike">
              <a:latin typeface="Arial"/>
              <a:ea typeface="Arial"/>
              <a:cs typeface="Arial"/>
              <a:sym typeface="Arial"/>
            </a:endParaRPr>
          </a:p>
          <a:p>
            <a:pPr indent="-216000" lvl="0" marL="216000" rtl="0" algn="l">
              <a:lnSpc>
                <a:spcPct val="115000"/>
              </a:lnSpc>
              <a:spcBef>
                <a:spcPts val="0"/>
              </a:spcBef>
              <a:spcAft>
                <a:spcPts val="0"/>
              </a:spcAft>
              <a:buNone/>
            </a:pPr>
            <a:r>
              <a:rPr b="0" lang="es-ES" sz="1200" strike="noStrike">
                <a:latin typeface="Arial"/>
                <a:ea typeface="Arial"/>
                <a:cs typeface="Arial"/>
                <a:sym typeface="Arial"/>
              </a:rPr>
              <a:t>8. Independencia física de los datos: cambios en los métodos de acceso físico o la forma de</a:t>
            </a:r>
            <a:r>
              <a:rPr b="0" lang="es-ES" sz="2000" strike="noStrike">
                <a:latin typeface="Arial"/>
                <a:ea typeface="Arial"/>
                <a:cs typeface="Arial"/>
                <a:sym typeface="Arial"/>
              </a:rPr>
              <a:t> </a:t>
            </a:r>
            <a:r>
              <a:rPr b="0" lang="es-ES" sz="1200" strike="noStrike">
                <a:latin typeface="Arial"/>
                <a:ea typeface="Arial"/>
                <a:cs typeface="Arial"/>
                <a:sym typeface="Arial"/>
              </a:rPr>
              <a:t>almacenamiento no deben afectar al acceso lógico a los datos.</a:t>
            </a:r>
            <a:endParaRPr b="0" sz="1200" strike="noStrike">
              <a:latin typeface="Arial"/>
              <a:ea typeface="Arial"/>
              <a:cs typeface="Arial"/>
              <a:sym typeface="Arial"/>
            </a:endParaRPr>
          </a:p>
          <a:p>
            <a:pPr indent="-216000" lvl="0" marL="216000" rtl="0" algn="l">
              <a:lnSpc>
                <a:spcPct val="115000"/>
              </a:lnSpc>
              <a:spcBef>
                <a:spcPts val="0"/>
              </a:spcBef>
              <a:spcAft>
                <a:spcPts val="0"/>
              </a:spcAft>
              <a:buNone/>
            </a:pPr>
            <a:r>
              <a:t/>
            </a:r>
            <a:endParaRPr b="0" sz="1200" strike="noStrike">
              <a:latin typeface="Arial"/>
              <a:ea typeface="Arial"/>
              <a:cs typeface="Arial"/>
              <a:sym typeface="Arial"/>
            </a:endParaRPr>
          </a:p>
          <a:p>
            <a:pPr indent="-216000" lvl="0" marL="216000" rtl="0" algn="l">
              <a:lnSpc>
                <a:spcPct val="115000"/>
              </a:lnSpc>
              <a:spcBef>
                <a:spcPts val="0"/>
              </a:spcBef>
              <a:spcAft>
                <a:spcPts val="0"/>
              </a:spcAft>
              <a:buNone/>
            </a:pPr>
            <a:r>
              <a:rPr b="0" lang="es-ES" sz="1200" strike="noStrike">
                <a:latin typeface="Arial"/>
                <a:ea typeface="Arial"/>
                <a:cs typeface="Arial"/>
                <a:sym typeface="Arial"/>
              </a:rPr>
              <a:t>9. Independencia lógica de los datos: los programas de aplicación no deben ser afectados por cambios en las tablas que preservan la integridad.</a:t>
            </a:r>
            <a:endParaRPr b="0" sz="1200" strike="noStrike">
              <a:latin typeface="Arial"/>
              <a:ea typeface="Arial"/>
              <a:cs typeface="Arial"/>
              <a:sym typeface="Arial"/>
            </a:endParaRPr>
          </a:p>
          <a:p>
            <a:pPr indent="-216000" lvl="0" marL="216000" rtl="0" algn="l">
              <a:lnSpc>
                <a:spcPct val="115000"/>
              </a:lnSpc>
              <a:spcBef>
                <a:spcPts val="0"/>
              </a:spcBef>
              <a:spcAft>
                <a:spcPts val="0"/>
              </a:spcAft>
              <a:buNone/>
            </a:pPr>
            <a:r>
              <a:t/>
            </a:r>
            <a:endParaRPr b="0" sz="1200" strike="noStrike">
              <a:latin typeface="Arial"/>
              <a:ea typeface="Arial"/>
              <a:cs typeface="Arial"/>
              <a:sym typeface="Arial"/>
            </a:endParaRPr>
          </a:p>
          <a:p>
            <a:pPr indent="-216000" lvl="0" marL="216000" rtl="0" algn="l">
              <a:lnSpc>
                <a:spcPct val="115000"/>
              </a:lnSpc>
              <a:spcBef>
                <a:spcPts val="0"/>
              </a:spcBef>
              <a:spcAft>
                <a:spcPts val="0"/>
              </a:spcAft>
              <a:buNone/>
            </a:pPr>
            <a:r>
              <a:rPr b="0" lang="es-ES" sz="1200" strike="noStrike">
                <a:latin typeface="Arial"/>
                <a:ea typeface="Arial"/>
                <a:cs typeface="Arial"/>
                <a:sym typeface="Arial"/>
              </a:rPr>
              <a:t>10. Independencia de la integridad: Las restricciones de integridad deben estar separadas de los programas, almacenadas en el catálogo de la BD para ser editadas mediante un sublenguaje de datos.</a:t>
            </a:r>
            <a:endParaRPr b="0" sz="1200" strike="noStrike">
              <a:latin typeface="Arial"/>
              <a:ea typeface="Arial"/>
              <a:cs typeface="Arial"/>
              <a:sym typeface="Arial"/>
            </a:endParaRPr>
          </a:p>
          <a:p>
            <a:pPr indent="-216000" lvl="0" marL="216000" rtl="0" algn="l">
              <a:lnSpc>
                <a:spcPct val="115000"/>
              </a:lnSpc>
              <a:spcBef>
                <a:spcPts val="0"/>
              </a:spcBef>
              <a:spcAft>
                <a:spcPts val="0"/>
              </a:spcAft>
              <a:buNone/>
            </a:pPr>
            <a:r>
              <a:t/>
            </a:r>
            <a:endParaRPr b="0" sz="1200" strike="noStrike">
              <a:latin typeface="Arial"/>
              <a:ea typeface="Arial"/>
              <a:cs typeface="Arial"/>
              <a:sym typeface="Arial"/>
            </a:endParaRPr>
          </a:p>
          <a:p>
            <a:pPr indent="-216000" lvl="0" marL="216000" rtl="0" algn="l">
              <a:lnSpc>
                <a:spcPct val="115000"/>
              </a:lnSpc>
              <a:spcBef>
                <a:spcPts val="0"/>
              </a:spcBef>
              <a:spcAft>
                <a:spcPts val="0"/>
              </a:spcAft>
              <a:buNone/>
            </a:pPr>
            <a:r>
              <a:rPr b="0" lang="es-ES" sz="1200" strike="noStrike">
                <a:latin typeface="Arial"/>
                <a:ea typeface="Arial"/>
                <a:cs typeface="Arial"/>
                <a:sym typeface="Arial"/>
              </a:rPr>
              <a:t>11. Independencia de la distribución: Las aplicaciones no deben verse afectadas al distribuir (dividir entre varias máquinas), o al cambiar la distribución ya existente de la Base de Datos.</a:t>
            </a:r>
            <a:endParaRPr b="0" sz="1200" strike="noStrike">
              <a:latin typeface="Arial"/>
              <a:ea typeface="Arial"/>
              <a:cs typeface="Arial"/>
              <a:sym typeface="Arial"/>
            </a:endParaRPr>
          </a:p>
          <a:p>
            <a:pPr indent="-216000" lvl="0" marL="216000" rtl="0" algn="l">
              <a:lnSpc>
                <a:spcPct val="115000"/>
              </a:lnSpc>
              <a:spcBef>
                <a:spcPts val="0"/>
              </a:spcBef>
              <a:spcAft>
                <a:spcPts val="0"/>
              </a:spcAft>
              <a:buNone/>
            </a:pPr>
            <a:r>
              <a:t/>
            </a:r>
            <a:endParaRPr b="0" sz="1200" strike="noStrike">
              <a:latin typeface="Arial"/>
              <a:ea typeface="Arial"/>
              <a:cs typeface="Arial"/>
              <a:sym typeface="Arial"/>
            </a:endParaRPr>
          </a:p>
          <a:p>
            <a:pPr indent="-216000" lvl="0" marL="216000" rtl="0" algn="l">
              <a:lnSpc>
                <a:spcPct val="115000"/>
              </a:lnSpc>
              <a:spcBef>
                <a:spcPts val="0"/>
              </a:spcBef>
              <a:spcAft>
                <a:spcPts val="0"/>
              </a:spcAft>
              <a:buNone/>
            </a:pPr>
            <a:r>
              <a:rPr b="0" lang="es-ES" sz="1200" strike="noStrike">
                <a:latin typeface="Arial"/>
                <a:ea typeface="Arial"/>
                <a:cs typeface="Arial"/>
                <a:sym typeface="Arial"/>
              </a:rPr>
              <a:t>12. Regla de no subversión: Si el sistema posee un interfaz de bajo nivel (p.e. mediante llamadas en C), éste no puede utilizarse para saltarse las reglas de integridad y las restricciones expresadas por medio de un lenguaje de más alto nivel.</a:t>
            </a:r>
            <a:endParaRPr b="0" sz="1200" strike="noStrike">
              <a:latin typeface="Arial"/>
              <a:ea typeface="Arial"/>
              <a:cs typeface="Arial"/>
              <a:sym typeface="Aria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35: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51" name="Google Shape;351;p35: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36: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55" name="Google Shape;355;p36: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37: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59" name="Google Shape;359;p37: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38: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63" name="Google Shape;363;p38: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39: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69" name="Google Shape;369;p39: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40: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77" name="Google Shape;377;p40: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41: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83" name="Google Shape;383;p41: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42: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89" name="Google Shape;389;p42: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43: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5" name="Google Shape;395;p43:notes"/>
          <p:cNvSpPr txBox="1"/>
          <p:nvPr>
            <p:ph idx="1" type="body"/>
          </p:nvPr>
        </p:nvSpPr>
        <p:spPr>
          <a:xfrm>
            <a:off x="756000" y="5078520"/>
            <a:ext cx="6047640" cy="27482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s-ES" sz="2000" strike="noStrike">
                <a:latin typeface="Arial"/>
                <a:ea typeface="Arial"/>
                <a:cs typeface="Arial"/>
                <a:sym typeface="Arial"/>
              </a:rPr>
              <a:t>Selección - restricción (σ)</a:t>
            </a:r>
            <a:endParaRPr b="0" sz="2000" strike="noStrike">
              <a:latin typeface="Arial"/>
              <a:ea typeface="Arial"/>
              <a:cs typeface="Arial"/>
              <a:sym typeface="Arial"/>
            </a:endParaRPr>
          </a:p>
          <a:p>
            <a:pPr indent="0" lvl="0" marL="0" rtl="0" algn="l">
              <a:spcBef>
                <a:spcPts val="0"/>
              </a:spcBef>
              <a:spcAft>
                <a:spcPts val="0"/>
              </a:spcAft>
              <a:buNone/>
            </a:pPr>
            <a:r>
              <a:t/>
            </a:r>
            <a:endParaRPr b="0" sz="2000" strike="noStrike">
              <a:latin typeface="Arial"/>
              <a:ea typeface="Arial"/>
              <a:cs typeface="Arial"/>
              <a:sym typeface="Arial"/>
            </a:endParaRPr>
          </a:p>
          <a:p>
            <a:pPr indent="0" lvl="0" marL="0" rtl="0" algn="l">
              <a:spcBef>
                <a:spcPts val="0"/>
              </a:spcBef>
              <a:spcAft>
                <a:spcPts val="0"/>
              </a:spcAft>
              <a:buNone/>
            </a:pPr>
            <a:r>
              <a:rPr b="0" lang="es-ES" sz="2000" strike="noStrike">
                <a:latin typeface="Arial"/>
                <a:ea typeface="Arial"/>
                <a:cs typeface="Arial"/>
                <a:sym typeface="Arial"/>
              </a:rPr>
              <a:t>Permite seleccionar un subconjunto de tuplas de una relación (R), todas aquellas que cumplan la(s) condición(es) P, esto es:</a:t>
            </a:r>
            <a:endParaRPr b="0" sz="2000" strike="noStrike">
              <a:latin typeface="Arial"/>
              <a:ea typeface="Arial"/>
              <a:cs typeface="Arial"/>
              <a:sym typeface="Arial"/>
            </a:endParaRPr>
          </a:p>
          <a:p>
            <a:pPr indent="0" lvl="0" marL="0" rtl="0" algn="l">
              <a:spcBef>
                <a:spcPts val="0"/>
              </a:spcBef>
              <a:spcAft>
                <a:spcPts val="0"/>
              </a:spcAft>
              <a:buNone/>
            </a:pPr>
            <a:r>
              <a:t/>
            </a:r>
            <a:endParaRPr b="0" sz="2000" strike="noStrike">
              <a:latin typeface="Arial"/>
              <a:ea typeface="Arial"/>
              <a:cs typeface="Arial"/>
              <a:sym typeface="Arial"/>
            </a:endParaRPr>
          </a:p>
          <a:p>
            <a:pPr indent="0" lvl="0" marL="0" rtl="0" algn="l">
              <a:spcBef>
                <a:spcPts val="0"/>
              </a:spcBef>
              <a:spcAft>
                <a:spcPts val="0"/>
              </a:spcAft>
              <a:buNone/>
            </a:pPr>
            <a:r>
              <a:rPr b="0" lang="es-ES" sz="2000" strike="noStrike">
                <a:latin typeface="Arial"/>
                <a:ea typeface="Arial"/>
                <a:cs typeface="Arial"/>
                <a:sym typeface="Arial"/>
              </a:rPr>
              <a:t>        σ P ( R ) {\displaystyle \sigma _{P}(R)\!} {\displaystyle \sigma _{P}(R)\!}</a:t>
            </a:r>
            <a:endParaRPr b="0" sz="2000" strike="noStrike">
              <a:latin typeface="Arial"/>
              <a:ea typeface="Arial"/>
              <a:cs typeface="Arial"/>
              <a:sym typeface="Arial"/>
            </a:endParaRPr>
          </a:p>
          <a:p>
            <a:pPr indent="0" lvl="0" marL="0" rtl="0" algn="l">
              <a:spcBef>
                <a:spcPts val="0"/>
              </a:spcBef>
              <a:spcAft>
                <a:spcPts val="0"/>
              </a:spcAft>
              <a:buNone/>
            </a:pPr>
            <a:r>
              <a:t/>
            </a:r>
            <a:endParaRPr b="0" sz="2000" strike="noStrike">
              <a:latin typeface="Arial"/>
              <a:ea typeface="Arial"/>
              <a:cs typeface="Arial"/>
              <a:sym typeface="Arial"/>
            </a:endParaRPr>
          </a:p>
          <a:p>
            <a:pPr indent="0" lvl="0" marL="0" rtl="0" algn="l">
              <a:spcBef>
                <a:spcPts val="0"/>
              </a:spcBef>
              <a:spcAft>
                <a:spcPts val="0"/>
              </a:spcAft>
              <a:buNone/>
            </a:pPr>
            <a:r>
              <a:rPr b="0" lang="es-ES" sz="2000" strike="noStrike">
                <a:latin typeface="Arial"/>
                <a:ea typeface="Arial"/>
                <a:cs typeface="Arial"/>
                <a:sym typeface="Arial"/>
              </a:rPr>
              <a:t>Ejemplo:</a:t>
            </a:r>
            <a:endParaRPr b="0" sz="2000" strike="noStrike">
              <a:latin typeface="Arial"/>
              <a:ea typeface="Arial"/>
              <a:cs typeface="Arial"/>
              <a:sym typeface="Arial"/>
            </a:endParaRPr>
          </a:p>
          <a:p>
            <a:pPr indent="0" lvl="0" marL="0" rtl="0" algn="l">
              <a:spcBef>
                <a:spcPts val="0"/>
              </a:spcBef>
              <a:spcAft>
                <a:spcPts val="0"/>
              </a:spcAft>
              <a:buNone/>
            </a:pPr>
            <a:r>
              <a:t/>
            </a:r>
            <a:endParaRPr b="0" sz="2000" strike="noStrike">
              <a:latin typeface="Arial"/>
              <a:ea typeface="Arial"/>
              <a:cs typeface="Arial"/>
              <a:sym typeface="Arial"/>
            </a:endParaRPr>
          </a:p>
          <a:p>
            <a:pPr indent="0" lvl="0" marL="0" rtl="0" algn="l">
              <a:spcBef>
                <a:spcPts val="0"/>
              </a:spcBef>
              <a:spcAft>
                <a:spcPts val="0"/>
              </a:spcAft>
              <a:buNone/>
            </a:pPr>
            <a:r>
              <a:rPr b="0" lang="es-ES" sz="2000" strike="noStrike">
                <a:latin typeface="Arial"/>
                <a:ea typeface="Arial"/>
                <a:cs typeface="Arial"/>
                <a:sym typeface="Arial"/>
              </a:rPr>
              <a:t>        σ A p e l l i d o = G o m e z ( A l u m n o s ) {\displaystyle \sigma _{Apellido=Gomez}(Alumnos)\!} {\displaystyle \sigma _{Apellido=Gomez}(Alumnos)\!}</a:t>
            </a:r>
            <a:endParaRPr b="0" sz="2000" strike="noStrike">
              <a:latin typeface="Arial"/>
              <a:ea typeface="Arial"/>
              <a:cs typeface="Arial"/>
              <a:sym typeface="Arial"/>
            </a:endParaRPr>
          </a:p>
          <a:p>
            <a:pPr indent="0" lvl="0" marL="0" rtl="0" algn="l">
              <a:spcBef>
                <a:spcPts val="0"/>
              </a:spcBef>
              <a:spcAft>
                <a:spcPts val="0"/>
              </a:spcAft>
              <a:buNone/>
            </a:pPr>
            <a:r>
              <a:t/>
            </a:r>
            <a:endParaRPr b="0" sz="2000" strike="noStrike">
              <a:latin typeface="Arial"/>
              <a:ea typeface="Arial"/>
              <a:cs typeface="Arial"/>
              <a:sym typeface="Arial"/>
            </a:endParaRPr>
          </a:p>
          <a:p>
            <a:pPr indent="0" lvl="0" marL="0" rtl="0" algn="l">
              <a:spcBef>
                <a:spcPts val="0"/>
              </a:spcBef>
              <a:spcAft>
                <a:spcPts val="0"/>
              </a:spcAft>
              <a:buNone/>
            </a:pPr>
            <a:r>
              <a:rPr b="0" lang="es-ES" sz="2000" strike="noStrike">
                <a:latin typeface="Arial"/>
                <a:ea typeface="Arial"/>
                <a:cs typeface="Arial"/>
                <a:sym typeface="Arial"/>
              </a:rPr>
              <a:t>Selecciona todas las tuplas que contengan Gómez como apellido en la relación Alumnos.</a:t>
            </a:r>
            <a:endParaRPr b="0" sz="2000" strike="noStrike">
              <a:latin typeface="Arial"/>
              <a:ea typeface="Arial"/>
              <a:cs typeface="Arial"/>
              <a:sym typeface="Arial"/>
            </a:endParaRPr>
          </a:p>
          <a:p>
            <a:pPr indent="0" lvl="0" marL="0" rtl="0" algn="l">
              <a:spcBef>
                <a:spcPts val="0"/>
              </a:spcBef>
              <a:spcAft>
                <a:spcPts val="0"/>
              </a:spcAft>
              <a:buNone/>
            </a:pPr>
            <a:r>
              <a:t/>
            </a:r>
            <a:endParaRPr b="0" sz="2000" strike="noStrike">
              <a:latin typeface="Arial"/>
              <a:ea typeface="Arial"/>
              <a:cs typeface="Arial"/>
              <a:sym typeface="Arial"/>
            </a:endParaRPr>
          </a:p>
          <a:p>
            <a:pPr indent="0" lvl="0" marL="0" rtl="0" algn="l">
              <a:spcBef>
                <a:spcPts val="0"/>
              </a:spcBef>
              <a:spcAft>
                <a:spcPts val="0"/>
              </a:spcAft>
              <a:buNone/>
            </a:pPr>
            <a:r>
              <a:rPr b="0" lang="es-ES" sz="2000" strike="noStrike">
                <a:latin typeface="Arial"/>
                <a:ea typeface="Arial"/>
                <a:cs typeface="Arial"/>
                <a:sym typeface="Arial"/>
              </a:rPr>
              <a:t>Una condición puede ser una combinación booleana, donde se pueden usar operadores como: ∧ {\displaystyle \wedge } \wedge , ∨ {\displaystyle \vee } \vee, combinándolos con operadores &lt; , &gt; , ≤ , ≥ , = , ≠ {\displaystyle &lt;,&gt;,\leq ,\geq ,=,\neq } {\displaystyle &lt;,&gt;,\leq ,\geq ,=,\neq }.</a:t>
            </a:r>
            <a:endParaRPr b="0" sz="2000" strike="noStrike">
              <a:latin typeface="Arial"/>
              <a:ea typeface="Arial"/>
              <a:cs typeface="Arial"/>
              <a:sym typeface="Arial"/>
            </a:endParaRPr>
          </a:p>
          <a:p>
            <a:pPr indent="0" lvl="0" marL="0" rtl="0" algn="l">
              <a:spcBef>
                <a:spcPts val="0"/>
              </a:spcBef>
              <a:spcAft>
                <a:spcPts val="0"/>
              </a:spcAft>
              <a:buNone/>
            </a:pPr>
            <a:r>
              <a:rPr b="0" lang="es-ES" sz="2000" strike="noStrike">
                <a:latin typeface="Arial"/>
                <a:ea typeface="Arial"/>
                <a:cs typeface="Arial"/>
                <a:sym typeface="Arial"/>
              </a:rPr>
              <a:t>Proyección (Π)</a:t>
            </a:r>
            <a:endParaRPr b="0" sz="2000" strike="noStrike">
              <a:latin typeface="Arial"/>
              <a:ea typeface="Arial"/>
              <a:cs typeface="Arial"/>
              <a:sym typeface="Arial"/>
            </a:endParaRPr>
          </a:p>
          <a:p>
            <a:pPr indent="0" lvl="0" marL="0" rtl="0" algn="l">
              <a:spcBef>
                <a:spcPts val="0"/>
              </a:spcBef>
              <a:spcAft>
                <a:spcPts val="0"/>
              </a:spcAft>
              <a:buNone/>
            </a:pPr>
            <a:r>
              <a:t/>
            </a:r>
            <a:endParaRPr b="0" sz="2000" strike="noStrike">
              <a:latin typeface="Arial"/>
              <a:ea typeface="Arial"/>
              <a:cs typeface="Arial"/>
              <a:sym typeface="Arial"/>
            </a:endParaRPr>
          </a:p>
          <a:p>
            <a:pPr indent="0" lvl="0" marL="0" rtl="0" algn="l">
              <a:spcBef>
                <a:spcPts val="0"/>
              </a:spcBef>
              <a:spcAft>
                <a:spcPts val="0"/>
              </a:spcAft>
              <a:buNone/>
            </a:pPr>
            <a:r>
              <a:rPr b="0" lang="es-ES" sz="2000" strike="noStrike">
                <a:latin typeface="Arial"/>
                <a:ea typeface="Arial"/>
                <a:cs typeface="Arial"/>
                <a:sym typeface="Arial"/>
              </a:rPr>
              <a:t>Permite extraer columnas (atributos) de una relación, dando como resultado un subconjunto vertical de atributos de la relación, esto es:</a:t>
            </a:r>
            <a:endParaRPr b="0" sz="2000" strike="noStrike">
              <a:latin typeface="Arial"/>
              <a:ea typeface="Arial"/>
              <a:cs typeface="Arial"/>
              <a:sym typeface="Arial"/>
            </a:endParaRPr>
          </a:p>
          <a:p>
            <a:pPr indent="0" lvl="0" marL="0" rtl="0" algn="l">
              <a:spcBef>
                <a:spcPts val="0"/>
              </a:spcBef>
              <a:spcAft>
                <a:spcPts val="0"/>
              </a:spcAft>
              <a:buNone/>
            </a:pPr>
            <a:r>
              <a:t/>
            </a:r>
            <a:endParaRPr b="0" sz="2000" strike="noStrike">
              <a:latin typeface="Arial"/>
              <a:ea typeface="Arial"/>
              <a:cs typeface="Arial"/>
              <a:sym typeface="Arial"/>
            </a:endParaRPr>
          </a:p>
          <a:p>
            <a:pPr indent="0" lvl="0" marL="0" rtl="0" algn="l">
              <a:spcBef>
                <a:spcPts val="0"/>
              </a:spcBef>
              <a:spcAft>
                <a:spcPts val="0"/>
              </a:spcAft>
              <a:buNone/>
            </a:pPr>
            <a:r>
              <a:rPr b="0" lang="es-ES" sz="2000" strike="noStrike">
                <a:latin typeface="Arial"/>
                <a:ea typeface="Arial"/>
                <a:cs typeface="Arial"/>
                <a:sym typeface="Arial"/>
              </a:rPr>
              <a:t>        Π A 1 , A 2 , … , A n {\displaystyle \Pi _{A_{1},A_{2},\dots ,A_{n}}\!} {\displaystyle \Pi _{A_{1},A_{2},\dots ,A_{n}}\!}</a:t>
            </a:r>
            <a:endParaRPr b="0" sz="2000" strike="noStrike">
              <a:latin typeface="Arial"/>
              <a:ea typeface="Arial"/>
              <a:cs typeface="Arial"/>
              <a:sym typeface="Arial"/>
            </a:endParaRPr>
          </a:p>
          <a:p>
            <a:pPr indent="0" lvl="0" marL="0" rtl="0" algn="l">
              <a:spcBef>
                <a:spcPts val="0"/>
              </a:spcBef>
              <a:spcAft>
                <a:spcPts val="0"/>
              </a:spcAft>
              <a:buNone/>
            </a:pPr>
            <a:r>
              <a:t/>
            </a:r>
            <a:endParaRPr b="0" sz="2000" strike="noStrike">
              <a:latin typeface="Arial"/>
              <a:ea typeface="Arial"/>
              <a:cs typeface="Arial"/>
              <a:sym typeface="Arial"/>
            </a:endParaRPr>
          </a:p>
          <a:p>
            <a:pPr indent="0" lvl="0" marL="0" rtl="0" algn="l">
              <a:spcBef>
                <a:spcPts val="0"/>
              </a:spcBef>
              <a:spcAft>
                <a:spcPts val="0"/>
              </a:spcAft>
              <a:buNone/>
            </a:pPr>
            <a:r>
              <a:rPr b="0" lang="es-ES" sz="2000" strike="noStrike">
                <a:latin typeface="Arial"/>
                <a:ea typeface="Arial"/>
                <a:cs typeface="Arial"/>
                <a:sym typeface="Arial"/>
              </a:rPr>
              <a:t>donde A 1 , A 2 , … , A n {\displaystyle A_{1},A_{2},\dots ,A_{n}} {\displaystyle A_{1},A_{2},\dots ,A_{n}} son atributos de la relación R .</a:t>
            </a:r>
            <a:endParaRPr b="0" sz="2000" strike="noStrike">
              <a:latin typeface="Arial"/>
              <a:ea typeface="Arial"/>
              <a:cs typeface="Arial"/>
              <a:sym typeface="Arial"/>
            </a:endParaRPr>
          </a:p>
          <a:p>
            <a:pPr indent="0" lvl="0" marL="0" rtl="0" algn="l">
              <a:spcBef>
                <a:spcPts val="0"/>
              </a:spcBef>
              <a:spcAft>
                <a:spcPts val="0"/>
              </a:spcAft>
              <a:buNone/>
            </a:pPr>
            <a:r>
              <a:t/>
            </a:r>
            <a:endParaRPr b="0" sz="2000" strike="noStrike">
              <a:latin typeface="Arial"/>
              <a:ea typeface="Arial"/>
              <a:cs typeface="Arial"/>
              <a:sym typeface="Arial"/>
            </a:endParaRPr>
          </a:p>
          <a:p>
            <a:pPr indent="0" lvl="0" marL="0" rtl="0" algn="l">
              <a:spcBef>
                <a:spcPts val="0"/>
              </a:spcBef>
              <a:spcAft>
                <a:spcPts val="0"/>
              </a:spcAft>
              <a:buNone/>
            </a:pPr>
            <a:r>
              <a:rPr b="0" lang="es-ES" sz="2000" strike="noStrike">
                <a:latin typeface="Arial"/>
                <a:ea typeface="Arial"/>
                <a:cs typeface="Arial"/>
                <a:sym typeface="Arial"/>
              </a:rPr>
              <a:t>Ejemplo:</a:t>
            </a:r>
            <a:endParaRPr b="0" sz="2000" strike="noStrike">
              <a:latin typeface="Arial"/>
              <a:ea typeface="Arial"/>
              <a:cs typeface="Arial"/>
              <a:sym typeface="Arial"/>
            </a:endParaRPr>
          </a:p>
          <a:p>
            <a:pPr indent="0" lvl="0" marL="0" rtl="0" algn="l">
              <a:spcBef>
                <a:spcPts val="0"/>
              </a:spcBef>
              <a:spcAft>
                <a:spcPts val="0"/>
              </a:spcAft>
              <a:buNone/>
            </a:pPr>
            <a:r>
              <a:t/>
            </a:r>
            <a:endParaRPr b="0" sz="2000" strike="noStrike">
              <a:latin typeface="Arial"/>
              <a:ea typeface="Arial"/>
              <a:cs typeface="Arial"/>
              <a:sym typeface="Arial"/>
            </a:endParaRPr>
          </a:p>
          <a:p>
            <a:pPr indent="0" lvl="0" marL="0" rtl="0" algn="l">
              <a:spcBef>
                <a:spcPts val="0"/>
              </a:spcBef>
              <a:spcAft>
                <a:spcPts val="0"/>
              </a:spcAft>
              <a:buNone/>
            </a:pPr>
            <a:r>
              <a:rPr b="0" lang="es-ES" sz="2000" strike="noStrike">
                <a:latin typeface="Arial"/>
                <a:ea typeface="Arial"/>
                <a:cs typeface="Arial"/>
                <a:sym typeface="Arial"/>
              </a:rPr>
              <a:t>        Π A p e l l i d o , S e m e s t r e , N u m e r o C o n t r o l ( A l u m n o s ) {\displaystyle \Pi _{Apellido,Semestre,NumeroControl}(Alumnos)\!} {\displaystyle \Pi _{Apellido,Semestre,NumeroControl}(Alumnos)\!}</a:t>
            </a:r>
            <a:endParaRPr b="0" sz="2000" strike="noStrike">
              <a:latin typeface="Arial"/>
              <a:ea typeface="Arial"/>
              <a:cs typeface="Arial"/>
              <a:sym typeface="Arial"/>
            </a:endParaRPr>
          </a:p>
          <a:p>
            <a:pPr indent="0" lvl="0" marL="0" rtl="0" algn="l">
              <a:spcBef>
                <a:spcPts val="0"/>
              </a:spcBef>
              <a:spcAft>
                <a:spcPts val="0"/>
              </a:spcAft>
              <a:buNone/>
            </a:pPr>
            <a:r>
              <a:t/>
            </a:r>
            <a:endParaRPr b="0" sz="2000" strike="noStrike">
              <a:latin typeface="Arial"/>
              <a:ea typeface="Arial"/>
              <a:cs typeface="Arial"/>
              <a:sym typeface="Arial"/>
            </a:endParaRPr>
          </a:p>
          <a:p>
            <a:pPr indent="0" lvl="0" marL="0" rtl="0" algn="l">
              <a:spcBef>
                <a:spcPts val="0"/>
              </a:spcBef>
              <a:spcAft>
                <a:spcPts val="0"/>
              </a:spcAft>
              <a:buNone/>
            </a:pPr>
            <a:r>
              <a:rPr b="0" lang="es-ES" sz="2000" strike="noStrike">
                <a:latin typeface="Arial"/>
                <a:ea typeface="Arial"/>
                <a:cs typeface="Arial"/>
                <a:sym typeface="Arial"/>
              </a:rPr>
              <a:t>Selecciona los atributos Apellido, Semestre y NumeroControl de la relación Alumnos, mostrados como un subconjunto de la relación Alumnos.</a:t>
            </a:r>
            <a:endParaRPr b="0" sz="2000" strike="noStrike">
              <a:latin typeface="Arial"/>
              <a:ea typeface="Arial"/>
              <a:cs typeface="Arial"/>
              <a:sym typeface="Arial"/>
            </a:endParaRPr>
          </a:p>
          <a:p>
            <a:pPr indent="0" lvl="0" marL="0" rtl="0" algn="l">
              <a:spcBef>
                <a:spcPts val="0"/>
              </a:spcBef>
              <a:spcAft>
                <a:spcPts val="0"/>
              </a:spcAft>
              <a:buNone/>
            </a:pPr>
            <a:r>
              <a:rPr b="0" lang="es-ES" sz="2000" strike="noStrike">
                <a:latin typeface="Arial"/>
                <a:ea typeface="Arial"/>
                <a:cs typeface="Arial"/>
                <a:sym typeface="Arial"/>
              </a:rPr>
              <a:t>Producto cartesiano (x)</a:t>
            </a:r>
            <a:endParaRPr b="0" sz="2000" strike="noStrike">
              <a:latin typeface="Arial"/>
              <a:ea typeface="Arial"/>
              <a:cs typeface="Arial"/>
              <a:sym typeface="Arial"/>
            </a:endParaRPr>
          </a:p>
          <a:p>
            <a:pPr indent="0" lvl="0" marL="0" rtl="0" algn="l">
              <a:spcBef>
                <a:spcPts val="0"/>
              </a:spcBef>
              <a:spcAft>
                <a:spcPts val="0"/>
              </a:spcAft>
              <a:buNone/>
            </a:pPr>
            <a:r>
              <a:t/>
            </a:r>
            <a:endParaRPr b="0" sz="2000" strike="noStrike">
              <a:latin typeface="Arial"/>
              <a:ea typeface="Arial"/>
              <a:cs typeface="Arial"/>
              <a:sym typeface="Arial"/>
            </a:endParaRPr>
          </a:p>
          <a:p>
            <a:pPr indent="0" lvl="0" marL="0" rtl="0" algn="l">
              <a:spcBef>
                <a:spcPts val="0"/>
              </a:spcBef>
              <a:spcAft>
                <a:spcPts val="0"/>
              </a:spcAft>
              <a:buNone/>
            </a:pPr>
            <a:r>
              <a:rPr b="0" lang="es-ES" sz="2000" strike="noStrike">
                <a:latin typeface="Arial"/>
                <a:ea typeface="Arial"/>
                <a:cs typeface="Arial"/>
                <a:sym typeface="Arial"/>
              </a:rPr>
              <a:t>El producto cartesiano de dos relaciones se escribe como:</a:t>
            </a:r>
            <a:endParaRPr b="0" sz="2000" strike="noStrike">
              <a:latin typeface="Arial"/>
              <a:ea typeface="Arial"/>
              <a:cs typeface="Arial"/>
              <a:sym typeface="Arial"/>
            </a:endParaRPr>
          </a:p>
          <a:p>
            <a:pPr indent="0" lvl="0" marL="0" rtl="0" algn="l">
              <a:spcBef>
                <a:spcPts val="0"/>
              </a:spcBef>
              <a:spcAft>
                <a:spcPts val="0"/>
              </a:spcAft>
              <a:buNone/>
            </a:pPr>
            <a:r>
              <a:t/>
            </a:r>
            <a:endParaRPr b="0" sz="2000" strike="noStrike">
              <a:latin typeface="Arial"/>
              <a:ea typeface="Arial"/>
              <a:cs typeface="Arial"/>
              <a:sym typeface="Arial"/>
            </a:endParaRPr>
          </a:p>
          <a:p>
            <a:pPr indent="0" lvl="0" marL="0" rtl="0" algn="l">
              <a:spcBef>
                <a:spcPts val="0"/>
              </a:spcBef>
              <a:spcAft>
                <a:spcPts val="0"/>
              </a:spcAft>
              <a:buNone/>
            </a:pPr>
            <a:r>
              <a:rPr b="0" lang="es-ES" sz="2000" strike="noStrike">
                <a:latin typeface="Arial"/>
                <a:ea typeface="Arial"/>
                <a:cs typeface="Arial"/>
                <a:sym typeface="Arial"/>
              </a:rPr>
              <a:t>        R × S {\displaystyle R\times S} {\displaystyle R\times S}</a:t>
            </a:r>
            <a:endParaRPr b="0" sz="2000" strike="noStrike">
              <a:latin typeface="Arial"/>
              <a:ea typeface="Arial"/>
              <a:cs typeface="Arial"/>
              <a:sym typeface="Arial"/>
            </a:endParaRPr>
          </a:p>
          <a:p>
            <a:pPr indent="0" lvl="0" marL="0" rtl="0" algn="l">
              <a:spcBef>
                <a:spcPts val="0"/>
              </a:spcBef>
              <a:spcAft>
                <a:spcPts val="0"/>
              </a:spcAft>
              <a:buNone/>
            </a:pPr>
            <a:r>
              <a:t/>
            </a:r>
            <a:endParaRPr b="0" sz="2000" strike="noStrike">
              <a:latin typeface="Arial"/>
              <a:ea typeface="Arial"/>
              <a:cs typeface="Arial"/>
              <a:sym typeface="Arial"/>
            </a:endParaRPr>
          </a:p>
          <a:p>
            <a:pPr indent="0" lvl="0" marL="0" rtl="0" algn="l">
              <a:spcBef>
                <a:spcPts val="0"/>
              </a:spcBef>
              <a:spcAft>
                <a:spcPts val="0"/>
              </a:spcAft>
              <a:buNone/>
            </a:pPr>
            <a:r>
              <a:rPr b="0" lang="es-ES" sz="2000" strike="noStrike">
                <a:latin typeface="Arial"/>
                <a:ea typeface="Arial"/>
                <a:cs typeface="Arial"/>
                <a:sym typeface="Arial"/>
              </a:rPr>
              <a:t>y entrega una relación, cuyo esquema corresponde a una combinación de todas las tuplas de R con cada una de las tuplas de S, y sus atributos corresponden a los de R seguidos por los de S.</a:t>
            </a:r>
            <a:endParaRPr b="0" sz="2000" strike="noStrike">
              <a:latin typeface="Arial"/>
              <a:ea typeface="Arial"/>
              <a:cs typeface="Arial"/>
              <a:sym typeface="Arial"/>
            </a:endParaRPr>
          </a:p>
          <a:p>
            <a:pPr indent="0" lvl="0" marL="0" rtl="0" algn="l">
              <a:spcBef>
                <a:spcPts val="0"/>
              </a:spcBef>
              <a:spcAft>
                <a:spcPts val="0"/>
              </a:spcAft>
              <a:buNone/>
            </a:pPr>
            <a:r>
              <a:t/>
            </a:r>
            <a:endParaRPr b="0" sz="2000" strike="noStrike">
              <a:latin typeface="Arial"/>
              <a:ea typeface="Arial"/>
              <a:cs typeface="Arial"/>
              <a:sym typeface="Arial"/>
            </a:endParaRPr>
          </a:p>
          <a:p>
            <a:pPr indent="0" lvl="0" marL="0" rtl="0" algn="l">
              <a:spcBef>
                <a:spcPts val="0"/>
              </a:spcBef>
              <a:spcAft>
                <a:spcPts val="0"/>
              </a:spcAft>
              <a:buNone/>
            </a:pPr>
            <a:r>
              <a:rPr b="0" lang="es-ES" sz="2000" strike="noStrike">
                <a:latin typeface="Arial"/>
                <a:ea typeface="Arial"/>
                <a:cs typeface="Arial"/>
                <a:sym typeface="Arial"/>
              </a:rPr>
              <a:t>Ejemplo:</a:t>
            </a:r>
            <a:endParaRPr b="0" sz="2000" strike="noStrike">
              <a:latin typeface="Arial"/>
              <a:ea typeface="Arial"/>
              <a:cs typeface="Arial"/>
              <a:sym typeface="Arial"/>
            </a:endParaRPr>
          </a:p>
          <a:p>
            <a:pPr indent="0" lvl="0" marL="0" rtl="0" algn="l">
              <a:spcBef>
                <a:spcPts val="0"/>
              </a:spcBef>
              <a:spcAft>
                <a:spcPts val="0"/>
              </a:spcAft>
              <a:buNone/>
            </a:pPr>
            <a:r>
              <a:t/>
            </a:r>
            <a:endParaRPr b="0" sz="2000" strike="noStrike">
              <a:latin typeface="Arial"/>
              <a:ea typeface="Arial"/>
              <a:cs typeface="Arial"/>
              <a:sym typeface="Arial"/>
            </a:endParaRPr>
          </a:p>
          <a:p>
            <a:pPr indent="0" lvl="0" marL="0" rtl="0" algn="l">
              <a:spcBef>
                <a:spcPts val="0"/>
              </a:spcBef>
              <a:spcAft>
                <a:spcPts val="0"/>
              </a:spcAft>
              <a:buNone/>
            </a:pPr>
            <a:r>
              <a:rPr b="0" lang="es-ES" sz="2000" strike="noStrike">
                <a:latin typeface="Arial"/>
                <a:ea typeface="Arial"/>
                <a:cs typeface="Arial"/>
                <a:sym typeface="Arial"/>
              </a:rPr>
              <a:t>        A l u m n o s × M a e s t r o s {\displaystyle Alumnos\times Maestros} {\displaystyle Alumnos\times Maestros}</a:t>
            </a:r>
            <a:endParaRPr b="0" sz="2000" strike="noStrike">
              <a:latin typeface="Arial"/>
              <a:ea typeface="Arial"/>
              <a:cs typeface="Arial"/>
              <a:sym typeface="Arial"/>
            </a:endParaRPr>
          </a:p>
          <a:p>
            <a:pPr indent="0" lvl="0" marL="0" rtl="0" algn="l">
              <a:spcBef>
                <a:spcPts val="0"/>
              </a:spcBef>
              <a:spcAft>
                <a:spcPts val="0"/>
              </a:spcAft>
              <a:buNone/>
            </a:pPr>
            <a:r>
              <a:t/>
            </a:r>
            <a:endParaRPr b="0" sz="2000" strike="noStrike">
              <a:latin typeface="Arial"/>
              <a:ea typeface="Arial"/>
              <a:cs typeface="Arial"/>
              <a:sym typeface="Arial"/>
            </a:endParaRPr>
          </a:p>
          <a:p>
            <a:pPr indent="0" lvl="0" marL="0" rtl="0" algn="l">
              <a:spcBef>
                <a:spcPts val="0"/>
              </a:spcBef>
              <a:spcAft>
                <a:spcPts val="0"/>
              </a:spcAft>
              <a:buNone/>
            </a:pPr>
            <a:r>
              <a:rPr b="0" lang="es-ES" sz="2000" strike="noStrike">
                <a:latin typeface="Arial"/>
                <a:ea typeface="Arial"/>
                <a:cs typeface="Arial"/>
                <a:sym typeface="Arial"/>
              </a:rPr>
              <a:t>Muestra una nueva relación, cuyo esquema contiene cada una de las tuplas de la relación Alumnos junto con las tuplas de la relación Maestros, mostrando primero los atributos de la relación Alumnos seguidos por las tuplas de la relación Maestros.</a:t>
            </a:r>
            <a:endParaRPr b="0" sz="2000" strike="noStrike">
              <a:latin typeface="Arial"/>
              <a:ea typeface="Arial"/>
              <a:cs typeface="Arial"/>
              <a:sym typeface="Arial"/>
            </a:endParaRPr>
          </a:p>
          <a:p>
            <a:pPr indent="0" lvl="0" marL="0" rtl="0" algn="l">
              <a:spcBef>
                <a:spcPts val="0"/>
              </a:spcBef>
              <a:spcAft>
                <a:spcPts val="0"/>
              </a:spcAft>
              <a:buNone/>
            </a:pPr>
            <a:r>
              <a:rPr b="0" lang="es-ES" sz="2000" strike="noStrike">
                <a:latin typeface="Arial"/>
                <a:ea typeface="Arial"/>
                <a:cs typeface="Arial"/>
                <a:sym typeface="Arial"/>
              </a:rPr>
              <a:t>Unión (∪)</a:t>
            </a:r>
            <a:endParaRPr b="0" sz="2000" strike="noStrike">
              <a:latin typeface="Arial"/>
              <a:ea typeface="Arial"/>
              <a:cs typeface="Arial"/>
              <a:sym typeface="Arial"/>
            </a:endParaRPr>
          </a:p>
          <a:p>
            <a:pPr indent="0" lvl="0" marL="0" rtl="0" algn="l">
              <a:spcBef>
                <a:spcPts val="0"/>
              </a:spcBef>
              <a:spcAft>
                <a:spcPts val="0"/>
              </a:spcAft>
              <a:buNone/>
            </a:pPr>
            <a:r>
              <a:t/>
            </a:r>
            <a:endParaRPr b="0" sz="2000" strike="noStrike">
              <a:latin typeface="Arial"/>
              <a:ea typeface="Arial"/>
              <a:cs typeface="Arial"/>
              <a:sym typeface="Arial"/>
            </a:endParaRPr>
          </a:p>
          <a:p>
            <a:pPr indent="0" lvl="0" marL="0" rtl="0" algn="l">
              <a:spcBef>
                <a:spcPts val="0"/>
              </a:spcBef>
              <a:spcAft>
                <a:spcPts val="0"/>
              </a:spcAft>
              <a:buNone/>
            </a:pPr>
            <a:r>
              <a:rPr b="0" lang="es-ES" sz="2000" strike="noStrike">
                <a:latin typeface="Arial"/>
                <a:ea typeface="Arial"/>
                <a:cs typeface="Arial"/>
                <a:sym typeface="Arial"/>
              </a:rPr>
              <a:t>La operación.</a:t>
            </a:r>
            <a:endParaRPr b="0" sz="2000" strike="noStrike">
              <a:latin typeface="Arial"/>
              <a:ea typeface="Arial"/>
              <a:cs typeface="Arial"/>
              <a:sym typeface="Arial"/>
            </a:endParaRPr>
          </a:p>
          <a:p>
            <a:pPr indent="0" lvl="0" marL="0" rtl="0" algn="l">
              <a:spcBef>
                <a:spcPts val="0"/>
              </a:spcBef>
              <a:spcAft>
                <a:spcPts val="0"/>
              </a:spcAft>
              <a:buNone/>
            </a:pPr>
            <a:r>
              <a:t/>
            </a:r>
            <a:endParaRPr b="0" sz="2000" strike="noStrike">
              <a:latin typeface="Arial"/>
              <a:ea typeface="Arial"/>
              <a:cs typeface="Arial"/>
              <a:sym typeface="Arial"/>
            </a:endParaRPr>
          </a:p>
          <a:p>
            <a:pPr indent="0" lvl="0" marL="0" rtl="0" algn="l">
              <a:spcBef>
                <a:spcPts val="0"/>
              </a:spcBef>
              <a:spcAft>
                <a:spcPts val="0"/>
              </a:spcAft>
              <a:buNone/>
            </a:pPr>
            <a:r>
              <a:rPr b="0" lang="es-ES" sz="2000" strike="noStrike">
                <a:latin typeface="Arial"/>
                <a:ea typeface="Arial"/>
                <a:cs typeface="Arial"/>
                <a:sym typeface="Arial"/>
              </a:rPr>
              <a:t>        R ∪ S {\displaystyle R\cup S} {\displaystyle R\cup S}</a:t>
            </a:r>
            <a:endParaRPr b="0" sz="2000" strike="noStrike">
              <a:latin typeface="Arial"/>
              <a:ea typeface="Arial"/>
              <a:cs typeface="Arial"/>
              <a:sym typeface="Arial"/>
            </a:endParaRPr>
          </a:p>
          <a:p>
            <a:pPr indent="0" lvl="0" marL="0" rtl="0" algn="l">
              <a:spcBef>
                <a:spcPts val="0"/>
              </a:spcBef>
              <a:spcAft>
                <a:spcPts val="0"/>
              </a:spcAft>
              <a:buNone/>
            </a:pPr>
            <a:r>
              <a:t/>
            </a:r>
            <a:endParaRPr b="0" sz="2000" strike="noStrike">
              <a:latin typeface="Arial"/>
              <a:ea typeface="Arial"/>
              <a:cs typeface="Arial"/>
              <a:sym typeface="Arial"/>
            </a:endParaRPr>
          </a:p>
          <a:p>
            <a:pPr indent="0" lvl="0" marL="0" rtl="0" algn="l">
              <a:spcBef>
                <a:spcPts val="0"/>
              </a:spcBef>
              <a:spcAft>
                <a:spcPts val="0"/>
              </a:spcAft>
              <a:buNone/>
            </a:pPr>
            <a:r>
              <a:rPr b="0" lang="es-ES" sz="2000" strike="noStrike">
                <a:latin typeface="Arial"/>
                <a:ea typeface="Arial"/>
                <a:cs typeface="Arial"/>
                <a:sym typeface="Arial"/>
              </a:rPr>
              <a:t>retorna el conjunto de tuplas que están en R, o en S, o en ambas. R y S deben ser uniones compatibles.</a:t>
            </a:r>
            <a:endParaRPr b="0" sz="2000" strike="noStrike">
              <a:latin typeface="Arial"/>
              <a:ea typeface="Arial"/>
              <a:cs typeface="Arial"/>
              <a:sym typeface="Arial"/>
            </a:endParaRPr>
          </a:p>
          <a:p>
            <a:pPr indent="0" lvl="0" marL="0" rtl="0" algn="l">
              <a:spcBef>
                <a:spcPts val="0"/>
              </a:spcBef>
              <a:spcAft>
                <a:spcPts val="0"/>
              </a:spcAft>
              <a:buNone/>
            </a:pPr>
            <a:r>
              <a:rPr b="0" lang="es-ES" sz="2000" strike="noStrike">
                <a:latin typeface="Arial"/>
                <a:ea typeface="Arial"/>
                <a:cs typeface="Arial"/>
                <a:sym typeface="Arial"/>
              </a:rPr>
              <a:t>Diferencia (-)</a:t>
            </a:r>
            <a:endParaRPr b="0" sz="2000" strike="noStrike">
              <a:latin typeface="Arial"/>
              <a:ea typeface="Arial"/>
              <a:cs typeface="Arial"/>
              <a:sym typeface="Arial"/>
            </a:endParaRPr>
          </a:p>
          <a:p>
            <a:pPr indent="0" lvl="0" marL="0" rtl="0" algn="l">
              <a:spcBef>
                <a:spcPts val="0"/>
              </a:spcBef>
              <a:spcAft>
                <a:spcPts val="0"/>
              </a:spcAft>
              <a:buNone/>
            </a:pPr>
            <a:r>
              <a:t/>
            </a:r>
            <a:endParaRPr b="0" sz="2000" strike="noStrike">
              <a:latin typeface="Arial"/>
              <a:ea typeface="Arial"/>
              <a:cs typeface="Arial"/>
              <a:sym typeface="Arial"/>
            </a:endParaRPr>
          </a:p>
          <a:p>
            <a:pPr indent="0" lvl="0" marL="0" rtl="0" algn="l">
              <a:spcBef>
                <a:spcPts val="0"/>
              </a:spcBef>
              <a:spcAft>
                <a:spcPts val="0"/>
              </a:spcAft>
              <a:buNone/>
            </a:pPr>
            <a:r>
              <a:rPr b="0" lang="es-ES" sz="2000" strike="noStrike">
                <a:latin typeface="Arial"/>
                <a:ea typeface="Arial"/>
                <a:cs typeface="Arial"/>
                <a:sym typeface="Arial"/>
              </a:rPr>
              <a:t>La diferencia de dos relaciones, R y S denotada por:</a:t>
            </a:r>
            <a:endParaRPr b="0" sz="2000" strike="noStrike">
              <a:latin typeface="Arial"/>
              <a:ea typeface="Arial"/>
              <a:cs typeface="Arial"/>
              <a:sym typeface="Arial"/>
            </a:endParaRPr>
          </a:p>
          <a:p>
            <a:pPr indent="0" lvl="0" marL="0" rtl="0" algn="l">
              <a:spcBef>
                <a:spcPts val="0"/>
              </a:spcBef>
              <a:spcAft>
                <a:spcPts val="0"/>
              </a:spcAft>
              <a:buNone/>
            </a:pPr>
            <a:r>
              <a:t/>
            </a:r>
            <a:endParaRPr b="0" sz="2000" strike="noStrike">
              <a:latin typeface="Arial"/>
              <a:ea typeface="Arial"/>
              <a:cs typeface="Arial"/>
              <a:sym typeface="Arial"/>
            </a:endParaRPr>
          </a:p>
          <a:p>
            <a:pPr indent="0" lvl="0" marL="0" rtl="0" algn="l">
              <a:spcBef>
                <a:spcPts val="0"/>
              </a:spcBef>
              <a:spcAft>
                <a:spcPts val="0"/>
              </a:spcAft>
              <a:buNone/>
            </a:pPr>
            <a:r>
              <a:rPr b="0" lang="es-ES" sz="2000" strike="noStrike">
                <a:latin typeface="Arial"/>
                <a:ea typeface="Arial"/>
                <a:cs typeface="Arial"/>
                <a:sym typeface="Arial"/>
              </a:rPr>
              <a:t>        R − S {\displaystyle R-S\!} {\displaystyle R-S\!}</a:t>
            </a:r>
            <a:endParaRPr b="0" sz="2000" strike="noStrike">
              <a:latin typeface="Arial"/>
              <a:ea typeface="Arial"/>
              <a:cs typeface="Arial"/>
              <a:sym typeface="Arial"/>
            </a:endParaRPr>
          </a:p>
          <a:p>
            <a:pPr indent="0" lvl="0" marL="0" rtl="0" algn="l">
              <a:spcBef>
                <a:spcPts val="0"/>
              </a:spcBef>
              <a:spcAft>
                <a:spcPts val="0"/>
              </a:spcAft>
              <a:buNone/>
            </a:pPr>
            <a:r>
              <a:t/>
            </a:r>
            <a:endParaRPr b="0" sz="2000" strike="noStrike">
              <a:latin typeface="Arial"/>
              <a:ea typeface="Arial"/>
              <a:cs typeface="Arial"/>
              <a:sym typeface="Arial"/>
            </a:endParaRPr>
          </a:p>
          <a:p>
            <a:pPr indent="0" lvl="0" marL="0" rtl="0" algn="l">
              <a:spcBef>
                <a:spcPts val="0"/>
              </a:spcBef>
              <a:spcAft>
                <a:spcPts val="0"/>
              </a:spcAft>
              <a:buNone/>
            </a:pPr>
            <a:r>
              <a:rPr b="0" lang="es-ES" sz="2000" strike="noStrike">
                <a:latin typeface="Arial"/>
                <a:ea typeface="Arial"/>
                <a:cs typeface="Arial"/>
                <a:sym typeface="Arial"/>
              </a:rPr>
              <a:t>entrega todas aquellas tuplas que están en R, pero no en S. R y S deben ser uniones compatibles.</a:t>
            </a:r>
            <a:endParaRPr b="0" sz="2000" strike="noStrike">
              <a:latin typeface="Arial"/>
              <a:ea typeface="Arial"/>
              <a:cs typeface="Arial"/>
              <a:sym typeface="Arial"/>
            </a:endParaRPr>
          </a:p>
          <a:p>
            <a:pPr indent="0" lvl="0" marL="0" rtl="0" algn="l">
              <a:spcBef>
                <a:spcPts val="0"/>
              </a:spcBef>
              <a:spcAft>
                <a:spcPts val="0"/>
              </a:spcAft>
              <a:buNone/>
            </a:pPr>
            <a:r>
              <a:t/>
            </a:r>
            <a:endParaRPr b="0" sz="2000" strike="noStrike">
              <a:latin typeface="Arial"/>
              <a:ea typeface="Arial"/>
              <a:cs typeface="Arial"/>
              <a:sym typeface="Arial"/>
            </a:endParaRPr>
          </a:p>
          <a:p>
            <a:pPr indent="0" lvl="0" marL="0" rtl="0" algn="l">
              <a:spcBef>
                <a:spcPts val="0"/>
              </a:spcBef>
              <a:spcAft>
                <a:spcPts val="0"/>
              </a:spcAft>
              <a:buNone/>
            </a:pPr>
            <a:r>
              <a:rPr b="0" lang="es-ES" sz="2000" strike="noStrike">
                <a:latin typeface="Arial"/>
                <a:ea typeface="Arial"/>
                <a:cs typeface="Arial"/>
                <a:sym typeface="Arial"/>
              </a:rPr>
              <a:t>Estas operaciones son fundamentales en el sentido en que (1) todas las demás operaciones pueden ser expresadas como una combinación de éstas y (2) ninguna de estas operaciones pueden ser omitidas sin que con ello se pierda información. </a:t>
            </a:r>
            <a:endParaRPr b="0" sz="2000" strike="noStrike">
              <a:latin typeface="Arial"/>
              <a:ea typeface="Arial"/>
              <a:cs typeface="Arial"/>
              <a:sym typeface="Aria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44: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01" name="Google Shape;401;p44: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45: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07" name="Google Shape;407;p45: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46: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15" name="Google Shape;415;p46: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47: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21" name="Google Shape;421;p47: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48: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26" name="Google Shape;426;p48: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49: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30" name="Google Shape;430;p49: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50: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34" name="Google Shape;434;p50: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51: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38" name="Google Shape;438;p51: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5" name="Shape 15"/>
        <p:cNvGrpSpPr/>
        <p:nvPr/>
      </p:nvGrpSpPr>
      <p:grpSpPr>
        <a:xfrm>
          <a:off x="0" y="0"/>
          <a:ext cx="0" cy="0"/>
          <a:chOff x="0" y="0"/>
          <a:chExt cx="0" cy="0"/>
        </a:xfrm>
      </p:grpSpPr>
      <p:sp>
        <p:nvSpPr>
          <p:cNvPr id="16" name="Google Shape;16;p2"/>
          <p:cNvSpPr txBox="1"/>
          <p:nvPr>
            <p:ph type="title"/>
          </p:nvPr>
        </p:nvSpPr>
        <p:spPr>
          <a:xfrm>
            <a:off x="504000" y="226080"/>
            <a:ext cx="9071640" cy="946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 type="subTitle"/>
          </p:nvPr>
        </p:nvSpPr>
        <p:spPr>
          <a:xfrm>
            <a:off x="504000" y="1326600"/>
            <a:ext cx="9071640" cy="328824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8" name="Shape 18"/>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9" name="Shape 19"/>
        <p:cNvGrpSpPr/>
        <p:nvPr/>
      </p:nvGrpSpPr>
      <p:grpSpPr>
        <a:xfrm>
          <a:off x="0" y="0"/>
          <a:ext cx="0" cy="0"/>
          <a:chOff x="0" y="0"/>
          <a:chExt cx="0" cy="0"/>
        </a:xfrm>
      </p:grpSpPr>
      <p:sp>
        <p:nvSpPr>
          <p:cNvPr id="20" name="Google Shape;20;p4"/>
          <p:cNvSpPr txBox="1"/>
          <p:nvPr>
            <p:ph type="title"/>
          </p:nvPr>
        </p:nvSpPr>
        <p:spPr>
          <a:xfrm>
            <a:off x="504000" y="226080"/>
            <a:ext cx="9071640" cy="946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4"/>
          <p:cNvSpPr txBox="1"/>
          <p:nvPr>
            <p:ph idx="1" type="body"/>
          </p:nvPr>
        </p:nvSpPr>
        <p:spPr>
          <a:xfrm>
            <a:off x="504000" y="1326600"/>
            <a:ext cx="9071640" cy="32882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22" name="Shape 22"/>
        <p:cNvGrpSpPr/>
        <p:nvPr/>
      </p:nvGrpSpPr>
      <p:grpSpPr>
        <a:xfrm>
          <a:off x="0" y="0"/>
          <a:ext cx="0" cy="0"/>
          <a:chOff x="0" y="0"/>
          <a:chExt cx="0" cy="0"/>
        </a:xfrm>
      </p:grpSpPr>
      <p:sp>
        <p:nvSpPr>
          <p:cNvPr id="23" name="Google Shape;23;p5"/>
          <p:cNvSpPr txBox="1"/>
          <p:nvPr>
            <p:ph type="title"/>
          </p:nvPr>
        </p:nvSpPr>
        <p:spPr>
          <a:xfrm>
            <a:off x="504000" y="226080"/>
            <a:ext cx="9071640" cy="946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5"/>
          <p:cNvSpPr txBox="1"/>
          <p:nvPr>
            <p:ph idx="1" type="body"/>
          </p:nvPr>
        </p:nvSpPr>
        <p:spPr>
          <a:xfrm>
            <a:off x="504000" y="1326600"/>
            <a:ext cx="4426920" cy="32882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5" name="Google Shape;25;p5"/>
          <p:cNvSpPr txBox="1"/>
          <p:nvPr>
            <p:ph idx="2" type="body"/>
          </p:nvPr>
        </p:nvSpPr>
        <p:spPr>
          <a:xfrm>
            <a:off x="5152680" y="1326600"/>
            <a:ext cx="4426920" cy="32882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504000" y="226080"/>
            <a:ext cx="9071640" cy="946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28" name="Shape 28"/>
        <p:cNvGrpSpPr/>
        <p:nvPr/>
      </p:nvGrpSpPr>
      <p:grpSpPr>
        <a:xfrm>
          <a:off x="0" y="0"/>
          <a:ext cx="0" cy="0"/>
          <a:chOff x="0" y="0"/>
          <a:chExt cx="0" cy="0"/>
        </a:xfrm>
      </p:grpSpPr>
      <p:sp>
        <p:nvSpPr>
          <p:cNvPr id="29" name="Google Shape;29;p7"/>
          <p:cNvSpPr txBox="1"/>
          <p:nvPr>
            <p:ph idx="1" type="subTitle"/>
          </p:nvPr>
        </p:nvSpPr>
        <p:spPr>
          <a:xfrm>
            <a:off x="504000" y="226080"/>
            <a:ext cx="9071640" cy="43884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30" name="Shape 30"/>
        <p:cNvGrpSpPr/>
        <p:nvPr/>
      </p:nvGrpSpPr>
      <p:grpSpPr>
        <a:xfrm>
          <a:off x="0" y="0"/>
          <a:ext cx="0" cy="0"/>
          <a:chOff x="0" y="0"/>
          <a:chExt cx="0" cy="0"/>
        </a:xfrm>
      </p:grpSpPr>
      <p:sp>
        <p:nvSpPr>
          <p:cNvPr id="31" name="Google Shape;31;p8"/>
          <p:cNvSpPr txBox="1"/>
          <p:nvPr>
            <p:ph type="title"/>
          </p:nvPr>
        </p:nvSpPr>
        <p:spPr>
          <a:xfrm>
            <a:off x="504000" y="226080"/>
            <a:ext cx="9071640" cy="946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8"/>
          <p:cNvSpPr txBox="1"/>
          <p:nvPr>
            <p:ph idx="1" type="body"/>
          </p:nvPr>
        </p:nvSpPr>
        <p:spPr>
          <a:xfrm>
            <a:off x="504000" y="1326600"/>
            <a:ext cx="4426920" cy="15681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3" name="Google Shape;33;p8"/>
          <p:cNvSpPr txBox="1"/>
          <p:nvPr>
            <p:ph idx="2" type="body"/>
          </p:nvPr>
        </p:nvSpPr>
        <p:spPr>
          <a:xfrm>
            <a:off x="5152680" y="1326600"/>
            <a:ext cx="4426920" cy="32882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4" name="Google Shape;34;p8"/>
          <p:cNvSpPr txBox="1"/>
          <p:nvPr>
            <p:ph idx="3" type="body"/>
          </p:nvPr>
        </p:nvSpPr>
        <p:spPr>
          <a:xfrm>
            <a:off x="504000" y="3044160"/>
            <a:ext cx="4426920" cy="15681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35" name="Shape 35"/>
        <p:cNvGrpSpPr/>
        <p:nvPr/>
      </p:nvGrpSpPr>
      <p:grpSpPr>
        <a:xfrm>
          <a:off x="0" y="0"/>
          <a:ext cx="0" cy="0"/>
          <a:chOff x="0" y="0"/>
          <a:chExt cx="0" cy="0"/>
        </a:xfrm>
      </p:grpSpPr>
      <p:sp>
        <p:nvSpPr>
          <p:cNvPr id="36" name="Google Shape;36;p9"/>
          <p:cNvSpPr txBox="1"/>
          <p:nvPr>
            <p:ph type="title"/>
          </p:nvPr>
        </p:nvSpPr>
        <p:spPr>
          <a:xfrm>
            <a:off x="504000" y="226080"/>
            <a:ext cx="9071640" cy="946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9"/>
          <p:cNvSpPr txBox="1"/>
          <p:nvPr>
            <p:ph idx="1" type="body"/>
          </p:nvPr>
        </p:nvSpPr>
        <p:spPr>
          <a:xfrm>
            <a:off x="504000" y="1326600"/>
            <a:ext cx="4426920" cy="32882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8" name="Google Shape;38;p9"/>
          <p:cNvSpPr txBox="1"/>
          <p:nvPr>
            <p:ph idx="2" type="body"/>
          </p:nvPr>
        </p:nvSpPr>
        <p:spPr>
          <a:xfrm>
            <a:off x="5152680" y="1326600"/>
            <a:ext cx="4426920" cy="15681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9" name="Google Shape;39;p9"/>
          <p:cNvSpPr txBox="1"/>
          <p:nvPr>
            <p:ph idx="3" type="body"/>
          </p:nvPr>
        </p:nvSpPr>
        <p:spPr>
          <a:xfrm>
            <a:off x="5152680" y="3044160"/>
            <a:ext cx="4426920" cy="15681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40" name="Shape 40"/>
        <p:cNvGrpSpPr/>
        <p:nvPr/>
      </p:nvGrpSpPr>
      <p:grpSpPr>
        <a:xfrm>
          <a:off x="0" y="0"/>
          <a:ext cx="0" cy="0"/>
          <a:chOff x="0" y="0"/>
          <a:chExt cx="0" cy="0"/>
        </a:xfrm>
      </p:grpSpPr>
      <p:sp>
        <p:nvSpPr>
          <p:cNvPr id="41" name="Google Shape;41;p10"/>
          <p:cNvSpPr txBox="1"/>
          <p:nvPr>
            <p:ph type="title"/>
          </p:nvPr>
        </p:nvSpPr>
        <p:spPr>
          <a:xfrm>
            <a:off x="504000" y="226080"/>
            <a:ext cx="9071640" cy="946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10"/>
          <p:cNvSpPr txBox="1"/>
          <p:nvPr>
            <p:ph idx="1" type="body"/>
          </p:nvPr>
        </p:nvSpPr>
        <p:spPr>
          <a:xfrm>
            <a:off x="504000" y="1326600"/>
            <a:ext cx="4426920" cy="15681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3" name="Google Shape;43;p10"/>
          <p:cNvSpPr txBox="1"/>
          <p:nvPr>
            <p:ph idx="2" type="body"/>
          </p:nvPr>
        </p:nvSpPr>
        <p:spPr>
          <a:xfrm>
            <a:off x="5152680" y="1326600"/>
            <a:ext cx="4426920" cy="15681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4" name="Google Shape;44;p10"/>
          <p:cNvSpPr txBox="1"/>
          <p:nvPr>
            <p:ph idx="3" type="body"/>
          </p:nvPr>
        </p:nvSpPr>
        <p:spPr>
          <a:xfrm>
            <a:off x="504000" y="3044160"/>
            <a:ext cx="9071640" cy="15681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45" name="Shape 45"/>
        <p:cNvGrpSpPr/>
        <p:nvPr/>
      </p:nvGrpSpPr>
      <p:grpSpPr>
        <a:xfrm>
          <a:off x="0" y="0"/>
          <a:ext cx="0" cy="0"/>
          <a:chOff x="0" y="0"/>
          <a:chExt cx="0" cy="0"/>
        </a:xfrm>
      </p:grpSpPr>
      <p:sp>
        <p:nvSpPr>
          <p:cNvPr id="46" name="Google Shape;46;p11"/>
          <p:cNvSpPr txBox="1"/>
          <p:nvPr>
            <p:ph type="title"/>
          </p:nvPr>
        </p:nvSpPr>
        <p:spPr>
          <a:xfrm>
            <a:off x="504000" y="226080"/>
            <a:ext cx="9071640" cy="946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1"/>
          <p:cNvSpPr txBox="1"/>
          <p:nvPr>
            <p:ph idx="1" type="body"/>
          </p:nvPr>
        </p:nvSpPr>
        <p:spPr>
          <a:xfrm>
            <a:off x="504000" y="1326600"/>
            <a:ext cx="9071640" cy="15681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8" name="Google Shape;48;p11"/>
          <p:cNvSpPr txBox="1"/>
          <p:nvPr>
            <p:ph idx="2" type="body"/>
          </p:nvPr>
        </p:nvSpPr>
        <p:spPr>
          <a:xfrm>
            <a:off x="504000" y="3044160"/>
            <a:ext cx="9071640" cy="15681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49" name="Shape 49"/>
        <p:cNvGrpSpPr/>
        <p:nvPr/>
      </p:nvGrpSpPr>
      <p:grpSpPr>
        <a:xfrm>
          <a:off x="0" y="0"/>
          <a:ext cx="0" cy="0"/>
          <a:chOff x="0" y="0"/>
          <a:chExt cx="0" cy="0"/>
        </a:xfrm>
      </p:grpSpPr>
      <p:sp>
        <p:nvSpPr>
          <p:cNvPr id="50" name="Google Shape;50;p12"/>
          <p:cNvSpPr txBox="1"/>
          <p:nvPr>
            <p:ph type="title"/>
          </p:nvPr>
        </p:nvSpPr>
        <p:spPr>
          <a:xfrm>
            <a:off x="504000" y="226080"/>
            <a:ext cx="9071640" cy="946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12"/>
          <p:cNvSpPr txBox="1"/>
          <p:nvPr>
            <p:ph idx="1" type="body"/>
          </p:nvPr>
        </p:nvSpPr>
        <p:spPr>
          <a:xfrm>
            <a:off x="504000" y="1326600"/>
            <a:ext cx="4426920" cy="15681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2" name="Google Shape;52;p12"/>
          <p:cNvSpPr txBox="1"/>
          <p:nvPr>
            <p:ph idx="2" type="body"/>
          </p:nvPr>
        </p:nvSpPr>
        <p:spPr>
          <a:xfrm>
            <a:off x="5152680" y="1326600"/>
            <a:ext cx="4426920" cy="15681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3" name="Google Shape;53;p12"/>
          <p:cNvSpPr txBox="1"/>
          <p:nvPr>
            <p:ph idx="3" type="body"/>
          </p:nvPr>
        </p:nvSpPr>
        <p:spPr>
          <a:xfrm>
            <a:off x="504000" y="3044160"/>
            <a:ext cx="4426920" cy="15681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4" name="Google Shape;54;p12"/>
          <p:cNvSpPr txBox="1"/>
          <p:nvPr>
            <p:ph idx="4" type="body"/>
          </p:nvPr>
        </p:nvSpPr>
        <p:spPr>
          <a:xfrm>
            <a:off x="5152680" y="3044160"/>
            <a:ext cx="4426920" cy="15681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55" name="Shape 55"/>
        <p:cNvGrpSpPr/>
        <p:nvPr/>
      </p:nvGrpSpPr>
      <p:grpSpPr>
        <a:xfrm>
          <a:off x="0" y="0"/>
          <a:ext cx="0" cy="0"/>
          <a:chOff x="0" y="0"/>
          <a:chExt cx="0" cy="0"/>
        </a:xfrm>
      </p:grpSpPr>
      <p:sp>
        <p:nvSpPr>
          <p:cNvPr id="56" name="Google Shape;56;p13"/>
          <p:cNvSpPr txBox="1"/>
          <p:nvPr>
            <p:ph type="title"/>
          </p:nvPr>
        </p:nvSpPr>
        <p:spPr>
          <a:xfrm>
            <a:off x="504000" y="226080"/>
            <a:ext cx="9071640" cy="94644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3"/>
          <p:cNvSpPr txBox="1"/>
          <p:nvPr>
            <p:ph idx="1" type="body"/>
          </p:nvPr>
        </p:nvSpPr>
        <p:spPr>
          <a:xfrm>
            <a:off x="504000" y="1326600"/>
            <a:ext cx="2920680" cy="15681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8" name="Google Shape;58;p13"/>
          <p:cNvSpPr txBox="1"/>
          <p:nvPr>
            <p:ph idx="2" type="body"/>
          </p:nvPr>
        </p:nvSpPr>
        <p:spPr>
          <a:xfrm>
            <a:off x="3571200" y="1326600"/>
            <a:ext cx="2920680" cy="15681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9" name="Google Shape;59;p13"/>
          <p:cNvSpPr txBox="1"/>
          <p:nvPr>
            <p:ph idx="3" type="body"/>
          </p:nvPr>
        </p:nvSpPr>
        <p:spPr>
          <a:xfrm>
            <a:off x="6638040" y="1326600"/>
            <a:ext cx="2920680" cy="15681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0" name="Google Shape;60;p13"/>
          <p:cNvSpPr txBox="1"/>
          <p:nvPr>
            <p:ph idx="4" type="body"/>
          </p:nvPr>
        </p:nvSpPr>
        <p:spPr>
          <a:xfrm>
            <a:off x="504000" y="3044160"/>
            <a:ext cx="2920680" cy="15681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1" name="Google Shape;61;p13"/>
          <p:cNvSpPr txBox="1"/>
          <p:nvPr>
            <p:ph idx="5" type="body"/>
          </p:nvPr>
        </p:nvSpPr>
        <p:spPr>
          <a:xfrm>
            <a:off x="3571200" y="3044160"/>
            <a:ext cx="2920680" cy="15681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2" name="Google Shape;62;p13"/>
          <p:cNvSpPr txBox="1"/>
          <p:nvPr>
            <p:ph idx="6" type="body"/>
          </p:nvPr>
        </p:nvSpPr>
        <p:spPr>
          <a:xfrm>
            <a:off x="6638040" y="3044160"/>
            <a:ext cx="2920680" cy="156816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1"/>
          <p:cNvSpPr txBox="1"/>
          <p:nvPr>
            <p:ph type="title"/>
          </p:nvPr>
        </p:nvSpPr>
        <p:spPr>
          <a:xfrm>
            <a:off x="504000" y="226080"/>
            <a:ext cx="9071640" cy="94644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1" name="Google Shape;11;p1"/>
          <p:cNvSpPr txBox="1"/>
          <p:nvPr>
            <p:ph idx="1" type="body"/>
          </p:nvPr>
        </p:nvSpPr>
        <p:spPr>
          <a:xfrm>
            <a:off x="504000" y="1326600"/>
            <a:ext cx="9071640" cy="328824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12" name="Google Shape;12;p1"/>
          <p:cNvSpPr txBox="1"/>
          <p:nvPr>
            <p:ph idx="10" type="dt"/>
          </p:nvPr>
        </p:nvSpPr>
        <p:spPr>
          <a:xfrm>
            <a:off x="504000" y="5165280"/>
            <a:ext cx="2348280" cy="39060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3" name="Google Shape;13;p1"/>
          <p:cNvSpPr txBox="1"/>
          <p:nvPr>
            <p:ph idx="11" type="ftr"/>
          </p:nvPr>
        </p:nvSpPr>
        <p:spPr>
          <a:xfrm>
            <a:off x="3447360" y="5165280"/>
            <a:ext cx="3195000" cy="39060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4" name="Google Shape;14;p1"/>
          <p:cNvSpPr txBox="1"/>
          <p:nvPr>
            <p:ph idx="12" type="sldNum"/>
          </p:nvPr>
        </p:nvSpPr>
        <p:spPr>
          <a:xfrm>
            <a:off x="7227360" y="5165280"/>
            <a:ext cx="2348280" cy="390600"/>
          </a:xfrm>
          <a:prstGeom prst="rect">
            <a:avLst/>
          </a:prstGeom>
          <a:noFill/>
          <a:ln>
            <a:noFill/>
          </a:ln>
        </p:spPr>
        <p:txBody>
          <a:bodyPr anchorCtr="0" anchor="t" bIns="0" lIns="0" spcFirstLastPara="1" rIns="0" wrap="square" tIns="0">
            <a:noAutofit/>
          </a:bodyPr>
          <a:lstStyle>
            <a:lvl1pPr indent="0" lvl="0" marL="0" marR="0" rtl="0" algn="r">
              <a:spcBef>
                <a:spcPts val="0"/>
              </a:spcBef>
              <a:buNone/>
              <a:defRPr b="0" i="0" sz="1400" u="none" cap="none" strike="noStrike">
                <a:latin typeface="Times New Roman"/>
                <a:ea typeface="Times New Roman"/>
                <a:cs typeface="Times New Roman"/>
                <a:sym typeface="Times New Roman"/>
              </a:defRPr>
            </a:lvl1pPr>
            <a:lvl2pPr indent="0" lvl="1" marL="0" marR="0" rtl="0" algn="r">
              <a:spcBef>
                <a:spcPts val="0"/>
              </a:spcBef>
              <a:buNone/>
              <a:defRPr b="0" i="0" sz="1400" u="none" cap="none" strike="noStrike">
                <a:latin typeface="Times New Roman"/>
                <a:ea typeface="Times New Roman"/>
                <a:cs typeface="Times New Roman"/>
                <a:sym typeface="Times New Roman"/>
              </a:defRPr>
            </a:lvl2pPr>
            <a:lvl3pPr indent="0" lvl="2" marL="0" marR="0" rtl="0" algn="r">
              <a:spcBef>
                <a:spcPts val="0"/>
              </a:spcBef>
              <a:buNone/>
              <a:defRPr b="0" i="0" sz="1400" u="none" cap="none" strike="noStrike">
                <a:latin typeface="Times New Roman"/>
                <a:ea typeface="Times New Roman"/>
                <a:cs typeface="Times New Roman"/>
                <a:sym typeface="Times New Roman"/>
              </a:defRPr>
            </a:lvl3pPr>
            <a:lvl4pPr indent="0" lvl="3" marL="0" marR="0" rtl="0" algn="r">
              <a:spcBef>
                <a:spcPts val="0"/>
              </a:spcBef>
              <a:buNone/>
              <a:defRPr b="0" i="0" sz="1400" u="none" cap="none" strike="noStrike">
                <a:latin typeface="Times New Roman"/>
                <a:ea typeface="Times New Roman"/>
                <a:cs typeface="Times New Roman"/>
                <a:sym typeface="Times New Roman"/>
              </a:defRPr>
            </a:lvl4pPr>
            <a:lvl5pPr indent="0" lvl="4" marL="0" marR="0" rtl="0" algn="r">
              <a:spcBef>
                <a:spcPts val="0"/>
              </a:spcBef>
              <a:buNone/>
              <a:defRPr b="0" i="0" sz="1400" u="none" cap="none" strike="noStrike">
                <a:latin typeface="Times New Roman"/>
                <a:ea typeface="Times New Roman"/>
                <a:cs typeface="Times New Roman"/>
                <a:sym typeface="Times New Roman"/>
              </a:defRPr>
            </a:lvl5pPr>
            <a:lvl6pPr indent="0" lvl="5" marL="0" marR="0" rtl="0" algn="r">
              <a:spcBef>
                <a:spcPts val="0"/>
              </a:spcBef>
              <a:buNone/>
              <a:defRPr b="0" i="0" sz="1400" u="none" cap="none" strike="noStrike">
                <a:latin typeface="Times New Roman"/>
                <a:ea typeface="Times New Roman"/>
                <a:cs typeface="Times New Roman"/>
                <a:sym typeface="Times New Roman"/>
              </a:defRPr>
            </a:lvl6pPr>
            <a:lvl7pPr indent="0" lvl="6" marL="0" marR="0" rtl="0" algn="r">
              <a:spcBef>
                <a:spcPts val="0"/>
              </a:spcBef>
              <a:buNone/>
              <a:defRPr b="0" i="0" sz="1400" u="none" cap="none" strike="noStrike">
                <a:latin typeface="Times New Roman"/>
                <a:ea typeface="Times New Roman"/>
                <a:cs typeface="Times New Roman"/>
                <a:sym typeface="Times New Roman"/>
              </a:defRPr>
            </a:lvl7pPr>
            <a:lvl8pPr indent="0" lvl="7" marL="0" marR="0" rtl="0" algn="r">
              <a:spcBef>
                <a:spcPts val="0"/>
              </a:spcBef>
              <a:buNone/>
              <a:defRPr b="0" i="0" sz="1400" u="none" cap="none" strike="noStrike">
                <a:latin typeface="Times New Roman"/>
                <a:ea typeface="Times New Roman"/>
                <a:cs typeface="Times New Roman"/>
                <a:sym typeface="Times New Roman"/>
              </a:defRPr>
            </a:lvl8pPr>
            <a:lvl9pPr indent="0" lvl="8" marL="0" marR="0" rtl="0" algn="r">
              <a:spcBef>
                <a:spcPts val="0"/>
              </a:spcBef>
              <a:buNone/>
              <a:defRPr b="0" i="0" sz="1400" u="none" cap="none" strike="noStrike">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4"/>
          <p:cNvSpPr txBox="1"/>
          <p:nvPr/>
        </p:nvSpPr>
        <p:spPr>
          <a:xfrm>
            <a:off x="360000" y="1897560"/>
            <a:ext cx="9071640" cy="1875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0" i="0" lang="es-ES" sz="4400" u="none" cap="none" strike="noStrike">
                <a:latin typeface="Arial"/>
                <a:ea typeface="Arial"/>
                <a:cs typeface="Arial"/>
                <a:sym typeface="Arial"/>
              </a:rPr>
              <a:t>BASES DE DATOS RELACIONALES Y MODELADO DE DATOS</a:t>
            </a:r>
            <a:endParaRPr b="0" i="0" sz="4400" u="none" cap="none" strike="noStrike">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nvSpPr>
        <p:spPr>
          <a:xfrm>
            <a:off x="899273" y="720000"/>
            <a:ext cx="2511000" cy="4302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i="0" lang="es-ES" sz="2400" u="none" cap="none" strike="noStrike">
                <a:latin typeface="Arial"/>
                <a:ea typeface="Arial"/>
                <a:cs typeface="Arial"/>
                <a:sym typeface="Arial"/>
              </a:rPr>
              <a:t>Contenidos</a:t>
            </a:r>
            <a:endParaRPr b="0" sz="2400" strike="noStrike">
              <a:latin typeface="Arial"/>
              <a:ea typeface="Arial"/>
              <a:cs typeface="Arial"/>
              <a:sym typeface="Arial"/>
            </a:endParaRPr>
          </a:p>
        </p:txBody>
      </p:sp>
      <p:sp>
        <p:nvSpPr>
          <p:cNvPr id="73" name="Google Shape;73;p15"/>
          <p:cNvSpPr txBox="1"/>
          <p:nvPr/>
        </p:nvSpPr>
        <p:spPr>
          <a:xfrm>
            <a:off x="295500" y="1213975"/>
            <a:ext cx="9711900" cy="40092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0" lang="es-ES" sz="1800" strike="noStrike">
                <a:latin typeface="Arial"/>
                <a:ea typeface="Arial"/>
                <a:cs typeface="Arial"/>
                <a:sym typeface="Arial"/>
              </a:rPr>
              <a:t>1. Bases de datos relacionales</a:t>
            </a:r>
            <a:endParaRPr b="0" sz="1800" strike="noStrike">
              <a:latin typeface="Arial"/>
              <a:ea typeface="Arial"/>
              <a:cs typeface="Arial"/>
              <a:sym typeface="Arial"/>
            </a:endParaRPr>
          </a:p>
          <a:p>
            <a:pPr indent="0" lvl="0" marL="0" marR="0" rtl="0" algn="l">
              <a:lnSpc>
                <a:spcPct val="100000"/>
              </a:lnSpc>
              <a:spcBef>
                <a:spcPts val="1134"/>
              </a:spcBef>
              <a:spcAft>
                <a:spcPts val="0"/>
              </a:spcAft>
              <a:buNone/>
            </a:pPr>
            <a:r>
              <a:rPr b="0" lang="es-ES" sz="1800" strike="noStrike">
                <a:latin typeface="Arial"/>
                <a:ea typeface="Arial"/>
                <a:cs typeface="Arial"/>
                <a:sym typeface="Arial"/>
              </a:rPr>
              <a:t>	– Concepto de base de datos relacional.</a:t>
            </a:r>
            <a:endParaRPr b="0" sz="1800" strike="noStrike">
              <a:latin typeface="Arial"/>
              <a:ea typeface="Arial"/>
              <a:cs typeface="Arial"/>
              <a:sym typeface="Arial"/>
            </a:endParaRPr>
          </a:p>
          <a:p>
            <a:pPr indent="0" lvl="0" marL="0" marR="0" rtl="0" algn="l">
              <a:lnSpc>
                <a:spcPct val="100000"/>
              </a:lnSpc>
              <a:spcBef>
                <a:spcPts val="1134"/>
              </a:spcBef>
              <a:spcAft>
                <a:spcPts val="0"/>
              </a:spcAft>
              <a:buNone/>
            </a:pPr>
            <a:r>
              <a:rPr b="0" lang="es-ES" sz="1800" strike="noStrike">
                <a:latin typeface="Arial"/>
                <a:ea typeface="Arial"/>
                <a:cs typeface="Arial"/>
                <a:sym typeface="Arial"/>
              </a:rPr>
              <a:t>	– Ejemplificación.</a:t>
            </a:r>
            <a:endParaRPr b="0" sz="1800" strike="noStrike">
              <a:latin typeface="Arial"/>
              <a:ea typeface="Arial"/>
              <a:cs typeface="Arial"/>
              <a:sym typeface="Arial"/>
            </a:endParaRPr>
          </a:p>
          <a:p>
            <a:pPr indent="0" lvl="0" marL="0" marR="0" rtl="0" algn="l">
              <a:lnSpc>
                <a:spcPct val="100000"/>
              </a:lnSpc>
              <a:spcBef>
                <a:spcPts val="1134"/>
              </a:spcBef>
              <a:spcAft>
                <a:spcPts val="0"/>
              </a:spcAft>
              <a:buNone/>
            </a:pPr>
            <a:r>
              <a:rPr b="0" lang="es-ES" sz="1800" strike="noStrike">
                <a:latin typeface="Arial"/>
                <a:ea typeface="Arial"/>
                <a:cs typeface="Arial"/>
                <a:sym typeface="Arial"/>
              </a:rPr>
              <a:t>	– Concepto de modelos de datos. Funciones y sublenguajes (DDL y DML).</a:t>
            </a:r>
            <a:endParaRPr b="0" sz="1800" strike="noStrike">
              <a:latin typeface="Arial"/>
              <a:ea typeface="Arial"/>
              <a:cs typeface="Arial"/>
              <a:sym typeface="Arial"/>
            </a:endParaRPr>
          </a:p>
          <a:p>
            <a:pPr indent="0" lvl="0" marL="0" marR="0" rtl="0" algn="l">
              <a:lnSpc>
                <a:spcPct val="100000"/>
              </a:lnSpc>
              <a:spcBef>
                <a:spcPts val="1134"/>
              </a:spcBef>
              <a:spcAft>
                <a:spcPts val="0"/>
              </a:spcAft>
              <a:buNone/>
            </a:pPr>
            <a:r>
              <a:rPr b="0" lang="es-ES" sz="1800" strike="noStrike">
                <a:latin typeface="Arial"/>
                <a:ea typeface="Arial"/>
                <a:cs typeface="Arial"/>
                <a:sym typeface="Arial"/>
              </a:rPr>
              <a:t>	– Clasificación los diferentes tipos de modelos de datos de acuerdo al nivel</a:t>
            </a:r>
            <a:r>
              <a:rPr lang="es-ES" sz="1800"/>
              <a:t> </a:t>
            </a:r>
            <a:r>
              <a:rPr b="0" lang="es-ES" sz="1800" strike="noStrike">
                <a:latin typeface="Arial"/>
                <a:ea typeface="Arial"/>
                <a:cs typeface="Arial"/>
                <a:sym typeface="Arial"/>
              </a:rPr>
              <a:t>abstracción:</a:t>
            </a:r>
            <a:endParaRPr b="0" sz="1800" strike="noStrike">
              <a:latin typeface="Arial"/>
              <a:ea typeface="Arial"/>
              <a:cs typeface="Arial"/>
              <a:sym typeface="Arial"/>
            </a:endParaRPr>
          </a:p>
          <a:p>
            <a:pPr indent="0" lvl="0" marL="0" marR="0" rtl="0" algn="l">
              <a:lnSpc>
                <a:spcPct val="100000"/>
              </a:lnSpc>
              <a:spcBef>
                <a:spcPts val="1134"/>
              </a:spcBef>
              <a:spcAft>
                <a:spcPts val="0"/>
              </a:spcAft>
              <a:buNone/>
            </a:pPr>
            <a:r>
              <a:rPr b="0" lang="es-ES" sz="1800" strike="noStrike">
                <a:latin typeface="Arial"/>
                <a:ea typeface="Arial"/>
                <a:cs typeface="Arial"/>
                <a:sym typeface="Arial"/>
              </a:rPr>
              <a:t>		– Modelos de Datos Conceptuales.</a:t>
            </a:r>
            <a:endParaRPr b="0" sz="1800" strike="noStrike">
              <a:latin typeface="Arial"/>
              <a:ea typeface="Arial"/>
              <a:cs typeface="Arial"/>
              <a:sym typeface="Arial"/>
            </a:endParaRPr>
          </a:p>
          <a:p>
            <a:pPr indent="0" lvl="0" marL="0" marR="0" rtl="0" algn="l">
              <a:lnSpc>
                <a:spcPct val="100000"/>
              </a:lnSpc>
              <a:spcBef>
                <a:spcPts val="1134"/>
              </a:spcBef>
              <a:spcAft>
                <a:spcPts val="0"/>
              </a:spcAft>
              <a:buNone/>
            </a:pPr>
            <a:r>
              <a:rPr b="0" lang="es-ES" sz="1800" strike="noStrike">
                <a:latin typeface="Arial"/>
                <a:ea typeface="Arial"/>
                <a:cs typeface="Arial"/>
                <a:sym typeface="Arial"/>
              </a:rPr>
              <a:t>		– Modelos de Datos Lógicos.</a:t>
            </a:r>
            <a:endParaRPr b="0" sz="1800" strike="noStrike">
              <a:latin typeface="Arial"/>
              <a:ea typeface="Arial"/>
              <a:cs typeface="Arial"/>
              <a:sym typeface="Arial"/>
            </a:endParaRPr>
          </a:p>
          <a:p>
            <a:pPr indent="0" lvl="0" marL="0" marR="0" rtl="0" algn="l">
              <a:lnSpc>
                <a:spcPct val="100000"/>
              </a:lnSpc>
              <a:spcBef>
                <a:spcPts val="1134"/>
              </a:spcBef>
              <a:spcAft>
                <a:spcPts val="0"/>
              </a:spcAft>
              <a:buNone/>
            </a:pPr>
            <a:r>
              <a:rPr b="0" lang="es-ES" sz="1800" strike="noStrike">
                <a:latin typeface="Arial"/>
                <a:ea typeface="Arial"/>
                <a:cs typeface="Arial"/>
                <a:sym typeface="Arial"/>
              </a:rPr>
              <a:t>		– Modelos de Datos Físicos.</a:t>
            </a:r>
            <a:endParaRPr b="0" sz="1800" strike="noStrike">
              <a:latin typeface="Arial"/>
              <a:ea typeface="Arial"/>
              <a:cs typeface="Arial"/>
              <a:sym typeface="Arial"/>
            </a:endParaRPr>
          </a:p>
          <a:p>
            <a:pPr indent="0" lvl="0" marL="0" marR="0" rtl="0" algn="l">
              <a:lnSpc>
                <a:spcPct val="100000"/>
              </a:lnSpc>
              <a:spcBef>
                <a:spcPts val="1134"/>
              </a:spcBef>
              <a:spcAft>
                <a:spcPts val="0"/>
              </a:spcAft>
              <a:buNone/>
            </a:pPr>
            <a:r>
              <a:rPr b="0" lang="es-ES" sz="1800" strike="noStrike">
                <a:latin typeface="Arial"/>
                <a:ea typeface="Arial"/>
                <a:cs typeface="Arial"/>
                <a:sym typeface="Arial"/>
              </a:rPr>
              <a:t>		– Enumeración de las reglas de Codd para un sistema relacional.</a:t>
            </a:r>
            <a:endParaRPr b="0" sz="1800" strike="noStrike">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6"/>
          <p:cNvSpPr txBox="1"/>
          <p:nvPr/>
        </p:nvSpPr>
        <p:spPr>
          <a:xfrm>
            <a:off x="1043640" y="2304000"/>
            <a:ext cx="6444360" cy="18000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0" lang="es-ES" sz="2400" strike="noStrike">
                <a:latin typeface="Arial"/>
                <a:ea typeface="Arial"/>
                <a:cs typeface="Arial"/>
                <a:sym typeface="Arial"/>
              </a:rPr>
              <a:t>¿Qué es una base de datos?</a:t>
            </a:r>
            <a:endParaRPr b="0" sz="2400" strike="noStrike">
              <a:latin typeface="Arial"/>
              <a:ea typeface="Arial"/>
              <a:cs typeface="Arial"/>
              <a:sym typeface="Arial"/>
            </a:endParaRPr>
          </a:p>
          <a:p>
            <a:pPr indent="0" lvl="0" marL="0" marR="0" rtl="0" algn="l">
              <a:lnSpc>
                <a:spcPct val="100000"/>
              </a:lnSpc>
              <a:spcBef>
                <a:spcPts val="1134"/>
              </a:spcBef>
              <a:spcAft>
                <a:spcPts val="0"/>
              </a:spcAft>
              <a:buNone/>
            </a:pPr>
            <a:r>
              <a:rPr b="0" lang="es-ES" sz="2400" strike="noStrike">
                <a:latin typeface="Arial"/>
                <a:ea typeface="Arial"/>
                <a:cs typeface="Arial"/>
                <a:sym typeface="Arial"/>
              </a:rPr>
              <a:t>¿Utilizáis alguna?</a:t>
            </a:r>
            <a:endParaRPr b="0" sz="2400" strike="noStrike">
              <a:latin typeface="Arial"/>
              <a:ea typeface="Arial"/>
              <a:cs typeface="Arial"/>
              <a:sym typeface="Arial"/>
            </a:endParaRPr>
          </a:p>
          <a:p>
            <a:pPr indent="0" lvl="0" marL="0" marR="0" rtl="0" algn="l">
              <a:lnSpc>
                <a:spcPct val="100000"/>
              </a:lnSpc>
              <a:spcBef>
                <a:spcPts val="1134"/>
              </a:spcBef>
              <a:spcAft>
                <a:spcPts val="0"/>
              </a:spcAft>
              <a:buNone/>
            </a:pPr>
            <a:r>
              <a:rPr b="0" lang="es-ES" sz="2400" strike="noStrike">
                <a:latin typeface="Arial"/>
                <a:ea typeface="Arial"/>
                <a:cs typeface="Arial"/>
                <a:sym typeface="Arial"/>
              </a:rPr>
              <a:t>¿Consideráis que son importantes?</a:t>
            </a:r>
            <a:endParaRPr b="0" sz="2400" strike="noStrike">
              <a:latin typeface="Arial"/>
              <a:ea typeface="Arial"/>
              <a:cs typeface="Arial"/>
              <a:sym typeface="Arial"/>
            </a:endParaRPr>
          </a:p>
          <a:p>
            <a:pPr indent="0" lvl="0" marL="0" marR="0" rtl="0" algn="l">
              <a:lnSpc>
                <a:spcPct val="100000"/>
              </a:lnSpc>
              <a:spcBef>
                <a:spcPts val="1134"/>
              </a:spcBef>
              <a:spcAft>
                <a:spcPts val="0"/>
              </a:spcAft>
              <a:buNone/>
            </a:pPr>
            <a:r>
              <a:rPr b="0" lang="es-ES" sz="2400" strike="noStrike">
                <a:latin typeface="Arial"/>
                <a:ea typeface="Arial"/>
                <a:cs typeface="Arial"/>
                <a:sym typeface="Arial"/>
              </a:rPr>
              <a:t>¿Qué interfaces presentan?</a:t>
            </a:r>
            <a:endParaRPr b="0" sz="2400" strike="noStrike">
              <a:latin typeface="Arial"/>
              <a:ea typeface="Arial"/>
              <a:cs typeface="Arial"/>
              <a:sym typeface="Arial"/>
            </a:endParaRPr>
          </a:p>
        </p:txBody>
      </p:sp>
      <p:sp>
        <p:nvSpPr>
          <p:cNvPr id="79" name="Google Shape;79;p16"/>
          <p:cNvSpPr txBox="1"/>
          <p:nvPr/>
        </p:nvSpPr>
        <p:spPr>
          <a:xfrm>
            <a:off x="3848760" y="502200"/>
            <a:ext cx="2382840" cy="12258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0" lang="es-ES" sz="8000" strike="noStrike">
                <a:latin typeface="Arial"/>
                <a:ea typeface="Arial"/>
                <a:cs typeface="Arial"/>
                <a:sym typeface="Arial"/>
              </a:rPr>
              <a:t>¿…?</a:t>
            </a:r>
            <a:endParaRPr b="0" sz="8000" strike="noStrike">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7"/>
          <p:cNvSpPr txBox="1"/>
          <p:nvPr/>
        </p:nvSpPr>
        <p:spPr>
          <a:xfrm>
            <a:off x="432000" y="360360"/>
            <a:ext cx="9216000" cy="57564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s-ES" sz="2400" strike="noStrike">
                <a:latin typeface="Arial"/>
                <a:ea typeface="Arial"/>
                <a:cs typeface="Arial"/>
                <a:sym typeface="Arial"/>
              </a:rPr>
              <a:t>Introducción</a:t>
            </a:r>
            <a:endParaRPr b="0" sz="2400" strike="noStrike">
              <a:latin typeface="Arial"/>
              <a:ea typeface="Arial"/>
              <a:cs typeface="Arial"/>
              <a:sym typeface="Arial"/>
            </a:endParaRPr>
          </a:p>
        </p:txBody>
      </p:sp>
      <p:sp>
        <p:nvSpPr>
          <p:cNvPr id="85" name="Google Shape;85;p17"/>
          <p:cNvSpPr txBox="1"/>
          <p:nvPr/>
        </p:nvSpPr>
        <p:spPr>
          <a:xfrm>
            <a:off x="576000" y="1440000"/>
            <a:ext cx="6226200" cy="26820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0" lang="es-ES" sz="1800" strike="noStrike">
                <a:latin typeface="Arial"/>
                <a:ea typeface="Arial"/>
                <a:cs typeface="Arial"/>
                <a:sym typeface="Arial"/>
              </a:rPr>
              <a:t>Antes de las bases de datos:</a:t>
            </a:r>
            <a:endParaRPr b="0" sz="1800" strike="noStrike">
              <a:latin typeface="Arial"/>
              <a:ea typeface="Arial"/>
              <a:cs typeface="Arial"/>
              <a:sym typeface="Arial"/>
            </a:endParaRPr>
          </a:p>
          <a:p>
            <a:pPr indent="-216000" lvl="0" marL="216000" marR="0" rtl="0" algn="l">
              <a:lnSpc>
                <a:spcPct val="100000"/>
              </a:lnSpc>
              <a:spcBef>
                <a:spcPts val="566"/>
              </a:spcBef>
              <a:spcAft>
                <a:spcPts val="0"/>
              </a:spcAft>
              <a:buClr>
                <a:srgbClr val="000000"/>
              </a:buClr>
              <a:buSzPts val="810"/>
              <a:buFont typeface="Noto Sans Symbols"/>
              <a:buChar char="●"/>
            </a:pPr>
            <a:r>
              <a:rPr b="0" lang="es-ES" sz="1800" strike="noStrike">
                <a:latin typeface="Arial"/>
                <a:ea typeface="Arial"/>
                <a:cs typeface="Arial"/>
                <a:sym typeface="Arial"/>
              </a:rPr>
              <a:t>Grandes sistemas de procesamiento (Mainframes)</a:t>
            </a:r>
            <a:endParaRPr b="0" sz="1800" strike="noStrike">
              <a:latin typeface="Arial"/>
              <a:ea typeface="Arial"/>
              <a:cs typeface="Arial"/>
              <a:sym typeface="Arial"/>
            </a:endParaRPr>
          </a:p>
          <a:p>
            <a:pPr indent="-216000" lvl="0" marL="216000" marR="0" rtl="0" algn="l">
              <a:lnSpc>
                <a:spcPct val="100000"/>
              </a:lnSpc>
              <a:spcBef>
                <a:spcPts val="566"/>
              </a:spcBef>
              <a:spcAft>
                <a:spcPts val="0"/>
              </a:spcAft>
              <a:buClr>
                <a:srgbClr val="000000"/>
              </a:buClr>
              <a:buSzPts val="810"/>
              <a:buFont typeface="Noto Sans Symbols"/>
              <a:buChar char="●"/>
            </a:pPr>
            <a:r>
              <a:rPr b="0" lang="es-ES" sz="1800" strike="noStrike">
                <a:latin typeface="Arial"/>
                <a:ea typeface="Arial"/>
                <a:cs typeface="Arial"/>
                <a:sym typeface="Arial"/>
              </a:rPr>
              <a:t>Información duplicada en varias partes de la organización</a:t>
            </a:r>
            <a:endParaRPr b="0" sz="1800" strike="noStrike">
              <a:latin typeface="Arial"/>
              <a:ea typeface="Arial"/>
              <a:cs typeface="Arial"/>
              <a:sym typeface="Arial"/>
            </a:endParaRPr>
          </a:p>
          <a:p>
            <a:pPr indent="-216000" lvl="0" marL="216000" marR="0" rtl="0" algn="l">
              <a:lnSpc>
                <a:spcPct val="100000"/>
              </a:lnSpc>
              <a:spcBef>
                <a:spcPts val="566"/>
              </a:spcBef>
              <a:spcAft>
                <a:spcPts val="0"/>
              </a:spcAft>
              <a:buClr>
                <a:srgbClr val="000000"/>
              </a:buClr>
              <a:buSzPts val="810"/>
              <a:buFont typeface="Noto Sans Symbols"/>
              <a:buChar char="●"/>
            </a:pPr>
            <a:r>
              <a:rPr b="0" lang="es-ES" sz="1800" strike="noStrike">
                <a:latin typeface="Arial"/>
                <a:ea typeface="Arial"/>
                <a:cs typeface="Arial"/>
                <a:sym typeface="Arial"/>
              </a:rPr>
              <a:t>Provocando problemas</a:t>
            </a:r>
            <a:endParaRPr b="0" sz="1800" strike="noStrike">
              <a:latin typeface="Arial"/>
              <a:ea typeface="Arial"/>
              <a:cs typeface="Arial"/>
              <a:sym typeface="Arial"/>
            </a:endParaRPr>
          </a:p>
          <a:p>
            <a:pPr indent="-216000" lvl="1" marL="432000" marR="0" rtl="0" algn="l">
              <a:lnSpc>
                <a:spcPct val="100000"/>
              </a:lnSpc>
              <a:spcBef>
                <a:spcPts val="566"/>
              </a:spcBef>
              <a:spcAft>
                <a:spcPts val="0"/>
              </a:spcAft>
              <a:buClr>
                <a:srgbClr val="000000"/>
              </a:buClr>
              <a:buSzPts val="1800"/>
              <a:buFont typeface="Noto Sans Symbols"/>
              <a:buAutoNum type="arabicPeriod"/>
            </a:pPr>
            <a:r>
              <a:rPr b="0" i="0" lang="es-ES" sz="1800" u="none" cap="none" strike="noStrike">
                <a:latin typeface="Arial"/>
                <a:ea typeface="Arial"/>
                <a:cs typeface="Arial"/>
                <a:sym typeface="Arial"/>
              </a:rPr>
              <a:t>Redundancia</a:t>
            </a:r>
            <a:endParaRPr b="0" i="0" sz="1800" u="none" cap="none" strike="noStrike">
              <a:latin typeface="Arial"/>
              <a:ea typeface="Arial"/>
              <a:cs typeface="Arial"/>
              <a:sym typeface="Arial"/>
            </a:endParaRPr>
          </a:p>
          <a:p>
            <a:pPr indent="-216000" lvl="1" marL="432000" marR="0" rtl="0" algn="l">
              <a:lnSpc>
                <a:spcPct val="100000"/>
              </a:lnSpc>
              <a:spcBef>
                <a:spcPts val="566"/>
              </a:spcBef>
              <a:spcAft>
                <a:spcPts val="0"/>
              </a:spcAft>
              <a:buClr>
                <a:srgbClr val="000000"/>
              </a:buClr>
              <a:buSzPts val="1800"/>
              <a:buFont typeface="Noto Sans Symbols"/>
              <a:buAutoNum type="arabicPeriod"/>
            </a:pPr>
            <a:r>
              <a:rPr b="0" i="0" lang="es-ES" sz="1800" u="none" cap="none" strike="noStrike">
                <a:latin typeface="Arial"/>
                <a:ea typeface="Arial"/>
                <a:cs typeface="Arial"/>
                <a:sym typeface="Arial"/>
              </a:rPr>
              <a:t>Mal aprovechamiento de espacio de almacenamiento</a:t>
            </a:r>
            <a:endParaRPr b="0" i="0" sz="1800" u="none" cap="none" strike="noStrike">
              <a:latin typeface="Arial"/>
              <a:ea typeface="Arial"/>
              <a:cs typeface="Arial"/>
              <a:sym typeface="Arial"/>
            </a:endParaRPr>
          </a:p>
          <a:p>
            <a:pPr indent="-216000" lvl="1" marL="432000" marR="0" rtl="0" algn="l">
              <a:lnSpc>
                <a:spcPct val="100000"/>
              </a:lnSpc>
              <a:spcBef>
                <a:spcPts val="566"/>
              </a:spcBef>
              <a:spcAft>
                <a:spcPts val="0"/>
              </a:spcAft>
              <a:buClr>
                <a:srgbClr val="000000"/>
              </a:buClr>
              <a:buSzPts val="1800"/>
              <a:buFont typeface="Noto Sans Symbols"/>
              <a:buAutoNum type="arabicPeriod"/>
            </a:pPr>
            <a:r>
              <a:rPr b="0" i="0" lang="es-ES" sz="1800" u="none" cap="none" strike="noStrike">
                <a:latin typeface="Arial"/>
                <a:ea typeface="Arial"/>
                <a:cs typeface="Arial"/>
                <a:sym typeface="Arial"/>
              </a:rPr>
              <a:t>Mayor tiempo de proceso</a:t>
            </a:r>
            <a:endParaRPr b="0" i="0" sz="1800" u="none" cap="none" strike="noStrike">
              <a:latin typeface="Arial"/>
              <a:ea typeface="Arial"/>
              <a:cs typeface="Arial"/>
              <a:sym typeface="Arial"/>
            </a:endParaRPr>
          </a:p>
          <a:p>
            <a:pPr indent="-216000" lvl="1" marL="432000" marR="0" rtl="0" algn="l">
              <a:lnSpc>
                <a:spcPct val="100000"/>
              </a:lnSpc>
              <a:spcBef>
                <a:spcPts val="566"/>
              </a:spcBef>
              <a:spcAft>
                <a:spcPts val="0"/>
              </a:spcAft>
              <a:buClr>
                <a:srgbClr val="000000"/>
              </a:buClr>
              <a:buSzPts val="1800"/>
              <a:buFont typeface="Noto Sans Symbols"/>
              <a:buAutoNum type="arabicPeriod"/>
            </a:pPr>
            <a:r>
              <a:rPr b="0" i="0" lang="es-ES" sz="1800" u="none" cap="none" strike="noStrike">
                <a:latin typeface="Arial"/>
                <a:ea typeface="Arial"/>
                <a:cs typeface="Arial"/>
                <a:sym typeface="Arial"/>
              </a:rPr>
              <a:t>Inconsistencias en la información</a:t>
            </a:r>
            <a:endParaRPr b="0" i="0" sz="1800" u="none" cap="none" strike="noStrike">
              <a:latin typeface="Arial"/>
              <a:ea typeface="Arial"/>
              <a:cs typeface="Arial"/>
              <a:sym typeface="Arial"/>
            </a:endParaRPr>
          </a:p>
          <a:p>
            <a:pPr indent="-216000" lvl="1" marL="432000" marR="0" rtl="0" algn="l">
              <a:lnSpc>
                <a:spcPct val="100000"/>
              </a:lnSpc>
              <a:spcBef>
                <a:spcPts val="566"/>
              </a:spcBef>
              <a:spcAft>
                <a:spcPts val="0"/>
              </a:spcAft>
              <a:buClr>
                <a:srgbClr val="000000"/>
              </a:buClr>
              <a:buSzPts val="1800"/>
              <a:buFont typeface="Noto Sans Symbols"/>
              <a:buAutoNum type="arabicPeriod"/>
            </a:pPr>
            <a:r>
              <a:rPr b="0" i="0" lang="es-ES" sz="1800" u="none" cap="none" strike="noStrike">
                <a:latin typeface="Arial"/>
                <a:ea typeface="Arial"/>
                <a:cs typeface="Arial"/>
                <a:sym typeface="Arial"/>
              </a:rPr>
              <a:t>Aislamiento de la información</a:t>
            </a:r>
            <a:endParaRPr b="0" i="0" sz="1800" u="none" cap="none" strike="noStrike">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8"/>
          <p:cNvSpPr txBox="1"/>
          <p:nvPr/>
        </p:nvSpPr>
        <p:spPr>
          <a:xfrm>
            <a:off x="432000" y="360720"/>
            <a:ext cx="9216000" cy="57564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1" lang="es-ES" sz="2400" strike="noStrike">
                <a:latin typeface="Arial"/>
                <a:ea typeface="Arial"/>
                <a:cs typeface="Arial"/>
                <a:sym typeface="Arial"/>
              </a:rPr>
              <a:t>Introducción</a:t>
            </a:r>
            <a:endParaRPr b="0" sz="2400" strike="noStrike">
              <a:latin typeface="Arial"/>
              <a:ea typeface="Arial"/>
              <a:cs typeface="Arial"/>
              <a:sym typeface="Arial"/>
            </a:endParaRPr>
          </a:p>
        </p:txBody>
      </p:sp>
      <p:pic>
        <p:nvPicPr>
          <p:cNvPr id="91" name="Google Shape;91;p18"/>
          <p:cNvPicPr preferRelativeResize="0"/>
          <p:nvPr/>
        </p:nvPicPr>
        <p:blipFill rotWithShape="1">
          <a:blip r:embed="rId3">
            <a:alphaModFix/>
          </a:blip>
          <a:srcRect b="0" l="0" r="0" t="0"/>
          <a:stretch/>
        </p:blipFill>
        <p:spPr>
          <a:xfrm>
            <a:off x="606240" y="1882080"/>
            <a:ext cx="3785760" cy="2725920"/>
          </a:xfrm>
          <a:prstGeom prst="rect">
            <a:avLst/>
          </a:prstGeom>
          <a:noFill/>
          <a:ln>
            <a:noFill/>
          </a:ln>
        </p:spPr>
      </p:pic>
      <p:pic>
        <p:nvPicPr>
          <p:cNvPr id="92" name="Google Shape;92;p18"/>
          <p:cNvPicPr preferRelativeResize="0"/>
          <p:nvPr/>
        </p:nvPicPr>
        <p:blipFill rotWithShape="1">
          <a:blip r:embed="rId4">
            <a:alphaModFix/>
          </a:blip>
          <a:srcRect b="0" l="0" r="0" t="0"/>
          <a:stretch/>
        </p:blipFill>
        <p:spPr>
          <a:xfrm>
            <a:off x="4464000" y="1900440"/>
            <a:ext cx="5093280" cy="299556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9"/>
          <p:cNvSpPr txBox="1"/>
          <p:nvPr/>
        </p:nvSpPr>
        <p:spPr>
          <a:xfrm>
            <a:off x="432000" y="361080"/>
            <a:ext cx="9216000" cy="57564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1" lang="es-ES" sz="2400" strike="noStrike">
                <a:latin typeface="Arial"/>
                <a:ea typeface="Arial"/>
                <a:cs typeface="Arial"/>
                <a:sym typeface="Arial"/>
              </a:rPr>
              <a:t>Introducción</a:t>
            </a:r>
            <a:endParaRPr b="0" sz="2400" strike="noStrike">
              <a:latin typeface="Arial"/>
              <a:ea typeface="Arial"/>
              <a:cs typeface="Arial"/>
              <a:sym typeface="Arial"/>
            </a:endParaRPr>
          </a:p>
        </p:txBody>
      </p:sp>
      <p:sp>
        <p:nvSpPr>
          <p:cNvPr id="98" name="Google Shape;98;p19"/>
          <p:cNvSpPr txBox="1"/>
          <p:nvPr/>
        </p:nvSpPr>
        <p:spPr>
          <a:xfrm>
            <a:off x="792000" y="1872000"/>
            <a:ext cx="6721200" cy="114624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0" lang="es-ES" sz="1800" strike="noStrike">
                <a:latin typeface="Arial"/>
                <a:ea typeface="Arial"/>
                <a:cs typeface="Arial"/>
                <a:sym typeface="Arial"/>
              </a:rPr>
              <a:t>La información se guardaba en ficheros</a:t>
            </a:r>
            <a:endParaRPr b="0" sz="1800" strike="noStrike">
              <a:latin typeface="Arial"/>
              <a:ea typeface="Arial"/>
              <a:cs typeface="Arial"/>
              <a:sym typeface="Arial"/>
            </a:endParaRPr>
          </a:p>
          <a:p>
            <a:pPr indent="-216000" lvl="0" marL="216000" marR="0" rtl="0" algn="l">
              <a:lnSpc>
                <a:spcPct val="100000"/>
              </a:lnSpc>
              <a:spcBef>
                <a:spcPts val="2268"/>
              </a:spcBef>
              <a:spcAft>
                <a:spcPts val="0"/>
              </a:spcAft>
              <a:buClr>
                <a:srgbClr val="000000"/>
              </a:buClr>
              <a:buSzPts val="810"/>
              <a:buFont typeface="Noto Sans Symbols"/>
              <a:buChar char="●"/>
            </a:pPr>
            <a:r>
              <a:rPr b="0" lang="es-ES" sz="1800" strike="noStrike">
                <a:latin typeface="Arial"/>
                <a:ea typeface="Arial"/>
                <a:cs typeface="Arial"/>
                <a:sym typeface="Arial"/>
              </a:rPr>
              <a:t>Texto plano o binarios (organización)</a:t>
            </a:r>
            <a:endParaRPr b="0" sz="1800" strike="noStrike">
              <a:latin typeface="Arial"/>
              <a:ea typeface="Arial"/>
              <a:cs typeface="Arial"/>
              <a:sym typeface="Arial"/>
            </a:endParaRPr>
          </a:p>
          <a:p>
            <a:pPr indent="-216000" lvl="0" marL="216000" marR="0" rtl="0" algn="l">
              <a:lnSpc>
                <a:spcPct val="100000"/>
              </a:lnSpc>
              <a:spcBef>
                <a:spcPts val="2268"/>
              </a:spcBef>
              <a:spcAft>
                <a:spcPts val="0"/>
              </a:spcAft>
              <a:buClr>
                <a:srgbClr val="000000"/>
              </a:buClr>
              <a:buSzPts val="810"/>
              <a:buFont typeface="Noto Sans Symbols"/>
              <a:buChar char="●"/>
            </a:pPr>
            <a:r>
              <a:rPr b="0" lang="es-ES" sz="1800" strike="noStrike">
                <a:latin typeface="Arial"/>
                <a:ea typeface="Arial"/>
                <a:cs typeface="Arial"/>
                <a:sym typeface="Arial"/>
              </a:rPr>
              <a:t>Secuenciales, acceso aleatorio o indexados (modo de acceso)</a:t>
            </a:r>
            <a:endParaRPr b="0" sz="1800" strike="noStrike">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0"/>
          <p:cNvSpPr txBox="1"/>
          <p:nvPr/>
        </p:nvSpPr>
        <p:spPr>
          <a:xfrm>
            <a:off x="432000" y="360000"/>
            <a:ext cx="9216000" cy="77004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s-ES" sz="2400" strike="noStrike">
                <a:latin typeface="Arial"/>
                <a:ea typeface="Arial"/>
                <a:cs typeface="Arial"/>
                <a:sym typeface="Arial"/>
              </a:rPr>
              <a:t>Concepto de base de datos relacional</a:t>
            </a:r>
            <a:endParaRPr b="0" sz="2400" strike="noStrike">
              <a:latin typeface="Arial"/>
              <a:ea typeface="Arial"/>
              <a:cs typeface="Arial"/>
              <a:sym typeface="Arial"/>
            </a:endParaRPr>
          </a:p>
        </p:txBody>
      </p:sp>
      <p:sp>
        <p:nvSpPr>
          <p:cNvPr id="104" name="Google Shape;104;p20"/>
          <p:cNvSpPr txBox="1"/>
          <p:nvPr/>
        </p:nvSpPr>
        <p:spPr>
          <a:xfrm>
            <a:off x="864000" y="1152000"/>
            <a:ext cx="3445200" cy="34632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s-ES" sz="1800" strike="noStrike">
                <a:latin typeface="Arial"/>
                <a:ea typeface="Arial"/>
                <a:cs typeface="Arial"/>
                <a:sym typeface="Arial"/>
              </a:rPr>
              <a:t>Definición de  Bases de Datos</a:t>
            </a:r>
            <a:endParaRPr b="0" sz="1800" strike="noStrike">
              <a:latin typeface="Arial"/>
              <a:ea typeface="Arial"/>
              <a:cs typeface="Arial"/>
              <a:sym typeface="Arial"/>
            </a:endParaRPr>
          </a:p>
        </p:txBody>
      </p:sp>
      <p:sp>
        <p:nvSpPr>
          <p:cNvPr id="105" name="Google Shape;105;p20"/>
          <p:cNvSpPr txBox="1"/>
          <p:nvPr/>
        </p:nvSpPr>
        <p:spPr>
          <a:xfrm>
            <a:off x="432000" y="1800000"/>
            <a:ext cx="9360000" cy="3448440"/>
          </a:xfrm>
          <a:prstGeom prst="rect">
            <a:avLst/>
          </a:prstGeom>
          <a:noFill/>
          <a:ln>
            <a:noFill/>
          </a:ln>
        </p:spPr>
        <p:txBody>
          <a:bodyPr anchorCtr="0" anchor="t" bIns="45000" lIns="90000" spcFirstLastPara="1" rIns="90000" wrap="square" tIns="45000">
            <a:noAutofit/>
          </a:bodyPr>
          <a:lstStyle/>
          <a:p>
            <a:pPr indent="0" lvl="0" marL="0" marR="0" rtl="0" algn="l">
              <a:lnSpc>
                <a:spcPct val="150000"/>
              </a:lnSpc>
              <a:spcBef>
                <a:spcPts val="0"/>
              </a:spcBef>
              <a:spcAft>
                <a:spcPts val="0"/>
              </a:spcAft>
              <a:buNone/>
            </a:pPr>
            <a:r>
              <a:rPr b="0" lang="es-ES" sz="1800" strike="noStrike">
                <a:latin typeface="Arial"/>
                <a:ea typeface="Arial"/>
                <a:cs typeface="Arial"/>
                <a:sym typeface="Arial"/>
              </a:rPr>
              <a:t>Colección o depósito de datos integrados, almacenados en soporte secundario (no volátil) y con redundancia controlada. </a:t>
            </a:r>
            <a:endParaRPr b="0" sz="1800" strike="noStrike">
              <a:latin typeface="Arial"/>
              <a:ea typeface="Arial"/>
              <a:cs typeface="Arial"/>
              <a:sym typeface="Arial"/>
            </a:endParaRPr>
          </a:p>
          <a:p>
            <a:pPr indent="0" lvl="0" marL="0" marR="0" rtl="0" algn="l">
              <a:lnSpc>
                <a:spcPct val="150000"/>
              </a:lnSpc>
              <a:spcBef>
                <a:spcPts val="2268"/>
              </a:spcBef>
              <a:spcAft>
                <a:spcPts val="0"/>
              </a:spcAft>
              <a:buNone/>
            </a:pPr>
            <a:r>
              <a:rPr b="0" lang="es-ES" sz="1800" strike="noStrike">
                <a:latin typeface="Arial"/>
                <a:ea typeface="Arial"/>
                <a:cs typeface="Arial"/>
                <a:sym typeface="Arial"/>
              </a:rPr>
              <a:t>Los datos, que han de ser compartidos por diferentes usuarios y aplicaciones, deben mantenerse independientes de ellos y su definición (estructura de la BD), única y almacenada junto con los datos, se ha de apoyar en un modelo de datos, el cual ha de permitir captar las interrelaciones y restricciones existentes en el mundo real. </a:t>
            </a:r>
            <a:endParaRPr b="0" sz="1800" strike="noStrike">
              <a:latin typeface="Arial"/>
              <a:ea typeface="Arial"/>
              <a:cs typeface="Arial"/>
              <a:sym typeface="Arial"/>
            </a:endParaRPr>
          </a:p>
          <a:p>
            <a:pPr indent="0" lvl="0" marL="0" marR="0" rtl="0" algn="l">
              <a:lnSpc>
                <a:spcPct val="150000"/>
              </a:lnSpc>
              <a:spcBef>
                <a:spcPts val="2268"/>
              </a:spcBef>
              <a:spcAft>
                <a:spcPts val="0"/>
              </a:spcAft>
              <a:buNone/>
            </a:pPr>
            <a:r>
              <a:rPr b="0" lang="es-ES" sz="1800" strike="noStrike">
                <a:latin typeface="Arial"/>
                <a:ea typeface="Arial"/>
                <a:cs typeface="Arial"/>
                <a:sym typeface="Arial"/>
              </a:rPr>
              <a:t>Los procedimientos de actualización y recuperación, comunes y bien determinados, facilitarán la seguridad del conjunto de los datos.</a:t>
            </a:r>
            <a:endParaRPr b="0" sz="1800" strike="noStrike">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1"/>
          <p:cNvSpPr txBox="1"/>
          <p:nvPr/>
        </p:nvSpPr>
        <p:spPr>
          <a:xfrm>
            <a:off x="432000" y="361080"/>
            <a:ext cx="9216000" cy="77004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1" lang="es-ES" sz="2400" strike="noStrike">
                <a:latin typeface="Arial"/>
                <a:ea typeface="Arial"/>
                <a:cs typeface="Arial"/>
                <a:sym typeface="Arial"/>
              </a:rPr>
              <a:t>Concepto de base de datos relacional</a:t>
            </a:r>
            <a:endParaRPr b="0" sz="2400" strike="noStrike">
              <a:latin typeface="Arial"/>
              <a:ea typeface="Arial"/>
              <a:cs typeface="Arial"/>
              <a:sym typeface="Arial"/>
            </a:endParaRPr>
          </a:p>
        </p:txBody>
      </p:sp>
      <p:sp>
        <p:nvSpPr>
          <p:cNvPr id="111" name="Google Shape;111;p21"/>
          <p:cNvSpPr txBox="1"/>
          <p:nvPr/>
        </p:nvSpPr>
        <p:spPr>
          <a:xfrm>
            <a:off x="792000" y="1368000"/>
            <a:ext cx="4522680" cy="34632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s-ES" sz="1800" strike="noStrike">
                <a:latin typeface="Arial"/>
                <a:ea typeface="Arial"/>
                <a:cs typeface="Arial"/>
                <a:sym typeface="Arial"/>
              </a:rPr>
              <a:t>Sistemas de Gestión de Bases de Datos</a:t>
            </a:r>
            <a:endParaRPr b="0" sz="1800" strike="noStrike">
              <a:latin typeface="Arial"/>
              <a:ea typeface="Arial"/>
              <a:cs typeface="Arial"/>
              <a:sym typeface="Arial"/>
            </a:endParaRPr>
          </a:p>
        </p:txBody>
      </p:sp>
      <p:sp>
        <p:nvSpPr>
          <p:cNvPr id="112" name="Google Shape;112;p21"/>
          <p:cNvSpPr txBox="1"/>
          <p:nvPr/>
        </p:nvSpPr>
        <p:spPr>
          <a:xfrm>
            <a:off x="776520" y="2088000"/>
            <a:ext cx="8655480" cy="1625400"/>
          </a:xfrm>
          <a:prstGeom prst="rect">
            <a:avLst/>
          </a:prstGeom>
          <a:noFill/>
          <a:ln>
            <a:noFill/>
          </a:ln>
        </p:spPr>
        <p:txBody>
          <a:bodyPr anchorCtr="0" anchor="t" bIns="45000" lIns="90000" spcFirstLastPara="1" rIns="90000" wrap="square" tIns="45000">
            <a:noAutofit/>
          </a:bodyPr>
          <a:lstStyle/>
          <a:p>
            <a:pPr indent="0" lvl="0" marL="0" marR="0" rtl="0" algn="l">
              <a:lnSpc>
                <a:spcPct val="150000"/>
              </a:lnSpc>
              <a:spcBef>
                <a:spcPts val="0"/>
              </a:spcBef>
              <a:spcAft>
                <a:spcPts val="0"/>
              </a:spcAft>
              <a:buNone/>
            </a:pPr>
            <a:r>
              <a:rPr b="0" lang="es-ES" sz="1800" strike="noStrike">
                <a:latin typeface="Arial"/>
                <a:ea typeface="Arial"/>
                <a:cs typeface="Arial"/>
                <a:sym typeface="Arial"/>
              </a:rPr>
              <a:t>Un conjunto coordinado de programas, procedimientos, lenguajes, etc., que suministra, tanto a los usuarios no informáticos como a los analistas, programadores, o al administradores, los medios necesarios para describir, recuperar y manipular los datos almacenados, manteniendo su seguridad.</a:t>
            </a:r>
            <a:endParaRPr b="0" sz="1800" strike="noStrike">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2"/>
          <p:cNvSpPr txBox="1"/>
          <p:nvPr/>
        </p:nvSpPr>
        <p:spPr>
          <a:xfrm>
            <a:off x="432000" y="360360"/>
            <a:ext cx="9216000" cy="77004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s-ES" sz="2400" strike="noStrike">
                <a:latin typeface="Arial"/>
                <a:ea typeface="Arial"/>
                <a:cs typeface="Arial"/>
                <a:sym typeface="Arial"/>
              </a:rPr>
              <a:t>Concepto de base de datos relacional</a:t>
            </a:r>
            <a:endParaRPr b="0" sz="2400" strike="noStrike">
              <a:latin typeface="Arial"/>
              <a:ea typeface="Arial"/>
              <a:cs typeface="Arial"/>
              <a:sym typeface="Arial"/>
            </a:endParaRPr>
          </a:p>
        </p:txBody>
      </p:sp>
      <p:sp>
        <p:nvSpPr>
          <p:cNvPr id="118" name="Google Shape;118;p22"/>
          <p:cNvSpPr txBox="1"/>
          <p:nvPr/>
        </p:nvSpPr>
        <p:spPr>
          <a:xfrm>
            <a:off x="720000" y="1669680"/>
            <a:ext cx="2405880" cy="34632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s-ES" sz="1800" strike="noStrike">
                <a:latin typeface="Arial"/>
                <a:ea typeface="Arial"/>
                <a:cs typeface="Arial"/>
                <a:sym typeface="Arial"/>
              </a:rPr>
              <a:t>El modelo relacional</a:t>
            </a:r>
            <a:endParaRPr b="0" sz="1800" strike="noStrike">
              <a:latin typeface="Arial"/>
              <a:ea typeface="Arial"/>
              <a:cs typeface="Arial"/>
              <a:sym typeface="Arial"/>
            </a:endParaRPr>
          </a:p>
        </p:txBody>
      </p:sp>
      <p:sp>
        <p:nvSpPr>
          <p:cNvPr id="119" name="Google Shape;119;p22"/>
          <p:cNvSpPr txBox="1"/>
          <p:nvPr/>
        </p:nvSpPr>
        <p:spPr>
          <a:xfrm>
            <a:off x="720000" y="2124000"/>
            <a:ext cx="7272000" cy="1258200"/>
          </a:xfrm>
          <a:prstGeom prst="rect">
            <a:avLst/>
          </a:prstGeom>
          <a:noFill/>
          <a:ln>
            <a:noFill/>
          </a:ln>
        </p:spPr>
        <p:txBody>
          <a:bodyPr anchorCtr="0" anchor="t" bIns="45000" lIns="90000" spcFirstLastPara="1" rIns="90000" wrap="square" tIns="45000">
            <a:noAutofit/>
          </a:bodyPr>
          <a:lstStyle/>
          <a:p>
            <a:pPr indent="-216000" lvl="0" marL="216000" marR="0" rtl="0" algn="l">
              <a:lnSpc>
                <a:spcPct val="100000"/>
              </a:lnSpc>
              <a:spcBef>
                <a:spcPts val="0"/>
              </a:spcBef>
              <a:spcAft>
                <a:spcPts val="0"/>
              </a:spcAft>
              <a:buClr>
                <a:srgbClr val="000000"/>
              </a:buClr>
              <a:buSzPts val="1800"/>
              <a:buFont typeface="Noto Sans Symbols"/>
              <a:buAutoNum type="alphaUcParenR"/>
            </a:pPr>
            <a:r>
              <a:rPr b="1" lang="es-ES" sz="1800" strike="noStrike">
                <a:latin typeface="Arial"/>
                <a:ea typeface="Arial"/>
                <a:cs typeface="Arial"/>
                <a:sym typeface="Arial"/>
              </a:rPr>
              <a:t>Se caracteriza por ser sencillo y uniforme: </a:t>
            </a:r>
            <a:endParaRPr b="0" sz="1800" strike="noStrike">
              <a:latin typeface="Arial"/>
              <a:ea typeface="Arial"/>
              <a:cs typeface="Arial"/>
              <a:sym typeface="Arial"/>
            </a:endParaRPr>
          </a:p>
          <a:p>
            <a:pPr indent="-216000" lvl="0" marL="216000" marR="0" rtl="0" algn="l">
              <a:lnSpc>
                <a:spcPct val="100000"/>
              </a:lnSpc>
              <a:spcBef>
                <a:spcPts val="1134"/>
              </a:spcBef>
              <a:spcAft>
                <a:spcPts val="0"/>
              </a:spcAft>
              <a:buClr>
                <a:srgbClr val="000000"/>
              </a:buClr>
              <a:buSzPts val="810"/>
              <a:buFont typeface="Noto Sans Symbols"/>
              <a:buChar char="●"/>
            </a:pPr>
            <a:r>
              <a:rPr b="0" lang="es-ES" sz="1800" strike="noStrike">
                <a:latin typeface="Arial"/>
                <a:ea typeface="Arial"/>
                <a:cs typeface="Arial"/>
                <a:sym typeface="Arial"/>
              </a:rPr>
              <a:t>Colección de tablas</a:t>
            </a:r>
            <a:endParaRPr b="0" sz="1800" strike="noStrike">
              <a:latin typeface="Arial"/>
              <a:ea typeface="Arial"/>
              <a:cs typeface="Arial"/>
              <a:sym typeface="Arial"/>
            </a:endParaRPr>
          </a:p>
          <a:p>
            <a:pPr indent="-216000" lvl="0" marL="216000" marR="0" rtl="0" algn="l">
              <a:lnSpc>
                <a:spcPct val="100000"/>
              </a:lnSpc>
              <a:spcBef>
                <a:spcPts val="1134"/>
              </a:spcBef>
              <a:spcAft>
                <a:spcPts val="0"/>
              </a:spcAft>
              <a:buClr>
                <a:srgbClr val="000000"/>
              </a:buClr>
              <a:buSzPts val="810"/>
              <a:buFont typeface="Noto Sans Symbols"/>
              <a:buChar char="●"/>
            </a:pPr>
            <a:r>
              <a:rPr b="0" lang="es-ES" sz="1800" strike="noStrike">
                <a:latin typeface="Arial"/>
                <a:ea typeface="Arial"/>
                <a:cs typeface="Arial"/>
                <a:sym typeface="Arial"/>
              </a:rPr>
              <a:t>Lenguajes declarativos</a:t>
            </a:r>
            <a:endParaRPr b="0" sz="1800" strike="noStrike">
              <a:latin typeface="Arial"/>
              <a:ea typeface="Arial"/>
              <a:cs typeface="Arial"/>
              <a:sym typeface="Arial"/>
            </a:endParaRPr>
          </a:p>
        </p:txBody>
      </p:sp>
      <p:sp>
        <p:nvSpPr>
          <p:cNvPr id="120" name="Google Shape;120;p22"/>
          <p:cNvSpPr txBox="1"/>
          <p:nvPr/>
        </p:nvSpPr>
        <p:spPr>
          <a:xfrm>
            <a:off x="720000" y="3312000"/>
            <a:ext cx="4199040" cy="674280"/>
          </a:xfrm>
          <a:prstGeom prst="rect">
            <a:avLst/>
          </a:prstGeom>
          <a:noFill/>
          <a:ln>
            <a:noFill/>
          </a:ln>
        </p:spPr>
        <p:txBody>
          <a:bodyPr anchorCtr="0" anchor="t" bIns="45000" lIns="90000" spcFirstLastPara="1" rIns="90000" wrap="square" tIns="45000">
            <a:noAutofit/>
          </a:bodyPr>
          <a:lstStyle/>
          <a:p>
            <a:pPr indent="-216000" lvl="0" marL="216000" marR="0" rtl="0" algn="l">
              <a:lnSpc>
                <a:spcPct val="100000"/>
              </a:lnSpc>
              <a:spcBef>
                <a:spcPts val="0"/>
              </a:spcBef>
              <a:spcAft>
                <a:spcPts val="0"/>
              </a:spcAft>
              <a:buClr>
                <a:srgbClr val="000000"/>
              </a:buClr>
              <a:buSzPts val="1800"/>
              <a:buFont typeface="Noto Sans Symbols"/>
              <a:buAutoNum type="alphaUcParenR" startAt="2"/>
            </a:pPr>
            <a:r>
              <a:rPr b="1" lang="es-ES" sz="1800" strike="noStrike">
                <a:latin typeface="Arial"/>
                <a:ea typeface="Arial"/>
                <a:cs typeface="Arial"/>
                <a:sym typeface="Arial"/>
              </a:rPr>
              <a:t>Sólida fundamentación teórica</a:t>
            </a:r>
            <a:endParaRPr b="0" sz="1800" strike="noStrike">
              <a:latin typeface="Arial"/>
              <a:ea typeface="Arial"/>
              <a:cs typeface="Arial"/>
              <a:sym typeface="Arial"/>
            </a:endParaRPr>
          </a:p>
          <a:p>
            <a:pPr indent="-216000" lvl="0" marL="216000" marR="0" rtl="0" algn="l">
              <a:lnSpc>
                <a:spcPct val="100000"/>
              </a:lnSpc>
              <a:spcBef>
                <a:spcPts val="1134"/>
              </a:spcBef>
              <a:spcAft>
                <a:spcPts val="0"/>
              </a:spcAft>
              <a:buClr>
                <a:srgbClr val="000000"/>
              </a:buClr>
              <a:buSzPts val="810"/>
              <a:buFont typeface="Noto Sans Symbols"/>
              <a:buChar char="●"/>
            </a:pPr>
            <a:r>
              <a:rPr b="0" lang="es-ES" sz="1800" strike="noStrike">
                <a:latin typeface="Arial"/>
                <a:ea typeface="Arial"/>
                <a:cs typeface="Arial"/>
                <a:sym typeface="Arial"/>
              </a:rPr>
              <a:t>Modelo definido con rigor matemático</a:t>
            </a:r>
            <a:endParaRPr b="0" sz="1800" strike="noStrike">
              <a:latin typeface="Arial"/>
              <a:ea typeface="Arial"/>
              <a:cs typeface="Arial"/>
              <a:sym typeface="Arial"/>
            </a:endParaRPr>
          </a:p>
        </p:txBody>
      </p:sp>
      <p:sp>
        <p:nvSpPr>
          <p:cNvPr id="121" name="Google Shape;121;p22"/>
          <p:cNvSpPr txBox="1"/>
          <p:nvPr/>
        </p:nvSpPr>
        <p:spPr>
          <a:xfrm>
            <a:off x="720000" y="4104360"/>
            <a:ext cx="6979320" cy="34632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1" lang="es-ES" sz="1800" strike="noStrike">
                <a:latin typeface="Arial"/>
                <a:ea typeface="Arial"/>
                <a:cs typeface="Arial"/>
                <a:sym typeface="Arial"/>
              </a:rPr>
              <a:t>Independiente del almacenamiento físico y de las aplicaciones</a:t>
            </a:r>
            <a:endParaRPr b="0" sz="1800" strike="noStrike">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3"/>
          <p:cNvSpPr txBox="1"/>
          <p:nvPr/>
        </p:nvSpPr>
        <p:spPr>
          <a:xfrm>
            <a:off x="432000" y="360720"/>
            <a:ext cx="9216000" cy="57528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s-ES" sz="2400" strike="noStrike">
                <a:latin typeface="Arial"/>
                <a:ea typeface="Arial"/>
                <a:cs typeface="Arial"/>
                <a:sym typeface="Arial"/>
              </a:rPr>
              <a:t>Concepto de base de datos relacional</a:t>
            </a:r>
            <a:endParaRPr b="0" sz="2400" strike="noStrike">
              <a:latin typeface="Arial"/>
              <a:ea typeface="Arial"/>
              <a:cs typeface="Arial"/>
              <a:sym typeface="Arial"/>
            </a:endParaRPr>
          </a:p>
        </p:txBody>
      </p:sp>
      <p:sp>
        <p:nvSpPr>
          <p:cNvPr id="127" name="Google Shape;127;p23"/>
          <p:cNvSpPr txBox="1"/>
          <p:nvPr/>
        </p:nvSpPr>
        <p:spPr>
          <a:xfrm>
            <a:off x="720000" y="1821960"/>
            <a:ext cx="8496000" cy="300204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1" lang="es-ES" sz="1800" strike="noStrike">
                <a:latin typeface="Arial"/>
                <a:ea typeface="Arial"/>
                <a:cs typeface="Arial"/>
                <a:sym typeface="Arial"/>
              </a:rPr>
              <a:t>Base de datos</a:t>
            </a:r>
            <a:r>
              <a:rPr b="0" lang="es-ES" sz="1800" strike="noStrike">
                <a:latin typeface="Arial"/>
                <a:ea typeface="Arial"/>
                <a:cs typeface="Arial"/>
                <a:sym typeface="Arial"/>
              </a:rPr>
              <a:t>: Conjunto de tablas con nombres únicos</a:t>
            </a:r>
            <a:endParaRPr b="0" sz="1800" strike="noStrike">
              <a:latin typeface="Arial"/>
              <a:ea typeface="Arial"/>
              <a:cs typeface="Arial"/>
              <a:sym typeface="Arial"/>
            </a:endParaRPr>
          </a:p>
          <a:p>
            <a:pPr indent="0" lvl="0" marL="0" marR="0" rtl="0" algn="l">
              <a:lnSpc>
                <a:spcPct val="100000"/>
              </a:lnSpc>
              <a:spcBef>
                <a:spcPts val="3402"/>
              </a:spcBef>
              <a:spcAft>
                <a:spcPts val="0"/>
              </a:spcAft>
              <a:buNone/>
            </a:pPr>
            <a:r>
              <a:rPr b="1" lang="es-ES" sz="1800" strike="noStrike">
                <a:latin typeface="Arial"/>
                <a:ea typeface="Arial"/>
                <a:cs typeface="Arial"/>
                <a:sym typeface="Arial"/>
              </a:rPr>
              <a:t>Tabla (relación)</a:t>
            </a:r>
            <a:r>
              <a:rPr b="0" lang="es-ES" sz="1800" strike="noStrike">
                <a:latin typeface="Arial"/>
                <a:ea typeface="Arial"/>
                <a:cs typeface="Arial"/>
                <a:sym typeface="Arial"/>
              </a:rPr>
              <a:t>: Conjunto de tuplas que contienen los atributos que representan a las entidades del mundo real</a:t>
            </a:r>
            <a:endParaRPr b="0" sz="1800" strike="noStrike">
              <a:latin typeface="Arial"/>
              <a:ea typeface="Arial"/>
              <a:cs typeface="Arial"/>
              <a:sym typeface="Arial"/>
            </a:endParaRPr>
          </a:p>
          <a:p>
            <a:pPr indent="0" lvl="0" marL="0" marR="0" rtl="0" algn="l">
              <a:lnSpc>
                <a:spcPct val="100000"/>
              </a:lnSpc>
              <a:spcBef>
                <a:spcPts val="3402"/>
              </a:spcBef>
              <a:spcAft>
                <a:spcPts val="0"/>
              </a:spcAft>
              <a:buNone/>
            </a:pPr>
            <a:r>
              <a:rPr b="1" lang="es-ES" sz="1800" strike="noStrike">
                <a:latin typeface="Arial"/>
                <a:ea typeface="Arial"/>
                <a:cs typeface="Arial"/>
                <a:sym typeface="Arial"/>
              </a:rPr>
              <a:t>Fila (tupla)</a:t>
            </a:r>
            <a:r>
              <a:rPr b="0" lang="es-ES" sz="1800" strike="noStrike">
                <a:latin typeface="Arial"/>
                <a:ea typeface="Arial"/>
                <a:cs typeface="Arial"/>
                <a:sym typeface="Arial"/>
              </a:rPr>
              <a:t>: Cada fila representa una relación entre un conjunto de valores y está compuesta de campos.</a:t>
            </a:r>
            <a:endParaRPr b="0" sz="1800" strike="noStrike">
              <a:latin typeface="Arial"/>
              <a:ea typeface="Arial"/>
              <a:cs typeface="Arial"/>
              <a:sym typeface="Arial"/>
            </a:endParaRPr>
          </a:p>
          <a:p>
            <a:pPr indent="0" lvl="0" marL="0" marR="0" rtl="0" algn="l">
              <a:lnSpc>
                <a:spcPct val="100000"/>
              </a:lnSpc>
              <a:spcBef>
                <a:spcPts val="3402"/>
              </a:spcBef>
              <a:spcAft>
                <a:spcPts val="0"/>
              </a:spcAft>
              <a:buNone/>
            </a:pPr>
            <a:r>
              <a:rPr b="1" lang="es-ES" sz="1800" strike="noStrike">
                <a:latin typeface="Arial"/>
                <a:ea typeface="Arial"/>
                <a:cs typeface="Arial"/>
                <a:sym typeface="Arial"/>
              </a:rPr>
              <a:t>Columna (atributo)</a:t>
            </a:r>
            <a:r>
              <a:rPr b="0" lang="es-ES" sz="1800" strike="noStrike">
                <a:latin typeface="Arial"/>
                <a:ea typeface="Arial"/>
                <a:cs typeface="Arial"/>
                <a:sym typeface="Arial"/>
              </a:rPr>
              <a:t>: Cada uno de los datos que proporcionan la estructura de las filas. Pueden ser de distintos tipos, pero cada columna solo puede ser de un tipo.</a:t>
            </a:r>
            <a:endParaRPr b="0" sz="1800" strike="noStrike">
              <a:latin typeface="Arial"/>
              <a:ea typeface="Arial"/>
              <a:cs typeface="Arial"/>
              <a:sym typeface="Arial"/>
            </a:endParaRPr>
          </a:p>
          <a:p>
            <a:pPr indent="0" lvl="0" marL="0" marR="0" rtl="0" algn="l">
              <a:lnSpc>
                <a:spcPct val="100000"/>
              </a:lnSpc>
              <a:spcBef>
                <a:spcPts val="2268"/>
              </a:spcBef>
              <a:spcAft>
                <a:spcPts val="0"/>
              </a:spcAft>
              <a:buNone/>
            </a:pPr>
            <a:r>
              <a:t/>
            </a:r>
            <a:endParaRPr b="0" sz="1800" strike="noStrike">
              <a:latin typeface="Arial"/>
              <a:ea typeface="Arial"/>
              <a:cs typeface="Arial"/>
              <a:sym typeface="Arial"/>
            </a:endParaRPr>
          </a:p>
        </p:txBody>
      </p:sp>
      <p:sp>
        <p:nvSpPr>
          <p:cNvPr id="128" name="Google Shape;128;p23"/>
          <p:cNvSpPr txBox="1"/>
          <p:nvPr/>
        </p:nvSpPr>
        <p:spPr>
          <a:xfrm>
            <a:off x="576000" y="1224000"/>
            <a:ext cx="3528000" cy="3600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s-ES" sz="1800" strike="noStrike">
                <a:latin typeface="Arial"/>
                <a:ea typeface="Arial"/>
                <a:cs typeface="Arial"/>
                <a:sym typeface="Arial"/>
              </a:rPr>
              <a:t>Definiciones básicas</a:t>
            </a:r>
            <a:endParaRPr b="0" sz="1800" strike="noStrike">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4"/>
          <p:cNvSpPr txBox="1"/>
          <p:nvPr/>
        </p:nvSpPr>
        <p:spPr>
          <a:xfrm>
            <a:off x="504000" y="2151360"/>
            <a:ext cx="8280000" cy="24220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1" lang="es-ES" sz="1800" strike="noStrike">
                <a:latin typeface="Arial"/>
                <a:ea typeface="Arial"/>
                <a:cs typeface="Arial"/>
                <a:sym typeface="Arial"/>
              </a:rPr>
              <a:t>Dominio</a:t>
            </a:r>
            <a:r>
              <a:rPr b="0" lang="es-ES" sz="1800" strike="noStrike">
                <a:latin typeface="Arial"/>
                <a:ea typeface="Arial"/>
                <a:cs typeface="Arial"/>
                <a:sym typeface="Arial"/>
              </a:rPr>
              <a:t>: Conjunto nominado, finito y homogéneo de valores atómicos</a:t>
            </a:r>
            <a:endParaRPr b="0" sz="1800" strike="noStrike">
              <a:latin typeface="Arial"/>
              <a:ea typeface="Arial"/>
              <a:cs typeface="Arial"/>
              <a:sym typeface="Arial"/>
            </a:endParaRPr>
          </a:p>
          <a:p>
            <a:pPr indent="0" lvl="0" marL="0" marR="0" rtl="0" algn="l">
              <a:lnSpc>
                <a:spcPct val="100000"/>
              </a:lnSpc>
              <a:spcBef>
                <a:spcPts val="2834"/>
              </a:spcBef>
              <a:spcAft>
                <a:spcPts val="0"/>
              </a:spcAft>
              <a:buNone/>
            </a:pPr>
            <a:r>
              <a:rPr b="1" lang="es-ES" sz="1800" strike="noStrike">
                <a:latin typeface="Arial"/>
                <a:ea typeface="Arial"/>
                <a:cs typeface="Arial"/>
                <a:sym typeface="Arial"/>
              </a:rPr>
              <a:t>Clave primaria</a:t>
            </a:r>
            <a:r>
              <a:rPr b="0" lang="es-ES" sz="1800" strike="noStrike">
                <a:latin typeface="Arial"/>
                <a:ea typeface="Arial"/>
                <a:cs typeface="Arial"/>
                <a:sym typeface="Arial"/>
              </a:rPr>
              <a:t>: Uno o más campos que identifican de manera unívoca una fila.</a:t>
            </a:r>
            <a:endParaRPr b="0" sz="1800" strike="noStrike">
              <a:latin typeface="Arial"/>
              <a:ea typeface="Arial"/>
              <a:cs typeface="Arial"/>
              <a:sym typeface="Arial"/>
            </a:endParaRPr>
          </a:p>
          <a:p>
            <a:pPr indent="0" lvl="0" marL="0" marR="0" rtl="0" algn="l">
              <a:lnSpc>
                <a:spcPct val="100000"/>
              </a:lnSpc>
              <a:spcBef>
                <a:spcPts val="2834"/>
              </a:spcBef>
              <a:spcAft>
                <a:spcPts val="0"/>
              </a:spcAft>
              <a:buNone/>
            </a:pPr>
            <a:r>
              <a:rPr b="1" lang="es-ES" sz="1800" strike="noStrike">
                <a:latin typeface="Arial"/>
                <a:ea typeface="Arial"/>
                <a:cs typeface="Arial"/>
                <a:sym typeface="Arial"/>
              </a:rPr>
              <a:t>Clave ajena o foránea</a:t>
            </a:r>
            <a:r>
              <a:rPr b="0" lang="es-ES" sz="1800" strike="noStrike">
                <a:latin typeface="Arial"/>
                <a:ea typeface="Arial"/>
                <a:cs typeface="Arial"/>
                <a:sym typeface="Arial"/>
              </a:rPr>
              <a:t>: Una clave foránea es una referencia a una clave en otra tabla, determina la relación existente en dos tablas.</a:t>
            </a:r>
            <a:endParaRPr b="0" sz="1800" strike="noStrike">
              <a:latin typeface="Arial"/>
              <a:ea typeface="Arial"/>
              <a:cs typeface="Arial"/>
              <a:sym typeface="Arial"/>
            </a:endParaRPr>
          </a:p>
          <a:p>
            <a:pPr indent="0" lvl="0" marL="0" marR="0" rtl="0" algn="l">
              <a:lnSpc>
                <a:spcPct val="100000"/>
              </a:lnSpc>
              <a:spcBef>
                <a:spcPts val="2834"/>
              </a:spcBef>
              <a:spcAft>
                <a:spcPts val="0"/>
              </a:spcAft>
              <a:buNone/>
            </a:pPr>
            <a:r>
              <a:rPr b="1" lang="es-ES" sz="1800" strike="noStrike">
                <a:latin typeface="Arial"/>
                <a:ea typeface="Arial"/>
                <a:cs typeface="Arial"/>
                <a:sym typeface="Arial"/>
              </a:rPr>
              <a:t>Índices</a:t>
            </a:r>
            <a:r>
              <a:rPr b="0" lang="es-ES" sz="1800" strike="noStrike">
                <a:latin typeface="Arial"/>
                <a:ea typeface="Arial"/>
                <a:cs typeface="Arial"/>
                <a:sym typeface="Arial"/>
              </a:rPr>
              <a:t>: Combinación de campos de una tabla para favorecer el acceso más rápido a los datos.</a:t>
            </a:r>
            <a:endParaRPr b="0" sz="1800" strike="noStrike">
              <a:latin typeface="Arial"/>
              <a:ea typeface="Arial"/>
              <a:cs typeface="Arial"/>
              <a:sym typeface="Arial"/>
            </a:endParaRPr>
          </a:p>
        </p:txBody>
      </p:sp>
      <p:sp>
        <p:nvSpPr>
          <p:cNvPr id="134" name="Google Shape;134;p24"/>
          <p:cNvSpPr txBox="1"/>
          <p:nvPr/>
        </p:nvSpPr>
        <p:spPr>
          <a:xfrm>
            <a:off x="432000" y="360720"/>
            <a:ext cx="9216000" cy="57528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s-ES" sz="2400" strike="noStrike">
                <a:latin typeface="Arial"/>
                <a:ea typeface="Arial"/>
                <a:cs typeface="Arial"/>
                <a:sym typeface="Arial"/>
              </a:rPr>
              <a:t>Concepto de base de datos relacional</a:t>
            </a:r>
            <a:endParaRPr b="0" sz="2400" strike="noStrike">
              <a:latin typeface="Arial"/>
              <a:ea typeface="Arial"/>
              <a:cs typeface="Arial"/>
              <a:sym typeface="Arial"/>
            </a:endParaRPr>
          </a:p>
        </p:txBody>
      </p:sp>
      <p:sp>
        <p:nvSpPr>
          <p:cNvPr id="135" name="Google Shape;135;p24"/>
          <p:cNvSpPr txBox="1"/>
          <p:nvPr/>
        </p:nvSpPr>
        <p:spPr>
          <a:xfrm>
            <a:off x="648000" y="1152000"/>
            <a:ext cx="3528000" cy="3600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s-ES" sz="1800" strike="noStrike">
                <a:latin typeface="Arial"/>
                <a:ea typeface="Arial"/>
                <a:cs typeface="Arial"/>
                <a:sym typeface="Arial"/>
              </a:rPr>
              <a:t>Definiciones básicas</a:t>
            </a:r>
            <a:endParaRPr b="0" sz="1800" strike="noStrike">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5"/>
          <p:cNvSpPr txBox="1"/>
          <p:nvPr/>
        </p:nvSpPr>
        <p:spPr>
          <a:xfrm>
            <a:off x="432000" y="360720"/>
            <a:ext cx="9216000" cy="57528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s-ES" sz="2400" strike="noStrike">
                <a:latin typeface="Arial"/>
                <a:ea typeface="Arial"/>
                <a:cs typeface="Arial"/>
                <a:sym typeface="Arial"/>
              </a:rPr>
              <a:t>Concepto de modelos de datos</a:t>
            </a:r>
            <a:endParaRPr b="0" sz="2400" strike="noStrike">
              <a:latin typeface="Arial"/>
              <a:ea typeface="Arial"/>
              <a:cs typeface="Arial"/>
              <a:sym typeface="Arial"/>
            </a:endParaRPr>
          </a:p>
        </p:txBody>
      </p:sp>
      <p:sp>
        <p:nvSpPr>
          <p:cNvPr id="141" name="Google Shape;141;p25"/>
          <p:cNvSpPr txBox="1"/>
          <p:nvPr/>
        </p:nvSpPr>
        <p:spPr>
          <a:xfrm>
            <a:off x="720000" y="1368000"/>
            <a:ext cx="3838320" cy="34632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s-ES" sz="1800" strike="noStrike">
                <a:latin typeface="Arial"/>
                <a:ea typeface="Arial"/>
                <a:cs typeface="Arial"/>
                <a:sym typeface="Arial"/>
              </a:rPr>
              <a:t>Diagrama Entidad/Relación (ERD)</a:t>
            </a:r>
            <a:endParaRPr b="0" sz="1800" strike="noStrike">
              <a:latin typeface="Arial"/>
              <a:ea typeface="Arial"/>
              <a:cs typeface="Arial"/>
              <a:sym typeface="Arial"/>
            </a:endParaRPr>
          </a:p>
        </p:txBody>
      </p:sp>
      <p:sp>
        <p:nvSpPr>
          <p:cNvPr id="142" name="Google Shape;142;p25"/>
          <p:cNvSpPr txBox="1"/>
          <p:nvPr/>
        </p:nvSpPr>
        <p:spPr>
          <a:xfrm>
            <a:off x="720000" y="2021760"/>
            <a:ext cx="8136000" cy="2586240"/>
          </a:xfrm>
          <a:prstGeom prst="rect">
            <a:avLst/>
          </a:prstGeom>
          <a:noFill/>
          <a:ln>
            <a:noFill/>
          </a:ln>
        </p:spPr>
        <p:txBody>
          <a:bodyPr anchorCtr="0" anchor="t" bIns="45000" lIns="90000" spcFirstLastPara="1" rIns="90000" wrap="square" tIns="45000">
            <a:noAutofit/>
          </a:bodyPr>
          <a:lstStyle/>
          <a:p>
            <a:pPr indent="0" lvl="0" marL="0" marR="0" rtl="0" algn="l">
              <a:lnSpc>
                <a:spcPct val="150000"/>
              </a:lnSpc>
              <a:spcBef>
                <a:spcPts val="0"/>
              </a:spcBef>
              <a:spcAft>
                <a:spcPts val="0"/>
              </a:spcAft>
              <a:buNone/>
            </a:pPr>
            <a:r>
              <a:rPr b="0" lang="es-ES" sz="1800" strike="noStrike">
                <a:latin typeface="Arial"/>
                <a:ea typeface="Arial"/>
                <a:cs typeface="Arial"/>
                <a:sym typeface="Arial"/>
              </a:rPr>
              <a:t>Técnica cuyo objetivo es la representación y definición de todos los datos que se introducen, almacenan, transforman y producen dentro de un sistema de información, sin tener en cuenta las necesidades de la tecnología existente, ni otras restricciones.</a:t>
            </a:r>
            <a:endParaRPr b="0" sz="1800" strike="noStrike">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6"/>
          <p:cNvSpPr txBox="1"/>
          <p:nvPr/>
        </p:nvSpPr>
        <p:spPr>
          <a:xfrm>
            <a:off x="432000" y="360720"/>
            <a:ext cx="9216000" cy="575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1" lang="es-ES" sz="2400" strike="noStrike">
                <a:latin typeface="Arial"/>
                <a:ea typeface="Arial"/>
                <a:cs typeface="Arial"/>
                <a:sym typeface="Arial"/>
              </a:rPr>
              <a:t>Concepto de modelos de datos</a:t>
            </a:r>
            <a:endParaRPr b="0" sz="2400" strike="noStrike">
              <a:latin typeface="Arial"/>
              <a:ea typeface="Arial"/>
              <a:cs typeface="Arial"/>
              <a:sym typeface="Arial"/>
            </a:endParaRPr>
          </a:p>
        </p:txBody>
      </p:sp>
      <p:sp>
        <p:nvSpPr>
          <p:cNvPr id="148" name="Google Shape;148;p26"/>
          <p:cNvSpPr txBox="1"/>
          <p:nvPr/>
        </p:nvSpPr>
        <p:spPr>
          <a:xfrm>
            <a:off x="720000" y="1296000"/>
            <a:ext cx="9072000" cy="341784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s-ES" sz="1800" strike="noStrike">
                <a:latin typeface="Arial"/>
                <a:ea typeface="Arial"/>
                <a:cs typeface="Arial"/>
                <a:sym typeface="Arial"/>
              </a:rPr>
              <a:t>Entidad</a:t>
            </a:r>
            <a:r>
              <a:rPr b="0" lang="es-ES" sz="1800" strike="noStrike">
                <a:latin typeface="Arial"/>
                <a:ea typeface="Arial"/>
                <a:cs typeface="Arial"/>
                <a:sym typeface="Arial"/>
              </a:rPr>
              <a:t>:</a:t>
            </a:r>
            <a:br>
              <a:rPr lang="es-ES" sz="1800"/>
            </a:br>
            <a:endParaRPr b="0" sz="1800" strike="noStrike">
              <a:latin typeface="Arial"/>
              <a:ea typeface="Arial"/>
              <a:cs typeface="Arial"/>
              <a:sym typeface="Arial"/>
            </a:endParaRPr>
          </a:p>
          <a:p>
            <a:pPr indent="0" lvl="0" marL="0" marR="0" rtl="0" algn="l">
              <a:spcBef>
                <a:spcPts val="0"/>
              </a:spcBef>
              <a:spcAft>
                <a:spcPts val="0"/>
              </a:spcAft>
              <a:buNone/>
            </a:pPr>
            <a:r>
              <a:rPr b="0" lang="es-ES" sz="1800" strike="noStrike">
                <a:latin typeface="Arial"/>
                <a:ea typeface="Arial"/>
                <a:cs typeface="Arial"/>
                <a:sym typeface="Arial"/>
              </a:rPr>
              <a:t>Objeto real o abstracto del que se quiere guardar información.</a:t>
            </a:r>
            <a:endParaRPr b="0" sz="1800" strike="noStrike">
              <a:latin typeface="Arial"/>
              <a:ea typeface="Arial"/>
              <a:cs typeface="Arial"/>
              <a:sym typeface="Arial"/>
            </a:endParaRPr>
          </a:p>
          <a:p>
            <a:pPr indent="0" lvl="0" marL="0" marR="0" rtl="0" algn="l">
              <a:spcBef>
                <a:spcPts val="0"/>
              </a:spcBef>
              <a:spcAft>
                <a:spcPts val="0"/>
              </a:spcAft>
              <a:buNone/>
            </a:pPr>
            <a:r>
              <a:rPr b="0" lang="es-ES" sz="1800" strike="noStrike">
                <a:latin typeface="Arial"/>
                <a:ea typeface="Arial"/>
                <a:cs typeface="Arial"/>
                <a:sym typeface="Arial"/>
              </a:rPr>
              <a:t>Se suelen representar por nombres en singular, que se identifican durante la fase de análisis.</a:t>
            </a:r>
            <a:endParaRPr b="0" sz="1800" strike="noStrike">
              <a:latin typeface="Arial"/>
              <a:ea typeface="Arial"/>
              <a:cs typeface="Arial"/>
              <a:sym typeface="Arial"/>
            </a:endParaRPr>
          </a:p>
          <a:p>
            <a:pPr indent="0" lvl="0" marL="0" marR="0" rtl="0" algn="l">
              <a:spcBef>
                <a:spcPts val="0"/>
              </a:spcBef>
              <a:spcAft>
                <a:spcPts val="0"/>
              </a:spcAft>
              <a:buNone/>
            </a:pPr>
            <a:r>
              <a:t/>
            </a:r>
            <a:endParaRPr b="0" sz="1800" strike="noStrike">
              <a:latin typeface="Arial"/>
              <a:ea typeface="Arial"/>
              <a:cs typeface="Arial"/>
              <a:sym typeface="Arial"/>
            </a:endParaRPr>
          </a:p>
          <a:p>
            <a:pPr indent="0" lvl="0" marL="0" marR="0" rtl="0" algn="l">
              <a:spcBef>
                <a:spcPts val="0"/>
              </a:spcBef>
              <a:spcAft>
                <a:spcPts val="0"/>
              </a:spcAft>
              <a:buNone/>
            </a:pPr>
            <a:r>
              <a:rPr b="0" lang="es-ES" sz="1800" strike="noStrike">
                <a:latin typeface="Arial"/>
                <a:ea typeface="Arial"/>
                <a:cs typeface="Arial"/>
                <a:sym typeface="Arial"/>
              </a:rPr>
              <a:t>Ejemplos:</a:t>
            </a:r>
            <a:endParaRPr b="0" sz="1800" strike="noStrike">
              <a:latin typeface="Arial"/>
              <a:ea typeface="Arial"/>
              <a:cs typeface="Arial"/>
              <a:sym typeface="Arial"/>
            </a:endParaRPr>
          </a:p>
          <a:p>
            <a:pPr indent="-216000" lvl="1" marL="432000" marR="0" rtl="0" algn="l">
              <a:spcBef>
                <a:spcPts val="0"/>
              </a:spcBef>
              <a:spcAft>
                <a:spcPts val="0"/>
              </a:spcAft>
              <a:buClr>
                <a:srgbClr val="000000"/>
              </a:buClr>
              <a:buSzPts val="810"/>
              <a:buFont typeface="Noto Sans Symbols"/>
              <a:buChar char="●"/>
            </a:pPr>
            <a:r>
              <a:rPr b="0" i="0" lang="es-ES" sz="1800" u="none" cap="none" strike="noStrike">
                <a:latin typeface="Arial"/>
                <a:ea typeface="Arial"/>
                <a:cs typeface="Arial"/>
                <a:sym typeface="Arial"/>
              </a:rPr>
              <a:t>Factura</a:t>
            </a:r>
            <a:endParaRPr b="0" i="0" sz="1800" u="none" cap="none" strike="noStrike">
              <a:latin typeface="Arial"/>
              <a:ea typeface="Arial"/>
              <a:cs typeface="Arial"/>
              <a:sym typeface="Arial"/>
            </a:endParaRPr>
          </a:p>
          <a:p>
            <a:pPr indent="-216000" lvl="1" marL="432000" marR="0" rtl="0" algn="l">
              <a:spcBef>
                <a:spcPts val="0"/>
              </a:spcBef>
              <a:spcAft>
                <a:spcPts val="0"/>
              </a:spcAft>
              <a:buClr>
                <a:srgbClr val="000000"/>
              </a:buClr>
              <a:buSzPts val="810"/>
              <a:buFont typeface="Noto Sans Symbols"/>
              <a:buChar char="●"/>
            </a:pPr>
            <a:r>
              <a:rPr b="0" i="0" lang="es-ES" sz="1800" u="none" cap="none" strike="noStrike">
                <a:latin typeface="Arial"/>
                <a:ea typeface="Arial"/>
                <a:cs typeface="Arial"/>
                <a:sym typeface="Arial"/>
              </a:rPr>
              <a:t>Cliente</a:t>
            </a:r>
            <a:endParaRPr b="0" i="0" sz="1800" u="none" cap="none" strike="noStrike">
              <a:latin typeface="Arial"/>
              <a:ea typeface="Arial"/>
              <a:cs typeface="Arial"/>
              <a:sym typeface="Arial"/>
            </a:endParaRPr>
          </a:p>
          <a:p>
            <a:pPr indent="-216000" lvl="1" marL="432000" marR="0" rtl="0" algn="l">
              <a:spcBef>
                <a:spcPts val="0"/>
              </a:spcBef>
              <a:spcAft>
                <a:spcPts val="0"/>
              </a:spcAft>
              <a:buClr>
                <a:srgbClr val="000000"/>
              </a:buClr>
              <a:buSzPts val="810"/>
              <a:buFont typeface="Noto Sans Symbols"/>
              <a:buChar char="●"/>
            </a:pPr>
            <a:r>
              <a:rPr b="0" i="0" lang="es-ES" sz="1800" u="none" cap="none" strike="noStrike">
                <a:latin typeface="Arial"/>
                <a:ea typeface="Arial"/>
                <a:cs typeface="Arial"/>
                <a:sym typeface="Arial"/>
              </a:rPr>
              <a:t>Usuario</a:t>
            </a:r>
            <a:endParaRPr b="0" i="0" sz="1800" u="none" cap="none" strike="noStrike">
              <a:latin typeface="Arial"/>
              <a:ea typeface="Arial"/>
              <a:cs typeface="Arial"/>
              <a:sym typeface="Arial"/>
            </a:endParaRPr>
          </a:p>
          <a:p>
            <a:pPr indent="-216000" lvl="1" marL="432000" marR="0" rtl="0" algn="l">
              <a:spcBef>
                <a:spcPts val="0"/>
              </a:spcBef>
              <a:spcAft>
                <a:spcPts val="0"/>
              </a:spcAft>
              <a:buClr>
                <a:srgbClr val="000000"/>
              </a:buClr>
              <a:buSzPts val="810"/>
              <a:buFont typeface="Noto Sans Symbols"/>
              <a:buChar char="●"/>
            </a:pPr>
            <a:r>
              <a:rPr b="0" i="0" lang="es-ES" sz="1800" u="none" cap="none" strike="noStrike">
                <a:latin typeface="Arial"/>
                <a:ea typeface="Arial"/>
                <a:cs typeface="Arial"/>
                <a:sym typeface="Arial"/>
              </a:rPr>
              <a:t>Curso</a:t>
            </a:r>
            <a:endParaRPr b="0" i="0" sz="1800" u="none" cap="none" strike="noStrike">
              <a:latin typeface="Arial"/>
              <a:ea typeface="Arial"/>
              <a:cs typeface="Arial"/>
              <a:sym typeface="Arial"/>
            </a:endParaRPr>
          </a:p>
          <a:p>
            <a:pPr indent="-216000" lvl="1" marL="432000" marR="0" rtl="0" algn="l">
              <a:spcBef>
                <a:spcPts val="0"/>
              </a:spcBef>
              <a:spcAft>
                <a:spcPts val="0"/>
              </a:spcAft>
              <a:buClr>
                <a:srgbClr val="000000"/>
              </a:buClr>
              <a:buSzPts val="810"/>
              <a:buFont typeface="Noto Sans Symbols"/>
              <a:buChar char="●"/>
            </a:pPr>
            <a:r>
              <a:rPr b="0" i="0" lang="es-ES" sz="1800" u="none" cap="none" strike="noStrike">
                <a:latin typeface="Arial"/>
                <a:ea typeface="Arial"/>
                <a:cs typeface="Arial"/>
                <a:sym typeface="Arial"/>
              </a:rPr>
              <a:t>Asignatura</a:t>
            </a:r>
            <a:endParaRPr b="0" i="0" sz="1800" u="none" cap="none" strike="noStrike">
              <a:latin typeface="Arial"/>
              <a:ea typeface="Arial"/>
              <a:cs typeface="Arial"/>
              <a:sym typeface="Arial"/>
            </a:endParaRPr>
          </a:p>
          <a:p>
            <a:pPr indent="-216000" lvl="1" marL="432000" marR="0" rtl="0" algn="l">
              <a:spcBef>
                <a:spcPts val="0"/>
              </a:spcBef>
              <a:spcAft>
                <a:spcPts val="0"/>
              </a:spcAft>
              <a:buClr>
                <a:srgbClr val="000000"/>
              </a:buClr>
              <a:buSzPts val="810"/>
              <a:buFont typeface="Noto Sans Symbols"/>
              <a:buChar char="●"/>
            </a:pPr>
            <a:r>
              <a:rPr b="0" i="0" lang="es-ES" sz="1800" u="none" cap="none" strike="noStrike">
                <a:latin typeface="Arial"/>
                <a:ea typeface="Arial"/>
                <a:cs typeface="Arial"/>
                <a:sym typeface="Arial"/>
              </a:rPr>
              <a:t>...</a:t>
            </a:r>
            <a:endParaRPr b="0" i="0" sz="1800" u="none" cap="none" strike="noStrike">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7"/>
          <p:cNvSpPr txBox="1"/>
          <p:nvPr/>
        </p:nvSpPr>
        <p:spPr>
          <a:xfrm>
            <a:off x="432000" y="360720"/>
            <a:ext cx="9216000" cy="575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1" lang="es-ES" sz="2400" strike="noStrike">
                <a:latin typeface="Arial"/>
                <a:ea typeface="Arial"/>
                <a:cs typeface="Arial"/>
                <a:sym typeface="Arial"/>
              </a:rPr>
              <a:t>Concepto de modelos de datos</a:t>
            </a:r>
            <a:endParaRPr b="0" sz="2400" strike="noStrike">
              <a:latin typeface="Arial"/>
              <a:ea typeface="Arial"/>
              <a:cs typeface="Arial"/>
              <a:sym typeface="Arial"/>
            </a:endParaRPr>
          </a:p>
        </p:txBody>
      </p:sp>
      <p:sp>
        <p:nvSpPr>
          <p:cNvPr id="154" name="Google Shape;154;p27"/>
          <p:cNvSpPr txBox="1"/>
          <p:nvPr/>
        </p:nvSpPr>
        <p:spPr>
          <a:xfrm>
            <a:off x="720000" y="1080000"/>
            <a:ext cx="8712000" cy="18000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s-ES" sz="1800" strike="noStrike">
                <a:latin typeface="Arial"/>
                <a:ea typeface="Arial"/>
                <a:cs typeface="Arial"/>
                <a:sym typeface="Arial"/>
              </a:rPr>
              <a:t>Atributos</a:t>
            </a:r>
            <a:r>
              <a:rPr b="0" lang="es-ES" sz="1800" strike="noStrike">
                <a:latin typeface="Arial"/>
                <a:ea typeface="Arial"/>
                <a:cs typeface="Arial"/>
                <a:sym typeface="Arial"/>
              </a:rPr>
              <a:t>:</a:t>
            </a:r>
            <a:endParaRPr b="0" sz="1800" strike="noStrike">
              <a:latin typeface="Arial"/>
              <a:ea typeface="Arial"/>
              <a:cs typeface="Arial"/>
              <a:sym typeface="Arial"/>
            </a:endParaRPr>
          </a:p>
          <a:p>
            <a:pPr indent="0" lvl="0" marL="0" marR="0" rtl="0" algn="l">
              <a:spcBef>
                <a:spcPts val="0"/>
              </a:spcBef>
              <a:spcAft>
                <a:spcPts val="0"/>
              </a:spcAft>
              <a:buNone/>
            </a:pPr>
            <a:r>
              <a:t/>
            </a:r>
            <a:endParaRPr b="0" sz="1800" strike="noStrike">
              <a:latin typeface="Arial"/>
              <a:ea typeface="Arial"/>
              <a:cs typeface="Arial"/>
              <a:sym typeface="Arial"/>
            </a:endParaRPr>
          </a:p>
          <a:p>
            <a:pPr indent="0" lvl="0" marL="0" marR="0" rtl="0" algn="l">
              <a:spcBef>
                <a:spcPts val="0"/>
              </a:spcBef>
              <a:spcAft>
                <a:spcPts val="0"/>
              </a:spcAft>
              <a:buNone/>
            </a:pPr>
            <a:r>
              <a:rPr b="0" lang="es-ES" sz="1800" strike="noStrike">
                <a:latin typeface="Arial"/>
                <a:ea typeface="Arial"/>
                <a:cs typeface="Arial"/>
                <a:sym typeface="Arial"/>
              </a:rPr>
              <a:t>Cada elemento concreto de una entidad es una ocurrencia.</a:t>
            </a:r>
            <a:endParaRPr b="0" sz="1800" strike="noStrike">
              <a:latin typeface="Arial"/>
              <a:ea typeface="Arial"/>
              <a:cs typeface="Arial"/>
              <a:sym typeface="Arial"/>
            </a:endParaRPr>
          </a:p>
          <a:p>
            <a:pPr indent="0" lvl="0" marL="0" marR="0" rtl="0" algn="l">
              <a:spcBef>
                <a:spcPts val="0"/>
              </a:spcBef>
              <a:spcAft>
                <a:spcPts val="0"/>
              </a:spcAft>
              <a:buNone/>
            </a:pPr>
            <a:r>
              <a:t/>
            </a:r>
            <a:endParaRPr b="0" sz="1800" strike="noStrike">
              <a:latin typeface="Arial"/>
              <a:ea typeface="Arial"/>
              <a:cs typeface="Arial"/>
              <a:sym typeface="Arial"/>
            </a:endParaRPr>
          </a:p>
          <a:p>
            <a:pPr indent="0" lvl="0" marL="0" marR="0" rtl="0" algn="l">
              <a:spcBef>
                <a:spcPts val="0"/>
              </a:spcBef>
              <a:spcAft>
                <a:spcPts val="0"/>
              </a:spcAft>
              <a:buNone/>
            </a:pPr>
            <a:r>
              <a:rPr b="0" lang="es-ES" sz="1800" strike="noStrike">
                <a:latin typeface="Arial"/>
                <a:ea typeface="Arial"/>
                <a:cs typeface="Arial"/>
                <a:sym typeface="Arial"/>
              </a:rPr>
              <a:t>Las entidades tienen atributos y cada ocurrencia de una entidad tendrá los mismos atributos, pero con valores diferentes.</a:t>
            </a:r>
            <a:endParaRPr b="0" sz="1800" strike="noStrike">
              <a:latin typeface="Arial"/>
              <a:ea typeface="Arial"/>
              <a:cs typeface="Arial"/>
              <a:sym typeface="Arial"/>
            </a:endParaRPr>
          </a:p>
        </p:txBody>
      </p:sp>
      <p:graphicFrame>
        <p:nvGraphicFramePr>
          <p:cNvPr id="155" name="Google Shape;155;p27"/>
          <p:cNvGraphicFramePr/>
          <p:nvPr/>
        </p:nvGraphicFramePr>
        <p:xfrm>
          <a:off x="927360" y="3685680"/>
          <a:ext cx="3000000" cy="3000000"/>
        </p:xfrm>
        <a:graphic>
          <a:graphicData uri="http://schemas.openxmlformats.org/drawingml/2006/table">
            <a:tbl>
              <a:tblPr>
                <a:noFill/>
                <a:tableStyleId>{9451CCBE-08B7-4547-8EA2-F0E2F9F66573}</a:tableStyleId>
              </a:tblPr>
              <a:tblGrid>
                <a:gridCol w="2815925"/>
                <a:gridCol w="2815925"/>
                <a:gridCol w="2815200"/>
              </a:tblGrid>
              <a:tr h="349925">
                <a:tc>
                  <a:txBody>
                    <a:bodyPr/>
                    <a:lstStyle/>
                    <a:p>
                      <a:pPr indent="0" lvl="0" marL="0" marR="0" rtl="0" algn="l">
                        <a:spcBef>
                          <a:spcPts val="0"/>
                        </a:spcBef>
                        <a:spcAft>
                          <a:spcPts val="0"/>
                        </a:spcAft>
                        <a:buNone/>
                      </a:pPr>
                      <a:r>
                        <a:rPr b="1" lang="es-ES" sz="1800" u="none" cap="none" strike="noStrike">
                          <a:latin typeface="Arial"/>
                          <a:ea typeface="Arial"/>
                          <a:cs typeface="Arial"/>
                          <a:sym typeface="Arial"/>
                        </a:rPr>
                        <a:t>Nombre</a:t>
                      </a:r>
                      <a:endParaRPr b="0" sz="1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c>
                  <a:txBody>
                    <a:bodyPr/>
                    <a:lstStyle/>
                    <a:p>
                      <a:pPr indent="0" lvl="0" marL="0" marR="0" rtl="0" algn="l">
                        <a:spcBef>
                          <a:spcPts val="0"/>
                        </a:spcBef>
                        <a:spcAft>
                          <a:spcPts val="0"/>
                        </a:spcAft>
                        <a:buNone/>
                      </a:pPr>
                      <a:r>
                        <a:rPr b="1" lang="es-ES" sz="1800" strike="noStrike">
                          <a:latin typeface="Arial"/>
                          <a:ea typeface="Arial"/>
                          <a:cs typeface="Arial"/>
                          <a:sym typeface="Arial"/>
                        </a:rPr>
                        <a:t>Dni</a:t>
                      </a:r>
                      <a:endParaRPr b="0" sz="1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c>
                  <a:txBody>
                    <a:bodyPr/>
                    <a:lstStyle/>
                    <a:p>
                      <a:pPr indent="0" lvl="0" marL="0" marR="0" rtl="0" algn="l">
                        <a:spcBef>
                          <a:spcPts val="0"/>
                        </a:spcBef>
                        <a:spcAft>
                          <a:spcPts val="0"/>
                        </a:spcAft>
                        <a:buNone/>
                      </a:pPr>
                      <a:r>
                        <a:rPr b="1" lang="es-ES" sz="1800" strike="noStrike">
                          <a:latin typeface="Arial"/>
                          <a:ea typeface="Arial"/>
                          <a:cs typeface="Arial"/>
                          <a:sym typeface="Arial"/>
                        </a:rPr>
                        <a:t>Fecha_nacimiento</a:t>
                      </a:r>
                      <a:endParaRPr b="0" sz="1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r>
              <a:tr h="349925">
                <a:tc>
                  <a:txBody>
                    <a:bodyPr/>
                    <a:lstStyle/>
                    <a:p>
                      <a:pPr indent="0" lvl="0" marL="0" marR="0" rtl="0" algn="l">
                        <a:spcBef>
                          <a:spcPts val="0"/>
                        </a:spcBef>
                        <a:spcAft>
                          <a:spcPts val="0"/>
                        </a:spcAft>
                        <a:buNone/>
                      </a:pPr>
                      <a:r>
                        <a:rPr b="0" lang="es-ES" sz="1800" strike="noStrike">
                          <a:latin typeface="Arial"/>
                          <a:ea typeface="Arial"/>
                          <a:cs typeface="Arial"/>
                          <a:sym typeface="Arial"/>
                        </a:rPr>
                        <a:t>Antonio López</a:t>
                      </a:r>
                      <a:endParaRPr b="0" sz="1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s-ES" sz="1800" strike="noStrike">
                          <a:latin typeface="Arial"/>
                          <a:ea typeface="Arial"/>
                          <a:cs typeface="Arial"/>
                          <a:sym typeface="Arial"/>
                        </a:rPr>
                        <a:t>12345678L</a:t>
                      </a:r>
                      <a:endParaRPr b="0" sz="1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s-ES" sz="1800" strike="noStrike">
                          <a:latin typeface="Arial"/>
                          <a:ea typeface="Arial"/>
                          <a:cs typeface="Arial"/>
                          <a:sym typeface="Arial"/>
                        </a:rPr>
                        <a:t>12/01/1999</a:t>
                      </a:r>
                      <a:endParaRPr b="0" sz="1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r>
              <a:tr h="349925">
                <a:tc>
                  <a:txBody>
                    <a:bodyPr/>
                    <a:lstStyle/>
                    <a:p>
                      <a:pPr indent="0" lvl="0" marL="0" marR="0" rtl="0" algn="l">
                        <a:spcBef>
                          <a:spcPts val="0"/>
                        </a:spcBef>
                        <a:spcAft>
                          <a:spcPts val="0"/>
                        </a:spcAft>
                        <a:buNone/>
                      </a:pPr>
                      <a:r>
                        <a:rPr b="0" lang="es-ES" sz="1800" strike="noStrike">
                          <a:latin typeface="Arial"/>
                          <a:ea typeface="Arial"/>
                          <a:cs typeface="Arial"/>
                          <a:sym typeface="Arial"/>
                        </a:rPr>
                        <a:t>Elisa Ramos</a:t>
                      </a:r>
                      <a:endParaRPr b="0" sz="1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c>
                  <a:txBody>
                    <a:bodyPr/>
                    <a:lstStyle/>
                    <a:p>
                      <a:pPr indent="0" lvl="0" marL="0" marR="0" rtl="0" algn="l">
                        <a:spcBef>
                          <a:spcPts val="0"/>
                        </a:spcBef>
                        <a:spcAft>
                          <a:spcPts val="0"/>
                        </a:spcAft>
                        <a:buNone/>
                      </a:pPr>
                      <a:r>
                        <a:rPr b="0" lang="es-ES" sz="1800" strike="noStrike">
                          <a:latin typeface="Arial"/>
                          <a:ea typeface="Arial"/>
                          <a:cs typeface="Arial"/>
                          <a:sym typeface="Arial"/>
                        </a:rPr>
                        <a:t>98765432K</a:t>
                      </a:r>
                      <a:endParaRPr b="0" sz="1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c>
                  <a:txBody>
                    <a:bodyPr/>
                    <a:lstStyle/>
                    <a:p>
                      <a:pPr indent="0" lvl="0" marL="0" marR="0" rtl="0" algn="l">
                        <a:spcBef>
                          <a:spcPts val="0"/>
                        </a:spcBef>
                        <a:spcAft>
                          <a:spcPts val="0"/>
                        </a:spcAft>
                        <a:buNone/>
                      </a:pPr>
                      <a:r>
                        <a:rPr b="0" lang="es-ES" sz="1800" strike="noStrike">
                          <a:latin typeface="Arial"/>
                          <a:ea typeface="Arial"/>
                          <a:cs typeface="Arial"/>
                          <a:sym typeface="Arial"/>
                        </a:rPr>
                        <a:t>06/07/2000</a:t>
                      </a:r>
                      <a:endParaRPr b="0" sz="1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r>
              <a:tr h="349925">
                <a:tc>
                  <a:txBody>
                    <a:bodyPr/>
                    <a:lstStyle/>
                    <a:p>
                      <a:pPr indent="0" lvl="0" marL="0" marR="0" rtl="0" algn="l">
                        <a:spcBef>
                          <a:spcPts val="0"/>
                        </a:spcBef>
                        <a:spcAft>
                          <a:spcPts val="0"/>
                        </a:spcAft>
                        <a:buNone/>
                      </a:pPr>
                      <a:r>
                        <a:rPr b="0" lang="es-ES" sz="1800" strike="noStrike">
                          <a:latin typeface="Arial"/>
                          <a:ea typeface="Arial"/>
                          <a:cs typeface="Arial"/>
                          <a:sym typeface="Arial"/>
                        </a:rPr>
                        <a:t>Luis García</a:t>
                      </a:r>
                      <a:endParaRPr b="0" sz="1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s-ES" sz="1800" strike="noStrike">
                          <a:latin typeface="Arial"/>
                          <a:ea typeface="Arial"/>
                          <a:cs typeface="Arial"/>
                          <a:sym typeface="Arial"/>
                        </a:rPr>
                        <a:t>76217621G</a:t>
                      </a:r>
                      <a:endParaRPr b="0" sz="1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l">
                        <a:spcBef>
                          <a:spcPts val="0"/>
                        </a:spcBef>
                        <a:spcAft>
                          <a:spcPts val="0"/>
                        </a:spcAft>
                        <a:buNone/>
                      </a:pPr>
                      <a:r>
                        <a:rPr b="0" lang="es-ES" sz="1800" strike="noStrike">
                          <a:latin typeface="Arial"/>
                          <a:ea typeface="Arial"/>
                          <a:cs typeface="Arial"/>
                          <a:sym typeface="Arial"/>
                        </a:rPr>
                        <a:t>18/12/2003</a:t>
                      </a:r>
                      <a:endParaRPr b="0" sz="1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r>
            </a:tbl>
          </a:graphicData>
        </a:graphic>
      </p:graphicFrame>
      <p:sp>
        <p:nvSpPr>
          <p:cNvPr id="156" name="Google Shape;156;p27"/>
          <p:cNvSpPr txBox="1"/>
          <p:nvPr/>
        </p:nvSpPr>
        <p:spPr>
          <a:xfrm>
            <a:off x="1080000" y="3276000"/>
            <a:ext cx="2109960" cy="34632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0" lang="es-ES" sz="1800" strike="noStrike">
                <a:latin typeface="Arial"/>
                <a:ea typeface="Arial"/>
                <a:cs typeface="Arial"/>
                <a:sym typeface="Arial"/>
              </a:rPr>
              <a:t>Entidad </a:t>
            </a:r>
            <a:r>
              <a:rPr b="1" lang="es-ES" sz="1800" strike="noStrike">
                <a:latin typeface="Arial"/>
                <a:ea typeface="Arial"/>
                <a:cs typeface="Arial"/>
                <a:sym typeface="Arial"/>
              </a:rPr>
              <a:t>Empleado</a:t>
            </a:r>
            <a:endParaRPr b="0" sz="1800" strike="noStrike">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8"/>
          <p:cNvSpPr txBox="1"/>
          <p:nvPr/>
        </p:nvSpPr>
        <p:spPr>
          <a:xfrm>
            <a:off x="432000" y="360720"/>
            <a:ext cx="9216000" cy="575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1" lang="es-ES" sz="2400" strike="noStrike">
                <a:latin typeface="Arial"/>
                <a:ea typeface="Arial"/>
                <a:cs typeface="Arial"/>
                <a:sym typeface="Arial"/>
              </a:rPr>
              <a:t>Concepto de modelos de datos</a:t>
            </a:r>
            <a:endParaRPr b="0" sz="2400" strike="noStrike">
              <a:latin typeface="Arial"/>
              <a:ea typeface="Arial"/>
              <a:cs typeface="Arial"/>
              <a:sym typeface="Arial"/>
            </a:endParaRPr>
          </a:p>
        </p:txBody>
      </p:sp>
      <p:sp>
        <p:nvSpPr>
          <p:cNvPr id="162" name="Google Shape;162;p28"/>
          <p:cNvSpPr txBox="1"/>
          <p:nvPr/>
        </p:nvSpPr>
        <p:spPr>
          <a:xfrm>
            <a:off x="648000" y="1224000"/>
            <a:ext cx="1776240" cy="34632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0" lang="es-ES" sz="1800" strike="noStrike">
                <a:latin typeface="Arial"/>
                <a:ea typeface="Arial"/>
                <a:cs typeface="Arial"/>
                <a:sym typeface="Arial"/>
              </a:rPr>
              <a:t>Representación</a:t>
            </a:r>
            <a:endParaRPr b="0" sz="1800" strike="noStrike">
              <a:latin typeface="Arial"/>
              <a:ea typeface="Arial"/>
              <a:cs typeface="Arial"/>
              <a:sym typeface="Arial"/>
            </a:endParaRPr>
          </a:p>
        </p:txBody>
      </p:sp>
      <p:grpSp>
        <p:nvGrpSpPr>
          <p:cNvPr id="163" name="Google Shape;163;p28"/>
          <p:cNvGrpSpPr/>
          <p:nvPr/>
        </p:nvGrpSpPr>
        <p:grpSpPr>
          <a:xfrm>
            <a:off x="360000" y="2304000"/>
            <a:ext cx="4679640" cy="1800000"/>
            <a:chOff x="360000" y="2304000"/>
            <a:chExt cx="4679640" cy="1800000"/>
          </a:xfrm>
        </p:grpSpPr>
        <p:sp>
          <p:nvSpPr>
            <p:cNvPr id="164" name="Google Shape;164;p28"/>
            <p:cNvSpPr/>
            <p:nvPr/>
          </p:nvSpPr>
          <p:spPr>
            <a:xfrm>
              <a:off x="1909440" y="3607560"/>
              <a:ext cx="1487880" cy="496440"/>
            </a:xfrm>
            <a:prstGeom prst="rect">
              <a:avLst/>
            </a:prstGeom>
            <a:solidFill>
              <a:srgbClr val="DEE6EF"/>
            </a:solidFill>
            <a:ln cap="flat" cmpd="sng" w="9525">
              <a:solidFill>
                <a:srgbClr val="3465A4"/>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spcBef>
                  <a:spcPts val="0"/>
                </a:spcBef>
                <a:spcAft>
                  <a:spcPts val="0"/>
                </a:spcAft>
                <a:buNone/>
              </a:pPr>
              <a:r>
                <a:rPr b="0" lang="es-ES" sz="1800" strike="noStrike">
                  <a:latin typeface="Arial"/>
                  <a:ea typeface="Arial"/>
                  <a:cs typeface="Arial"/>
                  <a:sym typeface="Arial"/>
                </a:rPr>
                <a:t>Empleado</a:t>
              </a:r>
              <a:endParaRPr b="0" sz="1800" strike="noStrike">
                <a:latin typeface="Arial"/>
                <a:ea typeface="Arial"/>
                <a:cs typeface="Arial"/>
                <a:sym typeface="Arial"/>
              </a:endParaRPr>
            </a:p>
          </p:txBody>
        </p:sp>
        <p:sp>
          <p:nvSpPr>
            <p:cNvPr id="165" name="Google Shape;165;p28"/>
            <p:cNvSpPr/>
            <p:nvPr/>
          </p:nvSpPr>
          <p:spPr>
            <a:xfrm>
              <a:off x="3645000" y="2304000"/>
              <a:ext cx="1394640" cy="496440"/>
            </a:xfrm>
            <a:prstGeom prst="ellipse">
              <a:avLst/>
            </a:prstGeom>
            <a:solidFill>
              <a:srgbClr val="DEE6EF"/>
            </a:solidFill>
            <a:ln cap="flat" cmpd="sng" w="9525">
              <a:solidFill>
                <a:srgbClr val="3465A4"/>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spcBef>
                  <a:spcPts val="0"/>
                </a:spcBef>
                <a:spcAft>
                  <a:spcPts val="0"/>
                </a:spcAft>
                <a:buNone/>
              </a:pPr>
              <a:r>
                <a:rPr b="0" lang="es-ES" sz="1800" strike="noStrike">
                  <a:latin typeface="Arial"/>
                  <a:ea typeface="Arial"/>
                  <a:cs typeface="Arial"/>
                  <a:sym typeface="Arial"/>
                </a:rPr>
                <a:t>Fecha_nac</a:t>
              </a:r>
              <a:endParaRPr b="0" sz="1800" strike="noStrike">
                <a:latin typeface="Arial"/>
                <a:ea typeface="Arial"/>
                <a:cs typeface="Arial"/>
                <a:sym typeface="Arial"/>
              </a:endParaRPr>
            </a:p>
          </p:txBody>
        </p:sp>
        <p:sp>
          <p:nvSpPr>
            <p:cNvPr id="166" name="Google Shape;166;p28"/>
            <p:cNvSpPr/>
            <p:nvPr/>
          </p:nvSpPr>
          <p:spPr>
            <a:xfrm>
              <a:off x="1971720" y="2304000"/>
              <a:ext cx="1394640" cy="496440"/>
            </a:xfrm>
            <a:prstGeom prst="ellipse">
              <a:avLst/>
            </a:prstGeom>
            <a:solidFill>
              <a:srgbClr val="DEE6EF"/>
            </a:solidFill>
            <a:ln cap="flat" cmpd="sng" w="9525">
              <a:solidFill>
                <a:srgbClr val="3465A4"/>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spcBef>
                  <a:spcPts val="0"/>
                </a:spcBef>
                <a:spcAft>
                  <a:spcPts val="0"/>
                </a:spcAft>
                <a:buNone/>
              </a:pPr>
              <a:r>
                <a:rPr b="0" lang="es-ES" sz="1800" strike="noStrike">
                  <a:latin typeface="Arial"/>
                  <a:ea typeface="Arial"/>
                  <a:cs typeface="Arial"/>
                  <a:sym typeface="Arial"/>
                </a:rPr>
                <a:t>Dni</a:t>
              </a:r>
              <a:endParaRPr b="0" sz="1800" strike="noStrike">
                <a:latin typeface="Arial"/>
                <a:ea typeface="Arial"/>
                <a:cs typeface="Arial"/>
                <a:sym typeface="Arial"/>
              </a:endParaRPr>
            </a:p>
          </p:txBody>
        </p:sp>
        <p:sp>
          <p:nvSpPr>
            <p:cNvPr id="167" name="Google Shape;167;p28"/>
            <p:cNvSpPr/>
            <p:nvPr/>
          </p:nvSpPr>
          <p:spPr>
            <a:xfrm>
              <a:off x="360000" y="2304000"/>
              <a:ext cx="1394640" cy="496440"/>
            </a:xfrm>
            <a:prstGeom prst="ellipse">
              <a:avLst/>
            </a:prstGeom>
            <a:solidFill>
              <a:srgbClr val="DEE6EF"/>
            </a:solidFill>
            <a:ln cap="flat" cmpd="sng" w="9525">
              <a:solidFill>
                <a:srgbClr val="3465A4"/>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spcBef>
                  <a:spcPts val="0"/>
                </a:spcBef>
                <a:spcAft>
                  <a:spcPts val="0"/>
                </a:spcAft>
                <a:buNone/>
              </a:pPr>
              <a:r>
                <a:rPr b="0" lang="es-ES" sz="1800" strike="noStrike">
                  <a:latin typeface="Arial"/>
                  <a:ea typeface="Arial"/>
                  <a:cs typeface="Arial"/>
                  <a:sym typeface="Arial"/>
                </a:rPr>
                <a:t>Nombre</a:t>
              </a:r>
              <a:endParaRPr b="0" sz="1800" strike="noStrike">
                <a:latin typeface="Arial"/>
                <a:ea typeface="Arial"/>
                <a:cs typeface="Arial"/>
                <a:sym typeface="Arial"/>
              </a:endParaRPr>
            </a:p>
          </p:txBody>
        </p:sp>
        <p:cxnSp>
          <p:nvCxnSpPr>
            <p:cNvPr id="168" name="Google Shape;168;p28"/>
            <p:cNvCxnSpPr>
              <a:stCxn id="167" idx="4"/>
              <a:endCxn id="164" idx="1"/>
            </p:cNvCxnSpPr>
            <p:nvPr/>
          </p:nvCxnSpPr>
          <p:spPr>
            <a:xfrm flipH="1" rot="-5400000">
              <a:off x="955620" y="2902140"/>
              <a:ext cx="1055400" cy="852000"/>
            </a:xfrm>
            <a:prstGeom prst="bentConnector3">
              <a:avLst>
                <a:gd fmla="val 50000" name="adj1"/>
              </a:avLst>
            </a:prstGeom>
            <a:noFill/>
            <a:ln cap="flat" cmpd="sng" w="9525">
              <a:solidFill>
                <a:srgbClr val="3465A4"/>
              </a:solidFill>
              <a:prstDash val="solid"/>
              <a:round/>
              <a:headEnd len="sm" w="sm" type="none"/>
              <a:tailEnd len="sm" w="sm" type="none"/>
            </a:ln>
          </p:spPr>
        </p:cxnSp>
        <p:cxnSp>
          <p:nvCxnSpPr>
            <p:cNvPr id="169" name="Google Shape;169;p28"/>
            <p:cNvCxnSpPr>
              <a:stCxn id="166" idx="4"/>
              <a:endCxn id="164" idx="0"/>
            </p:cNvCxnSpPr>
            <p:nvPr/>
          </p:nvCxnSpPr>
          <p:spPr>
            <a:xfrm rot="5400000">
              <a:off x="2257740" y="3196140"/>
              <a:ext cx="807000" cy="15600"/>
            </a:xfrm>
            <a:prstGeom prst="bentConnector3">
              <a:avLst>
                <a:gd fmla="val 50000" name="adj1"/>
              </a:avLst>
            </a:prstGeom>
            <a:noFill/>
            <a:ln cap="flat" cmpd="sng" w="9525">
              <a:solidFill>
                <a:srgbClr val="3465A4"/>
              </a:solidFill>
              <a:prstDash val="solid"/>
              <a:round/>
              <a:headEnd len="sm" w="sm" type="none"/>
              <a:tailEnd len="sm" w="sm" type="none"/>
            </a:ln>
          </p:spPr>
        </p:cxnSp>
        <p:cxnSp>
          <p:nvCxnSpPr>
            <p:cNvPr id="170" name="Google Shape;170;p28"/>
            <p:cNvCxnSpPr>
              <a:stCxn id="164" idx="3"/>
              <a:endCxn id="165" idx="4"/>
            </p:cNvCxnSpPr>
            <p:nvPr/>
          </p:nvCxnSpPr>
          <p:spPr>
            <a:xfrm flipH="1" rot="10800000">
              <a:off x="3397320" y="2800380"/>
              <a:ext cx="945000" cy="1055400"/>
            </a:xfrm>
            <a:prstGeom prst="bentConnector3">
              <a:avLst>
                <a:gd fmla="val 50000" name="adj1"/>
              </a:avLst>
            </a:prstGeom>
            <a:noFill/>
            <a:ln cap="flat" cmpd="sng" w="9525">
              <a:solidFill>
                <a:srgbClr val="3465A4"/>
              </a:solidFill>
              <a:prstDash val="solid"/>
              <a:round/>
              <a:headEnd len="sm" w="sm" type="none"/>
              <a:tailEnd len="sm" w="sm" type="none"/>
            </a:ln>
          </p:spPr>
        </p:cxnSp>
      </p:grpSp>
      <p:grpSp>
        <p:nvGrpSpPr>
          <p:cNvPr id="171" name="Google Shape;171;p28"/>
          <p:cNvGrpSpPr/>
          <p:nvPr/>
        </p:nvGrpSpPr>
        <p:grpSpPr>
          <a:xfrm>
            <a:off x="5616000" y="2664000"/>
            <a:ext cx="3528000" cy="2232000"/>
            <a:chOff x="5616000" y="2664000"/>
            <a:chExt cx="3528000" cy="2232000"/>
          </a:xfrm>
        </p:grpSpPr>
        <p:sp>
          <p:nvSpPr>
            <p:cNvPr id="172" name="Google Shape;172;p28"/>
            <p:cNvSpPr/>
            <p:nvPr/>
          </p:nvSpPr>
          <p:spPr>
            <a:xfrm>
              <a:off x="5616000" y="3511080"/>
              <a:ext cx="1407240" cy="466560"/>
            </a:xfrm>
            <a:prstGeom prst="rect">
              <a:avLst/>
            </a:prstGeom>
            <a:solidFill>
              <a:srgbClr val="DEE6EF"/>
            </a:solidFill>
            <a:ln cap="flat" cmpd="sng" w="9525">
              <a:solidFill>
                <a:srgbClr val="3465A4"/>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spcBef>
                  <a:spcPts val="0"/>
                </a:spcBef>
                <a:spcAft>
                  <a:spcPts val="0"/>
                </a:spcAft>
                <a:buNone/>
              </a:pPr>
              <a:r>
                <a:rPr b="0" lang="es-ES" sz="1800" strike="noStrike">
                  <a:latin typeface="Arial"/>
                  <a:ea typeface="Arial"/>
                  <a:cs typeface="Arial"/>
                  <a:sym typeface="Arial"/>
                </a:rPr>
                <a:t>Empleado</a:t>
              </a:r>
              <a:endParaRPr b="0" sz="1800" strike="noStrike">
                <a:latin typeface="Arial"/>
                <a:ea typeface="Arial"/>
                <a:cs typeface="Arial"/>
                <a:sym typeface="Arial"/>
              </a:endParaRPr>
            </a:p>
          </p:txBody>
        </p:sp>
        <p:sp>
          <p:nvSpPr>
            <p:cNvPr id="173" name="Google Shape;173;p28"/>
            <p:cNvSpPr/>
            <p:nvPr/>
          </p:nvSpPr>
          <p:spPr>
            <a:xfrm>
              <a:off x="7579800" y="2664000"/>
              <a:ext cx="352080" cy="350280"/>
            </a:xfrm>
            <a:prstGeom prst="ellipse">
              <a:avLst/>
            </a:prstGeom>
            <a:solidFill>
              <a:srgbClr val="DEE6EF"/>
            </a:solidFill>
            <a:ln cap="flat" cmpd="sng" w="9525">
              <a:solidFill>
                <a:srgbClr val="3465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28"/>
            <p:cNvSpPr/>
            <p:nvPr/>
          </p:nvSpPr>
          <p:spPr>
            <a:xfrm>
              <a:off x="7579800" y="4387320"/>
              <a:ext cx="352080" cy="350640"/>
            </a:xfrm>
            <a:prstGeom prst="ellipse">
              <a:avLst/>
            </a:prstGeom>
            <a:solidFill>
              <a:srgbClr val="DEE6EF"/>
            </a:solidFill>
            <a:ln cap="flat" cmpd="sng" w="9525">
              <a:solidFill>
                <a:srgbClr val="3465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28"/>
            <p:cNvSpPr/>
            <p:nvPr/>
          </p:nvSpPr>
          <p:spPr>
            <a:xfrm>
              <a:off x="7579800" y="3569400"/>
              <a:ext cx="352080" cy="350280"/>
            </a:xfrm>
            <a:prstGeom prst="ellipse">
              <a:avLst/>
            </a:prstGeom>
            <a:solidFill>
              <a:srgbClr val="DEE6EF"/>
            </a:solidFill>
            <a:ln cap="flat" cmpd="sng" w="9525">
              <a:solidFill>
                <a:srgbClr val="3465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76" name="Google Shape;176;p28"/>
            <p:cNvCxnSpPr>
              <a:stCxn id="172" idx="3"/>
              <a:endCxn id="173" idx="2"/>
            </p:cNvCxnSpPr>
            <p:nvPr/>
          </p:nvCxnSpPr>
          <p:spPr>
            <a:xfrm flipH="1" rot="10800000">
              <a:off x="7023240" y="2839260"/>
              <a:ext cx="556500" cy="905100"/>
            </a:xfrm>
            <a:prstGeom prst="bentConnector3">
              <a:avLst>
                <a:gd fmla="val 50000" name="adj1"/>
              </a:avLst>
            </a:prstGeom>
            <a:noFill/>
            <a:ln cap="flat" cmpd="sng" w="9525">
              <a:solidFill>
                <a:srgbClr val="3465A4"/>
              </a:solidFill>
              <a:prstDash val="solid"/>
              <a:round/>
              <a:headEnd len="sm" w="sm" type="none"/>
              <a:tailEnd len="sm" w="sm" type="none"/>
            </a:ln>
          </p:spPr>
        </p:cxnSp>
        <p:cxnSp>
          <p:nvCxnSpPr>
            <p:cNvPr id="177" name="Google Shape;177;p28"/>
            <p:cNvCxnSpPr>
              <a:stCxn id="172" idx="3"/>
              <a:endCxn id="174" idx="2"/>
            </p:cNvCxnSpPr>
            <p:nvPr/>
          </p:nvCxnSpPr>
          <p:spPr>
            <a:xfrm>
              <a:off x="7023240" y="3744360"/>
              <a:ext cx="556500" cy="818400"/>
            </a:xfrm>
            <a:prstGeom prst="bentConnector3">
              <a:avLst>
                <a:gd fmla="val 50000" name="adj1"/>
              </a:avLst>
            </a:prstGeom>
            <a:noFill/>
            <a:ln cap="flat" cmpd="sng" w="9525">
              <a:solidFill>
                <a:srgbClr val="3465A4"/>
              </a:solidFill>
              <a:prstDash val="solid"/>
              <a:round/>
              <a:headEnd len="sm" w="sm" type="none"/>
              <a:tailEnd len="sm" w="sm" type="none"/>
            </a:ln>
          </p:spPr>
        </p:cxnSp>
        <p:cxnSp>
          <p:nvCxnSpPr>
            <p:cNvPr id="178" name="Google Shape;178;p28"/>
            <p:cNvCxnSpPr>
              <a:stCxn id="172" idx="3"/>
              <a:endCxn id="175" idx="2"/>
            </p:cNvCxnSpPr>
            <p:nvPr/>
          </p:nvCxnSpPr>
          <p:spPr>
            <a:xfrm>
              <a:off x="7023240" y="3744360"/>
              <a:ext cx="556500" cy="600"/>
            </a:xfrm>
            <a:prstGeom prst="bentConnector3">
              <a:avLst>
                <a:gd fmla="val 50000" name="adj1"/>
              </a:avLst>
            </a:prstGeom>
            <a:noFill/>
            <a:ln cap="flat" cmpd="sng" w="9525">
              <a:solidFill>
                <a:srgbClr val="3465A4"/>
              </a:solidFill>
              <a:prstDash val="solid"/>
              <a:round/>
              <a:headEnd len="sm" w="sm" type="none"/>
              <a:tailEnd len="sm" w="sm" type="none"/>
            </a:ln>
          </p:spPr>
        </p:cxnSp>
        <p:sp>
          <p:nvSpPr>
            <p:cNvPr id="179" name="Google Shape;179;p28"/>
            <p:cNvSpPr txBox="1"/>
            <p:nvPr/>
          </p:nvSpPr>
          <p:spPr>
            <a:xfrm>
              <a:off x="8078400" y="2809800"/>
              <a:ext cx="1002600" cy="30132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0" lang="es-ES" sz="1400" strike="noStrike">
                  <a:latin typeface="Arial"/>
                  <a:ea typeface="Arial"/>
                  <a:cs typeface="Arial"/>
                  <a:sym typeface="Arial"/>
                </a:rPr>
                <a:t>Nombre</a:t>
              </a:r>
              <a:endParaRPr b="0" sz="1400" strike="noStrike">
                <a:latin typeface="Arial"/>
                <a:ea typeface="Arial"/>
                <a:cs typeface="Arial"/>
                <a:sym typeface="Arial"/>
              </a:endParaRPr>
            </a:p>
          </p:txBody>
        </p:sp>
        <p:sp>
          <p:nvSpPr>
            <p:cNvPr id="180" name="Google Shape;180;p28"/>
            <p:cNvSpPr txBox="1"/>
            <p:nvPr/>
          </p:nvSpPr>
          <p:spPr>
            <a:xfrm>
              <a:off x="8078400" y="4387320"/>
              <a:ext cx="1065600" cy="50868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0" lang="es-ES" sz="1400" strike="noStrike">
                  <a:latin typeface="Arial"/>
                  <a:ea typeface="Arial"/>
                  <a:cs typeface="Arial"/>
                  <a:sym typeface="Arial"/>
                </a:rPr>
                <a:t>Fecha_nac</a:t>
              </a:r>
              <a:endParaRPr b="0" sz="1400" strike="noStrike">
                <a:latin typeface="Arial"/>
                <a:ea typeface="Arial"/>
                <a:cs typeface="Arial"/>
                <a:sym typeface="Arial"/>
              </a:endParaRPr>
            </a:p>
          </p:txBody>
        </p:sp>
        <p:sp>
          <p:nvSpPr>
            <p:cNvPr id="181" name="Google Shape;181;p28"/>
            <p:cNvSpPr txBox="1"/>
            <p:nvPr/>
          </p:nvSpPr>
          <p:spPr>
            <a:xfrm>
              <a:off x="8078400" y="3627720"/>
              <a:ext cx="939600" cy="30132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0" lang="es-ES" sz="1400" strike="noStrike">
                  <a:latin typeface="Arial"/>
                  <a:ea typeface="Arial"/>
                  <a:cs typeface="Arial"/>
                  <a:sym typeface="Arial"/>
                </a:rPr>
                <a:t>Dni</a:t>
              </a:r>
              <a:endParaRPr b="0" sz="1400" strike="noStrike">
                <a:latin typeface="Arial"/>
                <a:ea typeface="Arial"/>
                <a:cs typeface="Arial"/>
                <a:sym typeface="Arial"/>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E994"/>
        </a:solidFill>
      </p:bgPr>
    </p:bg>
    <p:spTree>
      <p:nvGrpSpPr>
        <p:cNvPr id="185" name="Shape 185"/>
        <p:cNvGrpSpPr/>
        <p:nvPr/>
      </p:nvGrpSpPr>
      <p:grpSpPr>
        <a:xfrm>
          <a:off x="0" y="0"/>
          <a:ext cx="0" cy="0"/>
          <a:chOff x="0" y="0"/>
          <a:chExt cx="0" cy="0"/>
        </a:xfrm>
      </p:grpSpPr>
      <p:sp>
        <p:nvSpPr>
          <p:cNvPr id="186" name="Google Shape;186;p29"/>
          <p:cNvSpPr txBox="1"/>
          <p:nvPr/>
        </p:nvSpPr>
        <p:spPr>
          <a:xfrm>
            <a:off x="432000" y="360720"/>
            <a:ext cx="9216000" cy="57528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s-ES" sz="2400" strike="noStrike">
                <a:latin typeface="Arial"/>
                <a:ea typeface="Arial"/>
                <a:cs typeface="Arial"/>
                <a:sym typeface="Arial"/>
              </a:rPr>
              <a:t>Ejercicio</a:t>
            </a:r>
            <a:endParaRPr b="0" sz="2400" strike="noStrike">
              <a:latin typeface="Arial"/>
              <a:ea typeface="Arial"/>
              <a:cs typeface="Arial"/>
              <a:sym typeface="Arial"/>
            </a:endParaRPr>
          </a:p>
        </p:txBody>
      </p:sp>
      <p:sp>
        <p:nvSpPr>
          <p:cNvPr id="187" name="Google Shape;187;p29"/>
          <p:cNvSpPr txBox="1"/>
          <p:nvPr/>
        </p:nvSpPr>
        <p:spPr>
          <a:xfrm>
            <a:off x="761760" y="2533680"/>
            <a:ext cx="8556480" cy="60264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0" lang="es-ES" sz="1800" strike="noStrike">
                <a:latin typeface="Arial"/>
                <a:ea typeface="Arial"/>
                <a:cs typeface="Arial"/>
                <a:sym typeface="Arial"/>
              </a:rPr>
              <a:t>Elaborar una lista de posibles entidades de una aplicación de gestión de la caja re-</a:t>
            </a:r>
            <a:endParaRPr b="0" sz="1800" strike="noStrike">
              <a:latin typeface="Arial"/>
              <a:ea typeface="Arial"/>
              <a:cs typeface="Arial"/>
              <a:sym typeface="Arial"/>
            </a:endParaRPr>
          </a:p>
          <a:p>
            <a:pPr indent="0" lvl="0" marL="0" marR="0" rtl="0" algn="l">
              <a:spcBef>
                <a:spcPts val="0"/>
              </a:spcBef>
              <a:spcAft>
                <a:spcPts val="0"/>
              </a:spcAft>
              <a:buNone/>
            </a:pPr>
            <a:r>
              <a:rPr b="0" lang="es-ES" sz="1800" strike="noStrike">
                <a:latin typeface="Arial"/>
                <a:ea typeface="Arial"/>
                <a:cs typeface="Arial"/>
                <a:sym typeface="Arial"/>
              </a:rPr>
              <a:t>gistradora de un bar.</a:t>
            </a:r>
            <a:endParaRPr b="0" sz="1800" strike="noStrike">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0"/>
          <p:cNvSpPr txBox="1"/>
          <p:nvPr/>
        </p:nvSpPr>
        <p:spPr>
          <a:xfrm>
            <a:off x="432000" y="360720"/>
            <a:ext cx="9216000" cy="575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1" lang="es-ES" sz="2400" strike="noStrike">
                <a:latin typeface="Arial"/>
                <a:ea typeface="Arial"/>
                <a:cs typeface="Arial"/>
                <a:sym typeface="Arial"/>
              </a:rPr>
              <a:t>Concepto de modelos de datos</a:t>
            </a:r>
            <a:endParaRPr b="0" sz="2400" strike="noStrike">
              <a:latin typeface="Arial"/>
              <a:ea typeface="Arial"/>
              <a:cs typeface="Arial"/>
              <a:sym typeface="Arial"/>
            </a:endParaRPr>
          </a:p>
        </p:txBody>
      </p:sp>
      <p:sp>
        <p:nvSpPr>
          <p:cNvPr id="193" name="Google Shape;193;p30"/>
          <p:cNvSpPr txBox="1"/>
          <p:nvPr/>
        </p:nvSpPr>
        <p:spPr>
          <a:xfrm>
            <a:off x="1008000" y="1512000"/>
            <a:ext cx="8318880" cy="162612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s-ES" sz="1800" strike="noStrike">
                <a:latin typeface="Arial"/>
                <a:ea typeface="Arial"/>
                <a:cs typeface="Arial"/>
                <a:sym typeface="Arial"/>
              </a:rPr>
              <a:t>Relación</a:t>
            </a:r>
            <a:endParaRPr b="0" sz="1800" strike="noStrike">
              <a:latin typeface="Arial"/>
              <a:ea typeface="Arial"/>
              <a:cs typeface="Arial"/>
              <a:sym typeface="Arial"/>
            </a:endParaRPr>
          </a:p>
          <a:p>
            <a:pPr indent="0" lvl="0" marL="0" marR="0" rtl="0" algn="l">
              <a:spcBef>
                <a:spcPts val="0"/>
              </a:spcBef>
              <a:spcAft>
                <a:spcPts val="0"/>
              </a:spcAft>
              <a:buNone/>
            </a:pPr>
            <a:r>
              <a:t/>
            </a:r>
            <a:endParaRPr b="0" sz="1800" strike="noStrike">
              <a:latin typeface="Arial"/>
              <a:ea typeface="Arial"/>
              <a:cs typeface="Arial"/>
              <a:sym typeface="Arial"/>
            </a:endParaRPr>
          </a:p>
          <a:p>
            <a:pPr indent="0" lvl="0" marL="0" marR="0" rtl="0" algn="l">
              <a:spcBef>
                <a:spcPts val="0"/>
              </a:spcBef>
              <a:spcAft>
                <a:spcPts val="0"/>
              </a:spcAft>
              <a:buNone/>
            </a:pPr>
            <a:r>
              <a:rPr b="0" lang="es-ES" sz="1800" strike="noStrike">
                <a:latin typeface="Arial"/>
                <a:ea typeface="Arial"/>
                <a:cs typeface="Arial"/>
                <a:sym typeface="Arial"/>
              </a:rPr>
              <a:t>Una relación es una asociación o vínculo entre ocurrencias de varias entidades. </a:t>
            </a:r>
            <a:endParaRPr b="0" sz="1800" strike="noStrike">
              <a:latin typeface="Arial"/>
              <a:ea typeface="Arial"/>
              <a:cs typeface="Arial"/>
              <a:sym typeface="Arial"/>
            </a:endParaRPr>
          </a:p>
          <a:p>
            <a:pPr indent="0" lvl="0" marL="0" marR="0" rtl="0" algn="l">
              <a:spcBef>
                <a:spcPts val="0"/>
              </a:spcBef>
              <a:spcAft>
                <a:spcPts val="0"/>
              </a:spcAft>
              <a:buNone/>
            </a:pPr>
            <a:r>
              <a:rPr b="0" lang="es-ES" sz="1800" strike="noStrike">
                <a:latin typeface="Arial"/>
                <a:ea typeface="Arial"/>
                <a:cs typeface="Arial"/>
                <a:sym typeface="Arial"/>
              </a:rPr>
              <a:t>Se nombran con expresiones verbales.</a:t>
            </a:r>
            <a:endParaRPr b="0" sz="1800" strike="noStrike">
              <a:latin typeface="Arial"/>
              <a:ea typeface="Arial"/>
              <a:cs typeface="Arial"/>
              <a:sym typeface="Arial"/>
            </a:endParaRPr>
          </a:p>
          <a:p>
            <a:pPr indent="0" lvl="0" marL="0" marR="0" rtl="0" algn="l">
              <a:spcBef>
                <a:spcPts val="0"/>
              </a:spcBef>
              <a:spcAft>
                <a:spcPts val="0"/>
              </a:spcAft>
              <a:buNone/>
            </a:pPr>
            <a:r>
              <a:t/>
            </a:r>
            <a:endParaRPr b="0" sz="1800" strike="noStrike">
              <a:latin typeface="Arial"/>
              <a:ea typeface="Arial"/>
              <a:cs typeface="Arial"/>
              <a:sym typeface="Arial"/>
            </a:endParaRPr>
          </a:p>
          <a:p>
            <a:pPr indent="0" lvl="0" marL="0" marR="0" rtl="0" algn="l">
              <a:spcBef>
                <a:spcPts val="0"/>
              </a:spcBef>
              <a:spcAft>
                <a:spcPts val="0"/>
              </a:spcAft>
              <a:buNone/>
            </a:pPr>
            <a:r>
              <a:rPr b="0" lang="es-ES" sz="1800" strike="noStrike">
                <a:latin typeface="Arial"/>
                <a:ea typeface="Arial"/>
                <a:cs typeface="Arial"/>
                <a:sym typeface="Arial"/>
              </a:rPr>
              <a:t>Por ejemplo: “Un empleado realiza una factura”</a:t>
            </a:r>
            <a:endParaRPr b="0" sz="1800" strike="noStrike">
              <a:latin typeface="Arial"/>
              <a:ea typeface="Arial"/>
              <a:cs typeface="Arial"/>
              <a:sym typeface="Arial"/>
            </a:endParaRPr>
          </a:p>
        </p:txBody>
      </p:sp>
      <p:grpSp>
        <p:nvGrpSpPr>
          <p:cNvPr id="194" name="Google Shape;194;p30"/>
          <p:cNvGrpSpPr/>
          <p:nvPr/>
        </p:nvGrpSpPr>
        <p:grpSpPr>
          <a:xfrm>
            <a:off x="1152000" y="3960000"/>
            <a:ext cx="7272000" cy="720000"/>
            <a:chOff x="1152000" y="3960000"/>
            <a:chExt cx="7272000" cy="720000"/>
          </a:xfrm>
        </p:grpSpPr>
        <p:sp>
          <p:nvSpPr>
            <p:cNvPr id="195" name="Google Shape;195;p30"/>
            <p:cNvSpPr/>
            <p:nvPr/>
          </p:nvSpPr>
          <p:spPr>
            <a:xfrm>
              <a:off x="3744000" y="3960000"/>
              <a:ext cx="2232000" cy="720000"/>
            </a:xfrm>
            <a:custGeom>
              <a:rect b="b" l="l" r="r" t="t"/>
              <a:pathLst>
                <a:path extrusionOk="0" h="21600" w="21600">
                  <a:moveTo>
                    <a:pt x="10800" y="0"/>
                  </a:moveTo>
                  <a:lnTo>
                    <a:pt x="21600" y="10800"/>
                  </a:lnTo>
                  <a:lnTo>
                    <a:pt x="10800" y="21600"/>
                  </a:lnTo>
                  <a:lnTo>
                    <a:pt x="0" y="10800"/>
                  </a:lnTo>
                  <a:lnTo>
                    <a:pt x="10800" y="0"/>
                  </a:lnTo>
                  <a:close/>
                </a:path>
              </a:pathLst>
            </a:custGeom>
            <a:solidFill>
              <a:srgbClr val="DEE6EF"/>
            </a:solidFill>
            <a:ln cap="flat" cmpd="sng" w="9525">
              <a:solidFill>
                <a:srgbClr val="3465A4"/>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spcBef>
                  <a:spcPts val="0"/>
                </a:spcBef>
                <a:spcAft>
                  <a:spcPts val="0"/>
                </a:spcAft>
                <a:buNone/>
              </a:pPr>
              <a:r>
                <a:rPr b="0" lang="es-ES" sz="1800" strike="noStrike">
                  <a:latin typeface="Arial"/>
                  <a:ea typeface="Arial"/>
                  <a:cs typeface="Arial"/>
                  <a:sym typeface="Arial"/>
                </a:rPr>
                <a:t>Realiza</a:t>
              </a:r>
              <a:endParaRPr b="0" sz="1800" strike="noStrike">
                <a:latin typeface="Arial"/>
                <a:ea typeface="Arial"/>
                <a:cs typeface="Arial"/>
                <a:sym typeface="Arial"/>
              </a:endParaRPr>
            </a:p>
          </p:txBody>
        </p:sp>
        <p:sp>
          <p:nvSpPr>
            <p:cNvPr id="196" name="Google Shape;196;p30"/>
            <p:cNvSpPr/>
            <p:nvPr/>
          </p:nvSpPr>
          <p:spPr>
            <a:xfrm>
              <a:off x="6912000" y="4108680"/>
              <a:ext cx="1512000" cy="432000"/>
            </a:xfrm>
            <a:prstGeom prst="rect">
              <a:avLst/>
            </a:prstGeom>
            <a:solidFill>
              <a:srgbClr val="DEE6EF"/>
            </a:solidFill>
            <a:ln cap="flat" cmpd="sng" w="9525">
              <a:solidFill>
                <a:srgbClr val="3465A4"/>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spcBef>
                  <a:spcPts val="0"/>
                </a:spcBef>
                <a:spcAft>
                  <a:spcPts val="0"/>
                </a:spcAft>
                <a:buNone/>
              </a:pPr>
              <a:r>
                <a:rPr b="0" lang="es-ES" sz="1800" strike="noStrike">
                  <a:latin typeface="Arial"/>
                  <a:ea typeface="Arial"/>
                  <a:cs typeface="Arial"/>
                  <a:sym typeface="Arial"/>
                </a:rPr>
                <a:t>Factura</a:t>
              </a:r>
              <a:endParaRPr b="0" sz="1800" strike="noStrike">
                <a:latin typeface="Arial"/>
                <a:ea typeface="Arial"/>
                <a:cs typeface="Arial"/>
                <a:sym typeface="Arial"/>
              </a:endParaRPr>
            </a:p>
          </p:txBody>
        </p:sp>
        <p:sp>
          <p:nvSpPr>
            <p:cNvPr id="197" name="Google Shape;197;p30"/>
            <p:cNvSpPr/>
            <p:nvPr/>
          </p:nvSpPr>
          <p:spPr>
            <a:xfrm>
              <a:off x="1152000" y="4108680"/>
              <a:ext cx="1512000" cy="432000"/>
            </a:xfrm>
            <a:prstGeom prst="rect">
              <a:avLst/>
            </a:prstGeom>
            <a:solidFill>
              <a:srgbClr val="DEE6EF"/>
            </a:solidFill>
            <a:ln cap="flat" cmpd="sng" w="9525">
              <a:solidFill>
                <a:srgbClr val="3465A4"/>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spcBef>
                  <a:spcPts val="0"/>
                </a:spcBef>
                <a:spcAft>
                  <a:spcPts val="0"/>
                </a:spcAft>
                <a:buNone/>
              </a:pPr>
              <a:r>
                <a:rPr b="0" lang="es-ES" sz="1800" strike="noStrike">
                  <a:latin typeface="Arial"/>
                  <a:ea typeface="Arial"/>
                  <a:cs typeface="Arial"/>
                  <a:sym typeface="Arial"/>
                </a:rPr>
                <a:t>Empleado</a:t>
              </a:r>
              <a:endParaRPr b="0" sz="1800" strike="noStrike">
                <a:latin typeface="Arial"/>
                <a:ea typeface="Arial"/>
                <a:cs typeface="Arial"/>
                <a:sym typeface="Arial"/>
              </a:endParaRPr>
            </a:p>
          </p:txBody>
        </p:sp>
        <p:cxnSp>
          <p:nvCxnSpPr>
            <p:cNvPr id="198" name="Google Shape;198;p30"/>
            <p:cNvCxnSpPr>
              <a:stCxn id="197" idx="3"/>
              <a:endCxn id="195" idx="1"/>
            </p:cNvCxnSpPr>
            <p:nvPr/>
          </p:nvCxnSpPr>
          <p:spPr>
            <a:xfrm flipH="1" rot="10800000">
              <a:off x="2664000" y="4319580"/>
              <a:ext cx="1080300" cy="5100"/>
            </a:xfrm>
            <a:prstGeom prst="bentConnector3">
              <a:avLst>
                <a:gd fmla="val 50000" name="adj1"/>
              </a:avLst>
            </a:prstGeom>
            <a:noFill/>
            <a:ln cap="flat" cmpd="sng" w="9525">
              <a:solidFill>
                <a:srgbClr val="3465A4"/>
              </a:solidFill>
              <a:prstDash val="solid"/>
              <a:round/>
              <a:headEnd len="sm" w="sm" type="none"/>
              <a:tailEnd len="sm" w="sm" type="none"/>
            </a:ln>
          </p:spPr>
        </p:cxnSp>
        <p:cxnSp>
          <p:nvCxnSpPr>
            <p:cNvPr id="199" name="Google Shape;199;p30"/>
            <p:cNvCxnSpPr>
              <a:stCxn id="195" idx="3"/>
              <a:endCxn id="196" idx="1"/>
            </p:cNvCxnSpPr>
            <p:nvPr/>
          </p:nvCxnSpPr>
          <p:spPr>
            <a:xfrm>
              <a:off x="5975700" y="4319580"/>
              <a:ext cx="936300" cy="5100"/>
            </a:xfrm>
            <a:prstGeom prst="bentConnector3">
              <a:avLst>
                <a:gd fmla="val 50000" name="adj1"/>
              </a:avLst>
            </a:prstGeom>
            <a:noFill/>
            <a:ln cap="flat" cmpd="sng" w="9525">
              <a:solidFill>
                <a:srgbClr val="3465A4"/>
              </a:solidFill>
              <a:prstDash val="solid"/>
              <a:round/>
              <a:headEnd len="sm" w="sm" type="none"/>
              <a:tailEnd len="sm" w="sm" type="none"/>
            </a:ln>
          </p:spPr>
        </p:cxn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1"/>
          <p:cNvSpPr txBox="1"/>
          <p:nvPr/>
        </p:nvSpPr>
        <p:spPr>
          <a:xfrm>
            <a:off x="432000" y="360720"/>
            <a:ext cx="9216000" cy="575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1" lang="es-ES" sz="2400" strike="noStrike">
                <a:latin typeface="Arial"/>
                <a:ea typeface="Arial"/>
                <a:cs typeface="Arial"/>
                <a:sym typeface="Arial"/>
              </a:rPr>
              <a:t>Concepto de modelos de datos</a:t>
            </a:r>
            <a:endParaRPr b="0" sz="2400" strike="noStrike">
              <a:latin typeface="Arial"/>
              <a:ea typeface="Arial"/>
              <a:cs typeface="Arial"/>
              <a:sym typeface="Arial"/>
            </a:endParaRPr>
          </a:p>
        </p:txBody>
      </p:sp>
      <p:sp>
        <p:nvSpPr>
          <p:cNvPr id="205" name="Google Shape;205;p31"/>
          <p:cNvSpPr txBox="1"/>
          <p:nvPr/>
        </p:nvSpPr>
        <p:spPr>
          <a:xfrm>
            <a:off x="1008000" y="1512000"/>
            <a:ext cx="8318880" cy="4320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s-ES" sz="1800" strike="noStrike">
                <a:latin typeface="Arial"/>
                <a:ea typeface="Arial"/>
                <a:cs typeface="Arial"/>
                <a:sym typeface="Arial"/>
              </a:rPr>
              <a:t>Relación de muchos a muchos</a:t>
            </a:r>
            <a:endParaRPr b="0" sz="1800" strike="noStrike">
              <a:latin typeface="Arial"/>
              <a:ea typeface="Arial"/>
              <a:cs typeface="Arial"/>
              <a:sym typeface="Arial"/>
            </a:endParaRPr>
          </a:p>
        </p:txBody>
      </p:sp>
      <p:pic>
        <p:nvPicPr>
          <p:cNvPr id="206" name="Google Shape;206;p31"/>
          <p:cNvPicPr preferRelativeResize="0"/>
          <p:nvPr/>
        </p:nvPicPr>
        <p:blipFill rotWithShape="1">
          <a:blip r:embed="rId3">
            <a:alphaModFix/>
          </a:blip>
          <a:srcRect b="0" l="0" r="0" t="0"/>
          <a:stretch/>
        </p:blipFill>
        <p:spPr>
          <a:xfrm>
            <a:off x="2520000" y="1872000"/>
            <a:ext cx="4752000" cy="317664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2"/>
          <p:cNvSpPr txBox="1"/>
          <p:nvPr/>
        </p:nvSpPr>
        <p:spPr>
          <a:xfrm>
            <a:off x="288000" y="145440"/>
            <a:ext cx="4700880" cy="43056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s-ES" sz="2400" strike="noStrike">
                <a:latin typeface="Arial"/>
                <a:ea typeface="Arial"/>
                <a:cs typeface="Arial"/>
                <a:sym typeface="Arial"/>
              </a:rPr>
              <a:t>Concepto de modelos de datos</a:t>
            </a:r>
            <a:endParaRPr b="0" sz="2400" strike="noStrike">
              <a:latin typeface="Arial"/>
              <a:ea typeface="Arial"/>
              <a:cs typeface="Arial"/>
              <a:sym typeface="Arial"/>
            </a:endParaRPr>
          </a:p>
        </p:txBody>
      </p:sp>
      <p:sp>
        <p:nvSpPr>
          <p:cNvPr id="212" name="Google Shape;212;p32"/>
          <p:cNvSpPr txBox="1"/>
          <p:nvPr/>
        </p:nvSpPr>
        <p:spPr>
          <a:xfrm>
            <a:off x="864000" y="1224000"/>
            <a:ext cx="6163920" cy="85824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0" lang="es-ES" sz="1800" strike="noStrike">
                <a:latin typeface="Arial"/>
                <a:ea typeface="Arial"/>
                <a:cs typeface="Arial"/>
                <a:sym typeface="Arial"/>
              </a:rPr>
              <a:t>Relaciones ternarias y N-arias</a:t>
            </a:r>
            <a:endParaRPr b="0" sz="1800" strike="noStrike">
              <a:latin typeface="Arial"/>
              <a:ea typeface="Arial"/>
              <a:cs typeface="Arial"/>
              <a:sym typeface="Arial"/>
            </a:endParaRPr>
          </a:p>
          <a:p>
            <a:pPr indent="0" lvl="0" marL="0" marR="0" rtl="0" algn="l">
              <a:spcBef>
                <a:spcPts val="0"/>
              </a:spcBef>
              <a:spcAft>
                <a:spcPts val="0"/>
              </a:spcAft>
              <a:buNone/>
            </a:pPr>
            <a:r>
              <a:t/>
            </a:r>
            <a:endParaRPr b="0" sz="1800" strike="noStrike">
              <a:latin typeface="Arial"/>
              <a:ea typeface="Arial"/>
              <a:cs typeface="Arial"/>
              <a:sym typeface="Arial"/>
            </a:endParaRPr>
          </a:p>
          <a:p>
            <a:pPr indent="0" lvl="0" marL="0" marR="0" rtl="0" algn="l">
              <a:spcBef>
                <a:spcPts val="0"/>
              </a:spcBef>
              <a:spcAft>
                <a:spcPts val="0"/>
              </a:spcAft>
              <a:buNone/>
            </a:pPr>
            <a:r>
              <a:rPr b="0" lang="es-ES" sz="1800" strike="noStrike">
                <a:latin typeface="Arial"/>
                <a:ea typeface="Arial"/>
                <a:cs typeface="Arial"/>
                <a:sym typeface="Arial"/>
              </a:rPr>
              <a:t>Son relaciones en las que intervienen tres o más entidades</a:t>
            </a:r>
            <a:endParaRPr b="0" sz="1800" strike="noStrike">
              <a:latin typeface="Arial"/>
              <a:ea typeface="Arial"/>
              <a:cs typeface="Arial"/>
              <a:sym typeface="Arial"/>
            </a:endParaRPr>
          </a:p>
        </p:txBody>
      </p:sp>
      <p:grpSp>
        <p:nvGrpSpPr>
          <p:cNvPr id="213" name="Google Shape;213;p32"/>
          <p:cNvGrpSpPr/>
          <p:nvPr/>
        </p:nvGrpSpPr>
        <p:grpSpPr>
          <a:xfrm>
            <a:off x="2700000" y="2592000"/>
            <a:ext cx="4680000" cy="2592000"/>
            <a:chOff x="2700000" y="2592000"/>
            <a:chExt cx="4680000" cy="2592000"/>
          </a:xfrm>
        </p:grpSpPr>
        <p:sp>
          <p:nvSpPr>
            <p:cNvPr id="214" name="Google Shape;214;p32"/>
            <p:cNvSpPr/>
            <p:nvPr/>
          </p:nvSpPr>
          <p:spPr>
            <a:xfrm>
              <a:off x="4428000" y="2592000"/>
              <a:ext cx="936000" cy="288000"/>
            </a:xfrm>
            <a:prstGeom prst="rect">
              <a:avLst/>
            </a:prstGeom>
            <a:solidFill>
              <a:srgbClr val="DEE6EF"/>
            </a:solidFill>
            <a:ln cap="flat" cmpd="sng" w="9525">
              <a:solidFill>
                <a:srgbClr val="3465A4"/>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spcBef>
                  <a:spcPts val="0"/>
                </a:spcBef>
                <a:spcAft>
                  <a:spcPts val="0"/>
                </a:spcAft>
                <a:buNone/>
              </a:pPr>
              <a:r>
                <a:rPr b="0" lang="es-ES" sz="1800" strike="noStrike">
                  <a:latin typeface="Arial"/>
                  <a:ea typeface="Arial"/>
                  <a:cs typeface="Arial"/>
                  <a:sym typeface="Arial"/>
                </a:rPr>
                <a:t>Profesor</a:t>
              </a:r>
              <a:endParaRPr b="0" sz="1800" strike="noStrike">
                <a:latin typeface="Arial"/>
                <a:ea typeface="Arial"/>
                <a:cs typeface="Arial"/>
                <a:sym typeface="Arial"/>
              </a:endParaRPr>
            </a:p>
          </p:txBody>
        </p:sp>
        <p:sp>
          <p:nvSpPr>
            <p:cNvPr id="215" name="Google Shape;215;p32"/>
            <p:cNvSpPr/>
            <p:nvPr/>
          </p:nvSpPr>
          <p:spPr>
            <a:xfrm>
              <a:off x="2700000" y="3744000"/>
              <a:ext cx="1080000" cy="288000"/>
            </a:xfrm>
            <a:prstGeom prst="rect">
              <a:avLst/>
            </a:prstGeom>
            <a:solidFill>
              <a:srgbClr val="DEE6EF"/>
            </a:solidFill>
            <a:ln cap="flat" cmpd="sng" w="9525">
              <a:solidFill>
                <a:srgbClr val="3465A4"/>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spcBef>
                  <a:spcPts val="0"/>
                </a:spcBef>
                <a:spcAft>
                  <a:spcPts val="0"/>
                </a:spcAft>
                <a:buNone/>
              </a:pPr>
              <a:r>
                <a:rPr b="0" lang="es-ES" sz="1800" strike="noStrike">
                  <a:latin typeface="Arial"/>
                  <a:ea typeface="Arial"/>
                  <a:cs typeface="Arial"/>
                  <a:sym typeface="Arial"/>
                </a:rPr>
                <a:t>Curso</a:t>
              </a:r>
              <a:endParaRPr b="0" sz="1800" strike="noStrike">
                <a:latin typeface="Arial"/>
                <a:ea typeface="Arial"/>
                <a:cs typeface="Arial"/>
                <a:sym typeface="Arial"/>
              </a:endParaRPr>
            </a:p>
          </p:txBody>
        </p:sp>
        <p:sp>
          <p:nvSpPr>
            <p:cNvPr id="216" name="Google Shape;216;p32"/>
            <p:cNvSpPr/>
            <p:nvPr/>
          </p:nvSpPr>
          <p:spPr>
            <a:xfrm>
              <a:off x="6300000" y="3744000"/>
              <a:ext cx="1080000" cy="288000"/>
            </a:xfrm>
            <a:prstGeom prst="rect">
              <a:avLst/>
            </a:prstGeom>
            <a:solidFill>
              <a:srgbClr val="DEE6EF"/>
            </a:solidFill>
            <a:ln cap="flat" cmpd="sng" w="9525">
              <a:solidFill>
                <a:srgbClr val="3465A4"/>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spcBef>
                  <a:spcPts val="0"/>
                </a:spcBef>
                <a:spcAft>
                  <a:spcPts val="0"/>
                </a:spcAft>
                <a:buNone/>
              </a:pPr>
              <a:r>
                <a:rPr b="0" lang="es-ES" sz="1800" strike="noStrike">
                  <a:latin typeface="Arial"/>
                  <a:ea typeface="Arial"/>
                  <a:cs typeface="Arial"/>
                  <a:sym typeface="Arial"/>
                </a:rPr>
                <a:t>Materia</a:t>
              </a:r>
              <a:endParaRPr b="0" sz="1800" strike="noStrike">
                <a:latin typeface="Arial"/>
                <a:ea typeface="Arial"/>
                <a:cs typeface="Arial"/>
                <a:sym typeface="Arial"/>
              </a:endParaRPr>
            </a:p>
          </p:txBody>
        </p:sp>
        <p:sp>
          <p:nvSpPr>
            <p:cNvPr id="217" name="Google Shape;217;p32"/>
            <p:cNvSpPr/>
            <p:nvPr/>
          </p:nvSpPr>
          <p:spPr>
            <a:xfrm>
              <a:off x="4356000" y="4896000"/>
              <a:ext cx="1080000" cy="288000"/>
            </a:xfrm>
            <a:prstGeom prst="rect">
              <a:avLst/>
            </a:prstGeom>
            <a:solidFill>
              <a:srgbClr val="DEE6EF"/>
            </a:solidFill>
            <a:ln cap="flat" cmpd="sng" w="9525">
              <a:solidFill>
                <a:srgbClr val="3465A4"/>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spcBef>
                  <a:spcPts val="0"/>
                </a:spcBef>
                <a:spcAft>
                  <a:spcPts val="0"/>
                </a:spcAft>
                <a:buNone/>
              </a:pPr>
              <a:r>
                <a:rPr b="0" lang="es-ES" sz="1800" strike="noStrike">
                  <a:latin typeface="Arial"/>
                  <a:ea typeface="Arial"/>
                  <a:cs typeface="Arial"/>
                  <a:sym typeface="Arial"/>
                </a:rPr>
                <a:t>Aula</a:t>
              </a:r>
              <a:endParaRPr b="0" sz="1800" strike="noStrike">
                <a:latin typeface="Arial"/>
                <a:ea typeface="Arial"/>
                <a:cs typeface="Arial"/>
                <a:sym typeface="Arial"/>
              </a:endParaRPr>
            </a:p>
          </p:txBody>
        </p:sp>
        <p:sp>
          <p:nvSpPr>
            <p:cNvPr id="218" name="Google Shape;218;p32"/>
            <p:cNvSpPr/>
            <p:nvPr/>
          </p:nvSpPr>
          <p:spPr>
            <a:xfrm>
              <a:off x="4284000" y="3528000"/>
              <a:ext cx="1224000" cy="792000"/>
            </a:xfrm>
            <a:custGeom>
              <a:rect b="b" l="l" r="r" t="t"/>
              <a:pathLst>
                <a:path extrusionOk="0" h="21600" w="21600">
                  <a:moveTo>
                    <a:pt x="10800" y="0"/>
                  </a:moveTo>
                  <a:lnTo>
                    <a:pt x="21600" y="10800"/>
                  </a:lnTo>
                  <a:lnTo>
                    <a:pt x="10800" y="21600"/>
                  </a:lnTo>
                  <a:lnTo>
                    <a:pt x="0" y="10800"/>
                  </a:lnTo>
                  <a:lnTo>
                    <a:pt x="10800" y="0"/>
                  </a:lnTo>
                  <a:close/>
                </a:path>
              </a:pathLst>
            </a:custGeom>
            <a:solidFill>
              <a:srgbClr val="DEE6EF"/>
            </a:solidFill>
            <a:ln cap="flat" cmpd="sng" w="9525">
              <a:solidFill>
                <a:srgbClr val="3465A4"/>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spcBef>
                  <a:spcPts val="0"/>
                </a:spcBef>
                <a:spcAft>
                  <a:spcPts val="0"/>
                </a:spcAft>
                <a:buNone/>
              </a:pPr>
              <a:r>
                <a:rPr b="0" lang="es-ES" sz="1800" strike="noStrike">
                  <a:latin typeface="Arial"/>
                  <a:ea typeface="Arial"/>
                  <a:cs typeface="Arial"/>
                  <a:sym typeface="Arial"/>
                </a:rPr>
                <a:t>Imparte</a:t>
              </a:r>
              <a:endParaRPr b="0" sz="1800" strike="noStrike">
                <a:latin typeface="Arial"/>
                <a:ea typeface="Arial"/>
                <a:cs typeface="Arial"/>
                <a:sym typeface="Arial"/>
              </a:endParaRPr>
            </a:p>
          </p:txBody>
        </p:sp>
        <p:cxnSp>
          <p:nvCxnSpPr>
            <p:cNvPr id="219" name="Google Shape;219;p32"/>
            <p:cNvCxnSpPr>
              <a:stCxn id="214" idx="2"/>
              <a:endCxn id="218" idx="0"/>
            </p:cNvCxnSpPr>
            <p:nvPr/>
          </p:nvCxnSpPr>
          <p:spPr>
            <a:xfrm flipH="1" rot="-5400000">
              <a:off x="4572150" y="3203850"/>
              <a:ext cx="648300" cy="600"/>
            </a:xfrm>
            <a:prstGeom prst="bentConnector3">
              <a:avLst>
                <a:gd fmla="val 50000" name="adj1"/>
              </a:avLst>
            </a:prstGeom>
            <a:noFill/>
            <a:ln cap="flat" cmpd="sng" w="9525">
              <a:solidFill>
                <a:srgbClr val="3465A4"/>
              </a:solidFill>
              <a:prstDash val="solid"/>
              <a:round/>
              <a:headEnd len="sm" w="sm" type="none"/>
              <a:tailEnd len="sm" w="sm" type="none"/>
            </a:ln>
          </p:spPr>
        </p:cxnSp>
        <p:cxnSp>
          <p:nvCxnSpPr>
            <p:cNvPr id="220" name="Google Shape;220;p32"/>
            <p:cNvCxnSpPr>
              <a:stCxn id="218" idx="2"/>
              <a:endCxn id="217" idx="0"/>
            </p:cNvCxnSpPr>
            <p:nvPr/>
          </p:nvCxnSpPr>
          <p:spPr>
            <a:xfrm flipH="1" rot="-5400000">
              <a:off x="4607550" y="4607550"/>
              <a:ext cx="576300" cy="600"/>
            </a:xfrm>
            <a:prstGeom prst="bentConnector3">
              <a:avLst>
                <a:gd fmla="val 50000" name="adj1"/>
              </a:avLst>
            </a:prstGeom>
            <a:noFill/>
            <a:ln cap="flat" cmpd="sng" w="9525">
              <a:solidFill>
                <a:srgbClr val="3465A4"/>
              </a:solidFill>
              <a:prstDash val="solid"/>
              <a:round/>
              <a:headEnd len="sm" w="sm" type="none"/>
              <a:tailEnd len="sm" w="sm" type="none"/>
            </a:ln>
          </p:spPr>
        </p:cxnSp>
        <p:cxnSp>
          <p:nvCxnSpPr>
            <p:cNvPr id="221" name="Google Shape;221;p32"/>
            <p:cNvCxnSpPr>
              <a:stCxn id="215" idx="3"/>
              <a:endCxn id="218" idx="1"/>
            </p:cNvCxnSpPr>
            <p:nvPr/>
          </p:nvCxnSpPr>
          <p:spPr>
            <a:xfrm>
              <a:off x="3780000" y="3888000"/>
              <a:ext cx="504300" cy="36300"/>
            </a:xfrm>
            <a:prstGeom prst="bentConnector3">
              <a:avLst>
                <a:gd fmla="val 50000" name="adj1"/>
              </a:avLst>
            </a:prstGeom>
            <a:noFill/>
            <a:ln cap="flat" cmpd="sng" w="9525">
              <a:solidFill>
                <a:srgbClr val="3465A4"/>
              </a:solidFill>
              <a:prstDash val="solid"/>
              <a:round/>
              <a:headEnd len="sm" w="sm" type="none"/>
              <a:tailEnd len="sm" w="sm" type="none"/>
            </a:ln>
          </p:spPr>
        </p:cxnSp>
        <p:cxnSp>
          <p:nvCxnSpPr>
            <p:cNvPr id="222" name="Google Shape;222;p32"/>
            <p:cNvCxnSpPr>
              <a:stCxn id="218" idx="3"/>
              <a:endCxn id="216" idx="1"/>
            </p:cNvCxnSpPr>
            <p:nvPr/>
          </p:nvCxnSpPr>
          <p:spPr>
            <a:xfrm flipH="1" rot="10800000">
              <a:off x="5507700" y="3888000"/>
              <a:ext cx="792300" cy="36300"/>
            </a:xfrm>
            <a:prstGeom prst="bentConnector3">
              <a:avLst>
                <a:gd fmla="val 50000" name="adj1"/>
              </a:avLst>
            </a:prstGeom>
            <a:noFill/>
            <a:ln cap="flat" cmpd="sng" w="9525">
              <a:solidFill>
                <a:srgbClr val="3465A4"/>
              </a:solidFill>
              <a:prstDash val="solid"/>
              <a:round/>
              <a:headEnd len="sm" w="sm" type="none"/>
              <a:tailEnd len="sm" w="sm" type="none"/>
            </a:ln>
          </p:spPr>
        </p:cxn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3"/>
          <p:cNvSpPr txBox="1"/>
          <p:nvPr/>
        </p:nvSpPr>
        <p:spPr>
          <a:xfrm>
            <a:off x="288000" y="145440"/>
            <a:ext cx="4700880" cy="43056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s-ES" sz="2400" strike="noStrike">
                <a:latin typeface="Arial"/>
                <a:ea typeface="Arial"/>
                <a:cs typeface="Arial"/>
                <a:sym typeface="Arial"/>
              </a:rPr>
              <a:t>Concepto de modelos de datos</a:t>
            </a:r>
            <a:endParaRPr b="0" sz="2400" strike="noStrike">
              <a:latin typeface="Arial"/>
              <a:ea typeface="Arial"/>
              <a:cs typeface="Arial"/>
              <a:sym typeface="Arial"/>
            </a:endParaRPr>
          </a:p>
        </p:txBody>
      </p:sp>
      <p:sp>
        <p:nvSpPr>
          <p:cNvPr id="228" name="Google Shape;228;p33"/>
          <p:cNvSpPr txBox="1"/>
          <p:nvPr/>
        </p:nvSpPr>
        <p:spPr>
          <a:xfrm>
            <a:off x="761760" y="1296000"/>
            <a:ext cx="5555880" cy="85824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0" lang="es-ES" sz="1800" strike="noStrike">
                <a:latin typeface="Arial"/>
                <a:ea typeface="Arial"/>
                <a:cs typeface="Arial"/>
                <a:sym typeface="Arial"/>
              </a:rPr>
              <a:t>Relaciones reflexivas</a:t>
            </a:r>
            <a:endParaRPr b="0" sz="1800" strike="noStrike">
              <a:latin typeface="Arial"/>
              <a:ea typeface="Arial"/>
              <a:cs typeface="Arial"/>
              <a:sym typeface="Arial"/>
            </a:endParaRPr>
          </a:p>
          <a:p>
            <a:pPr indent="0" lvl="0" marL="0" marR="0" rtl="0" algn="l">
              <a:spcBef>
                <a:spcPts val="0"/>
              </a:spcBef>
              <a:spcAft>
                <a:spcPts val="0"/>
              </a:spcAft>
              <a:buNone/>
            </a:pPr>
            <a:r>
              <a:t/>
            </a:r>
            <a:endParaRPr b="0" sz="1800" strike="noStrike">
              <a:latin typeface="Arial"/>
              <a:ea typeface="Arial"/>
              <a:cs typeface="Arial"/>
              <a:sym typeface="Arial"/>
            </a:endParaRPr>
          </a:p>
          <a:p>
            <a:pPr indent="0" lvl="0" marL="0" marR="0" rtl="0" algn="l">
              <a:spcBef>
                <a:spcPts val="0"/>
              </a:spcBef>
              <a:spcAft>
                <a:spcPts val="0"/>
              </a:spcAft>
              <a:buNone/>
            </a:pPr>
            <a:r>
              <a:rPr b="0" lang="es-ES" sz="1800" strike="noStrike">
                <a:latin typeface="Arial"/>
                <a:ea typeface="Arial"/>
                <a:cs typeface="Arial"/>
                <a:sym typeface="Arial"/>
              </a:rPr>
              <a:t>Relacionan entre sí ocurrencias de la misma entidad.</a:t>
            </a:r>
            <a:endParaRPr b="0" sz="1800" strike="noStrike">
              <a:latin typeface="Arial"/>
              <a:ea typeface="Arial"/>
              <a:cs typeface="Arial"/>
              <a:sym typeface="Arial"/>
            </a:endParaRPr>
          </a:p>
        </p:txBody>
      </p:sp>
      <p:sp>
        <p:nvSpPr>
          <p:cNvPr id="229" name="Google Shape;229;p33"/>
          <p:cNvSpPr/>
          <p:nvPr/>
        </p:nvSpPr>
        <p:spPr>
          <a:xfrm>
            <a:off x="2448000" y="3384000"/>
            <a:ext cx="1512000" cy="360000"/>
          </a:xfrm>
          <a:prstGeom prst="rect">
            <a:avLst/>
          </a:prstGeom>
          <a:solidFill>
            <a:srgbClr val="DEE6EF"/>
          </a:solidFill>
          <a:ln cap="flat" cmpd="sng" w="9525">
            <a:solidFill>
              <a:srgbClr val="3465A4"/>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spcBef>
                <a:spcPts val="0"/>
              </a:spcBef>
              <a:spcAft>
                <a:spcPts val="0"/>
              </a:spcAft>
              <a:buNone/>
            </a:pPr>
            <a:r>
              <a:rPr b="0" lang="es-ES" sz="1800" strike="noStrike">
                <a:latin typeface="Arial"/>
                <a:ea typeface="Arial"/>
                <a:cs typeface="Arial"/>
                <a:sym typeface="Arial"/>
              </a:rPr>
              <a:t>Empleado</a:t>
            </a:r>
            <a:endParaRPr b="0" sz="1800" strike="noStrike">
              <a:latin typeface="Arial"/>
              <a:ea typeface="Arial"/>
              <a:cs typeface="Arial"/>
              <a:sym typeface="Arial"/>
            </a:endParaRPr>
          </a:p>
        </p:txBody>
      </p:sp>
      <p:sp>
        <p:nvSpPr>
          <p:cNvPr id="230" name="Google Shape;230;p33"/>
          <p:cNvSpPr/>
          <p:nvPr/>
        </p:nvSpPr>
        <p:spPr>
          <a:xfrm>
            <a:off x="5256000" y="3240000"/>
            <a:ext cx="1512000" cy="720000"/>
          </a:xfrm>
          <a:custGeom>
            <a:rect b="b" l="l" r="r" t="t"/>
            <a:pathLst>
              <a:path extrusionOk="0" h="21600" w="21600">
                <a:moveTo>
                  <a:pt x="10800" y="0"/>
                </a:moveTo>
                <a:lnTo>
                  <a:pt x="21600" y="10800"/>
                </a:lnTo>
                <a:lnTo>
                  <a:pt x="10800" y="21600"/>
                </a:lnTo>
                <a:lnTo>
                  <a:pt x="0" y="10800"/>
                </a:lnTo>
                <a:lnTo>
                  <a:pt x="10800" y="0"/>
                </a:lnTo>
                <a:close/>
              </a:path>
            </a:pathLst>
          </a:custGeom>
          <a:solidFill>
            <a:srgbClr val="DEE6EF"/>
          </a:solidFill>
          <a:ln cap="flat" cmpd="sng" w="9525">
            <a:solidFill>
              <a:srgbClr val="3465A4"/>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spcBef>
                <a:spcPts val="0"/>
              </a:spcBef>
              <a:spcAft>
                <a:spcPts val="0"/>
              </a:spcAft>
              <a:buNone/>
            </a:pPr>
            <a:r>
              <a:rPr b="0" lang="es-ES" sz="1800" strike="noStrike">
                <a:latin typeface="Arial"/>
                <a:ea typeface="Arial"/>
                <a:cs typeface="Arial"/>
                <a:sym typeface="Arial"/>
              </a:rPr>
              <a:t>Es jefe de</a:t>
            </a:r>
            <a:endParaRPr b="0" sz="1800" strike="noStrike">
              <a:latin typeface="Arial"/>
              <a:ea typeface="Arial"/>
              <a:cs typeface="Arial"/>
              <a:sym typeface="Arial"/>
            </a:endParaRPr>
          </a:p>
        </p:txBody>
      </p:sp>
      <p:cxnSp>
        <p:nvCxnSpPr>
          <p:cNvPr id="231" name="Google Shape;231;p33"/>
          <p:cNvCxnSpPr>
            <a:stCxn id="230" idx="2"/>
            <a:endCxn id="229" idx="2"/>
          </p:cNvCxnSpPr>
          <p:nvPr/>
        </p:nvCxnSpPr>
        <p:spPr>
          <a:xfrm rot="10800000">
            <a:off x="3204000" y="3744000"/>
            <a:ext cx="2808300" cy="216300"/>
          </a:xfrm>
          <a:prstGeom prst="bentConnector3">
            <a:avLst>
              <a:gd fmla="val 50000" name="adj1"/>
            </a:avLst>
          </a:prstGeom>
          <a:noFill/>
          <a:ln cap="flat" cmpd="sng" w="9525">
            <a:solidFill>
              <a:srgbClr val="3465A4"/>
            </a:solidFill>
            <a:prstDash val="solid"/>
            <a:round/>
            <a:headEnd len="sm" w="sm" type="none"/>
            <a:tailEnd len="sm" w="sm" type="none"/>
          </a:ln>
        </p:spPr>
      </p:cxnSp>
      <p:cxnSp>
        <p:nvCxnSpPr>
          <p:cNvPr id="232" name="Google Shape;232;p33"/>
          <p:cNvCxnSpPr>
            <a:stCxn id="230" idx="0"/>
            <a:endCxn id="229" idx="0"/>
          </p:cNvCxnSpPr>
          <p:nvPr/>
        </p:nvCxnSpPr>
        <p:spPr>
          <a:xfrm flipH="1">
            <a:off x="3204000" y="3239700"/>
            <a:ext cx="2808300" cy="144300"/>
          </a:xfrm>
          <a:prstGeom prst="bentConnector3">
            <a:avLst>
              <a:gd fmla="val 50000" name="adj1"/>
            </a:avLst>
          </a:prstGeom>
          <a:noFill/>
          <a:ln cap="flat" cmpd="sng" w="9525">
            <a:solidFill>
              <a:srgbClr val="3465A4"/>
            </a:solidFill>
            <a:prstDash val="solid"/>
            <a:round/>
            <a:headEnd len="sm" w="sm" type="none"/>
            <a:tailEnd len="sm" w="sm" type="none"/>
          </a:ln>
        </p:spPr>
      </p:cxn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E994"/>
        </a:solidFill>
      </p:bgPr>
    </p:bg>
    <p:spTree>
      <p:nvGrpSpPr>
        <p:cNvPr id="236" name="Shape 236"/>
        <p:cNvGrpSpPr/>
        <p:nvPr/>
      </p:nvGrpSpPr>
      <p:grpSpPr>
        <a:xfrm>
          <a:off x="0" y="0"/>
          <a:ext cx="0" cy="0"/>
          <a:chOff x="0" y="0"/>
          <a:chExt cx="0" cy="0"/>
        </a:xfrm>
      </p:grpSpPr>
      <p:sp>
        <p:nvSpPr>
          <p:cNvPr id="237" name="Google Shape;237;p34"/>
          <p:cNvSpPr txBox="1"/>
          <p:nvPr/>
        </p:nvSpPr>
        <p:spPr>
          <a:xfrm>
            <a:off x="432000" y="360720"/>
            <a:ext cx="9216000" cy="57528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s-ES" sz="2400" strike="noStrike">
                <a:latin typeface="Arial"/>
                <a:ea typeface="Arial"/>
                <a:cs typeface="Arial"/>
                <a:sym typeface="Arial"/>
              </a:rPr>
              <a:t>Ejercicio</a:t>
            </a:r>
            <a:endParaRPr b="0" sz="2400" strike="noStrike">
              <a:latin typeface="Arial"/>
              <a:ea typeface="Arial"/>
              <a:cs typeface="Arial"/>
              <a:sym typeface="Arial"/>
            </a:endParaRPr>
          </a:p>
        </p:txBody>
      </p:sp>
      <p:sp>
        <p:nvSpPr>
          <p:cNvPr id="238" name="Google Shape;238;p34"/>
          <p:cNvSpPr txBox="1"/>
          <p:nvPr/>
        </p:nvSpPr>
        <p:spPr>
          <a:xfrm>
            <a:off x="616320" y="2535120"/>
            <a:ext cx="8862840" cy="85824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0" lang="es-ES" sz="1800" strike="noStrike">
                <a:latin typeface="Arial"/>
                <a:ea typeface="Arial"/>
                <a:cs typeface="Arial"/>
                <a:sym typeface="Arial"/>
              </a:rPr>
              <a:t>Listar las posibles relaciones entre las entidades resultantes del ejercicio anterior</a:t>
            </a:r>
            <a:endParaRPr b="0" sz="1800" strike="noStrike">
              <a:latin typeface="Arial"/>
              <a:ea typeface="Arial"/>
              <a:cs typeface="Arial"/>
              <a:sym typeface="Arial"/>
            </a:endParaRPr>
          </a:p>
          <a:p>
            <a:pPr indent="0" lvl="0" marL="0" marR="0" rtl="0" algn="l">
              <a:spcBef>
                <a:spcPts val="0"/>
              </a:spcBef>
              <a:spcAft>
                <a:spcPts val="0"/>
              </a:spcAft>
              <a:buNone/>
            </a:pPr>
            <a:r>
              <a:t/>
            </a:r>
            <a:endParaRPr b="0" sz="1800" strike="noStrike">
              <a:latin typeface="Arial"/>
              <a:ea typeface="Arial"/>
              <a:cs typeface="Arial"/>
              <a:sym typeface="Arial"/>
            </a:endParaRPr>
          </a:p>
          <a:p>
            <a:pPr indent="0" lvl="0" marL="0" marR="0" rtl="0" algn="l">
              <a:spcBef>
                <a:spcPts val="0"/>
              </a:spcBef>
              <a:spcAft>
                <a:spcPts val="0"/>
              </a:spcAft>
              <a:buNone/>
            </a:pPr>
            <a:r>
              <a:rPr b="0" lang="es-ES" sz="1800" strike="noStrike">
                <a:latin typeface="Arial"/>
                <a:ea typeface="Arial"/>
                <a:cs typeface="Arial"/>
                <a:sym typeface="Arial"/>
              </a:rPr>
              <a:t>Debatir cuáles son candidatas a ser reflexivas, ternarias o n-arias.</a:t>
            </a:r>
            <a:endParaRPr b="0" sz="1800" strike="noStrike">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5"/>
          <p:cNvSpPr txBox="1"/>
          <p:nvPr/>
        </p:nvSpPr>
        <p:spPr>
          <a:xfrm>
            <a:off x="432000" y="360720"/>
            <a:ext cx="9216000" cy="575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1" lang="es-ES" sz="2400" strike="noStrike">
                <a:latin typeface="Arial"/>
                <a:ea typeface="Arial"/>
                <a:cs typeface="Arial"/>
                <a:sym typeface="Arial"/>
              </a:rPr>
              <a:t>Concepto de modelos de datos</a:t>
            </a:r>
            <a:endParaRPr b="0" sz="2400" strike="noStrike">
              <a:latin typeface="Arial"/>
              <a:ea typeface="Arial"/>
              <a:cs typeface="Arial"/>
              <a:sym typeface="Arial"/>
            </a:endParaRPr>
          </a:p>
        </p:txBody>
      </p:sp>
      <p:sp>
        <p:nvSpPr>
          <p:cNvPr id="244" name="Google Shape;244;p35"/>
          <p:cNvSpPr txBox="1"/>
          <p:nvPr/>
        </p:nvSpPr>
        <p:spPr>
          <a:xfrm>
            <a:off x="792000" y="1296000"/>
            <a:ext cx="7560000" cy="12960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s-ES" sz="1800" strike="noStrike">
                <a:latin typeface="Arial"/>
                <a:ea typeface="Arial"/>
                <a:cs typeface="Arial"/>
                <a:sym typeface="Arial"/>
              </a:rPr>
              <a:t>Cardinalidad</a:t>
            </a:r>
            <a:endParaRPr b="0" sz="1800" strike="noStrike">
              <a:latin typeface="Arial"/>
              <a:ea typeface="Arial"/>
              <a:cs typeface="Arial"/>
              <a:sym typeface="Arial"/>
            </a:endParaRPr>
          </a:p>
          <a:p>
            <a:pPr indent="0" lvl="0" marL="0" marR="0" rtl="0" algn="l">
              <a:spcBef>
                <a:spcPts val="0"/>
              </a:spcBef>
              <a:spcAft>
                <a:spcPts val="0"/>
              </a:spcAft>
              <a:buNone/>
            </a:pPr>
            <a:r>
              <a:t/>
            </a:r>
            <a:endParaRPr b="0" sz="1800" strike="noStrike">
              <a:latin typeface="Arial"/>
              <a:ea typeface="Arial"/>
              <a:cs typeface="Arial"/>
              <a:sym typeface="Arial"/>
            </a:endParaRPr>
          </a:p>
          <a:p>
            <a:pPr indent="0" lvl="0" marL="0" marR="0" rtl="0" algn="l">
              <a:spcBef>
                <a:spcPts val="0"/>
              </a:spcBef>
              <a:spcAft>
                <a:spcPts val="0"/>
              </a:spcAft>
              <a:buNone/>
            </a:pPr>
            <a:r>
              <a:rPr b="0" lang="es-ES" sz="1800" strike="noStrike">
                <a:latin typeface="Arial"/>
                <a:ea typeface="Arial"/>
                <a:cs typeface="Arial"/>
                <a:sym typeface="Arial"/>
              </a:rPr>
              <a:t>Indica el número máximo de ocurrencias de una entidad con las que se puede relacionar una ocurrencia de otra entidad.</a:t>
            </a:r>
            <a:endParaRPr b="0" sz="1800" strike="noStrike">
              <a:latin typeface="Arial"/>
              <a:ea typeface="Arial"/>
              <a:cs typeface="Arial"/>
              <a:sym typeface="Arial"/>
            </a:endParaRPr>
          </a:p>
        </p:txBody>
      </p:sp>
      <p:grpSp>
        <p:nvGrpSpPr>
          <p:cNvPr id="245" name="Google Shape;245;p35"/>
          <p:cNvGrpSpPr/>
          <p:nvPr/>
        </p:nvGrpSpPr>
        <p:grpSpPr>
          <a:xfrm>
            <a:off x="864000" y="2664000"/>
            <a:ext cx="7272000" cy="1080000"/>
            <a:chOff x="864000" y="2664000"/>
            <a:chExt cx="7272000" cy="1080000"/>
          </a:xfrm>
        </p:grpSpPr>
        <p:sp>
          <p:nvSpPr>
            <p:cNvPr id="246" name="Google Shape;246;p35"/>
            <p:cNvSpPr/>
            <p:nvPr/>
          </p:nvSpPr>
          <p:spPr>
            <a:xfrm>
              <a:off x="3456000" y="3024000"/>
              <a:ext cx="2232000" cy="720000"/>
            </a:xfrm>
            <a:custGeom>
              <a:rect b="b" l="l" r="r" t="t"/>
              <a:pathLst>
                <a:path extrusionOk="0" h="21600" w="21600">
                  <a:moveTo>
                    <a:pt x="10800" y="0"/>
                  </a:moveTo>
                  <a:lnTo>
                    <a:pt x="21600" y="10800"/>
                  </a:lnTo>
                  <a:lnTo>
                    <a:pt x="10800" y="21600"/>
                  </a:lnTo>
                  <a:lnTo>
                    <a:pt x="0" y="10800"/>
                  </a:lnTo>
                  <a:lnTo>
                    <a:pt x="10800" y="0"/>
                  </a:lnTo>
                  <a:close/>
                </a:path>
              </a:pathLst>
            </a:custGeom>
            <a:solidFill>
              <a:srgbClr val="DEE6EF"/>
            </a:solidFill>
            <a:ln cap="flat" cmpd="sng" w="9525">
              <a:solidFill>
                <a:srgbClr val="3465A4"/>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spcBef>
                  <a:spcPts val="0"/>
                </a:spcBef>
                <a:spcAft>
                  <a:spcPts val="0"/>
                </a:spcAft>
                <a:buNone/>
              </a:pPr>
              <a:r>
                <a:rPr b="0" lang="es-ES" sz="1800" strike="noStrike">
                  <a:latin typeface="Arial"/>
                  <a:ea typeface="Arial"/>
                  <a:cs typeface="Arial"/>
                  <a:sym typeface="Arial"/>
                </a:rPr>
                <a:t>Realiza</a:t>
              </a:r>
              <a:endParaRPr b="0" sz="1800" strike="noStrike">
                <a:latin typeface="Arial"/>
                <a:ea typeface="Arial"/>
                <a:cs typeface="Arial"/>
                <a:sym typeface="Arial"/>
              </a:endParaRPr>
            </a:p>
          </p:txBody>
        </p:sp>
        <p:sp>
          <p:nvSpPr>
            <p:cNvPr id="247" name="Google Shape;247;p35"/>
            <p:cNvSpPr/>
            <p:nvPr/>
          </p:nvSpPr>
          <p:spPr>
            <a:xfrm>
              <a:off x="6624000" y="3172680"/>
              <a:ext cx="1512000" cy="432000"/>
            </a:xfrm>
            <a:prstGeom prst="rect">
              <a:avLst/>
            </a:prstGeom>
            <a:solidFill>
              <a:srgbClr val="DEE6EF"/>
            </a:solidFill>
            <a:ln cap="flat" cmpd="sng" w="9525">
              <a:solidFill>
                <a:srgbClr val="3465A4"/>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spcBef>
                  <a:spcPts val="0"/>
                </a:spcBef>
                <a:spcAft>
                  <a:spcPts val="0"/>
                </a:spcAft>
                <a:buNone/>
              </a:pPr>
              <a:r>
                <a:rPr b="0" lang="es-ES" sz="1800" strike="noStrike">
                  <a:latin typeface="Arial"/>
                  <a:ea typeface="Arial"/>
                  <a:cs typeface="Arial"/>
                  <a:sym typeface="Arial"/>
                </a:rPr>
                <a:t>Factura</a:t>
              </a:r>
              <a:endParaRPr b="0" sz="1800" strike="noStrike">
                <a:latin typeface="Arial"/>
                <a:ea typeface="Arial"/>
                <a:cs typeface="Arial"/>
                <a:sym typeface="Arial"/>
              </a:endParaRPr>
            </a:p>
          </p:txBody>
        </p:sp>
        <p:sp>
          <p:nvSpPr>
            <p:cNvPr id="248" name="Google Shape;248;p35"/>
            <p:cNvSpPr/>
            <p:nvPr/>
          </p:nvSpPr>
          <p:spPr>
            <a:xfrm>
              <a:off x="864000" y="3172680"/>
              <a:ext cx="1512000" cy="432000"/>
            </a:xfrm>
            <a:prstGeom prst="rect">
              <a:avLst/>
            </a:prstGeom>
            <a:solidFill>
              <a:srgbClr val="DEE6EF"/>
            </a:solidFill>
            <a:ln cap="flat" cmpd="sng" w="9525">
              <a:solidFill>
                <a:srgbClr val="3465A4"/>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spcBef>
                  <a:spcPts val="0"/>
                </a:spcBef>
                <a:spcAft>
                  <a:spcPts val="0"/>
                </a:spcAft>
                <a:buNone/>
              </a:pPr>
              <a:r>
                <a:rPr b="0" lang="es-ES" sz="1800" strike="noStrike">
                  <a:latin typeface="Arial"/>
                  <a:ea typeface="Arial"/>
                  <a:cs typeface="Arial"/>
                  <a:sym typeface="Arial"/>
                </a:rPr>
                <a:t>Empleado</a:t>
              </a:r>
              <a:endParaRPr b="0" sz="1800" strike="noStrike">
                <a:latin typeface="Arial"/>
                <a:ea typeface="Arial"/>
                <a:cs typeface="Arial"/>
                <a:sym typeface="Arial"/>
              </a:endParaRPr>
            </a:p>
          </p:txBody>
        </p:sp>
        <p:cxnSp>
          <p:nvCxnSpPr>
            <p:cNvPr id="249" name="Google Shape;249;p35"/>
            <p:cNvCxnSpPr>
              <a:stCxn id="248" idx="3"/>
              <a:endCxn id="246" idx="1"/>
            </p:cNvCxnSpPr>
            <p:nvPr/>
          </p:nvCxnSpPr>
          <p:spPr>
            <a:xfrm flipH="1" rot="10800000">
              <a:off x="2376000" y="3383580"/>
              <a:ext cx="1080300" cy="5100"/>
            </a:xfrm>
            <a:prstGeom prst="bentConnector3">
              <a:avLst>
                <a:gd fmla="val 50000" name="adj1"/>
              </a:avLst>
            </a:prstGeom>
            <a:noFill/>
            <a:ln cap="flat" cmpd="sng" w="9525">
              <a:solidFill>
                <a:srgbClr val="3465A4"/>
              </a:solidFill>
              <a:prstDash val="solid"/>
              <a:round/>
              <a:headEnd len="sm" w="sm" type="none"/>
              <a:tailEnd len="sm" w="sm" type="none"/>
            </a:ln>
          </p:spPr>
        </p:cxnSp>
        <p:cxnSp>
          <p:nvCxnSpPr>
            <p:cNvPr id="250" name="Google Shape;250;p35"/>
            <p:cNvCxnSpPr>
              <a:stCxn id="246" idx="3"/>
              <a:endCxn id="247" idx="1"/>
            </p:cNvCxnSpPr>
            <p:nvPr/>
          </p:nvCxnSpPr>
          <p:spPr>
            <a:xfrm>
              <a:off x="5687700" y="3383580"/>
              <a:ext cx="936300" cy="5100"/>
            </a:xfrm>
            <a:prstGeom prst="bentConnector3">
              <a:avLst>
                <a:gd fmla="val 50000" name="adj1"/>
              </a:avLst>
            </a:prstGeom>
            <a:noFill/>
            <a:ln cap="flat" cmpd="sng" w="9525">
              <a:solidFill>
                <a:srgbClr val="3465A4"/>
              </a:solidFill>
              <a:prstDash val="solid"/>
              <a:round/>
              <a:headEnd len="sm" w="sm" type="none"/>
              <a:tailEnd len="sm" w="sm" type="none"/>
            </a:ln>
          </p:spPr>
        </p:cxnSp>
        <p:sp>
          <p:nvSpPr>
            <p:cNvPr id="251" name="Google Shape;251;p35"/>
            <p:cNvSpPr txBox="1"/>
            <p:nvPr/>
          </p:nvSpPr>
          <p:spPr>
            <a:xfrm>
              <a:off x="4320000" y="2664000"/>
              <a:ext cx="535680" cy="34632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0" lang="es-ES" sz="1800" strike="noStrike">
                  <a:latin typeface="Arial"/>
                  <a:ea typeface="Arial"/>
                  <a:cs typeface="Arial"/>
                  <a:sym typeface="Arial"/>
                </a:rPr>
                <a:t>1:N</a:t>
              </a:r>
              <a:endParaRPr b="0" sz="1800" strike="noStrike">
                <a:latin typeface="Arial"/>
                <a:ea typeface="Arial"/>
                <a:cs typeface="Arial"/>
                <a:sym typeface="Arial"/>
              </a:endParaRPr>
            </a:p>
          </p:txBody>
        </p:sp>
      </p:grpSp>
      <p:grpSp>
        <p:nvGrpSpPr>
          <p:cNvPr id="252" name="Google Shape;252;p35"/>
          <p:cNvGrpSpPr/>
          <p:nvPr/>
        </p:nvGrpSpPr>
        <p:grpSpPr>
          <a:xfrm>
            <a:off x="864000" y="4045680"/>
            <a:ext cx="7272000" cy="1066320"/>
            <a:chOff x="864000" y="4045680"/>
            <a:chExt cx="7272000" cy="1066320"/>
          </a:xfrm>
        </p:grpSpPr>
        <p:sp>
          <p:nvSpPr>
            <p:cNvPr id="253" name="Google Shape;253;p35"/>
            <p:cNvSpPr/>
            <p:nvPr/>
          </p:nvSpPr>
          <p:spPr>
            <a:xfrm>
              <a:off x="3456000" y="4392000"/>
              <a:ext cx="2232000" cy="720000"/>
            </a:xfrm>
            <a:custGeom>
              <a:rect b="b" l="l" r="r" t="t"/>
              <a:pathLst>
                <a:path extrusionOk="0" h="21600" w="21600">
                  <a:moveTo>
                    <a:pt x="10800" y="0"/>
                  </a:moveTo>
                  <a:lnTo>
                    <a:pt x="21600" y="10800"/>
                  </a:lnTo>
                  <a:lnTo>
                    <a:pt x="10800" y="21600"/>
                  </a:lnTo>
                  <a:lnTo>
                    <a:pt x="0" y="10800"/>
                  </a:lnTo>
                  <a:lnTo>
                    <a:pt x="10800" y="0"/>
                  </a:lnTo>
                  <a:close/>
                </a:path>
              </a:pathLst>
            </a:custGeom>
            <a:solidFill>
              <a:srgbClr val="DEE6EF"/>
            </a:solidFill>
            <a:ln cap="flat" cmpd="sng" w="9525">
              <a:solidFill>
                <a:srgbClr val="3465A4"/>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spcBef>
                  <a:spcPts val="0"/>
                </a:spcBef>
                <a:spcAft>
                  <a:spcPts val="0"/>
                </a:spcAft>
                <a:buNone/>
              </a:pPr>
              <a:r>
                <a:rPr b="0" lang="es-ES" sz="1800" strike="noStrike">
                  <a:latin typeface="Arial"/>
                  <a:ea typeface="Arial"/>
                  <a:cs typeface="Arial"/>
                  <a:sym typeface="Arial"/>
                </a:rPr>
                <a:t>Pilota</a:t>
              </a:r>
              <a:endParaRPr b="0" sz="1800" strike="noStrike">
                <a:latin typeface="Arial"/>
                <a:ea typeface="Arial"/>
                <a:cs typeface="Arial"/>
                <a:sym typeface="Arial"/>
              </a:endParaRPr>
            </a:p>
          </p:txBody>
        </p:sp>
        <p:sp>
          <p:nvSpPr>
            <p:cNvPr id="254" name="Google Shape;254;p35"/>
            <p:cNvSpPr/>
            <p:nvPr/>
          </p:nvSpPr>
          <p:spPr>
            <a:xfrm>
              <a:off x="6624000" y="4540680"/>
              <a:ext cx="1512000" cy="432000"/>
            </a:xfrm>
            <a:prstGeom prst="rect">
              <a:avLst/>
            </a:prstGeom>
            <a:solidFill>
              <a:srgbClr val="DEE6EF"/>
            </a:solidFill>
            <a:ln cap="flat" cmpd="sng" w="9525">
              <a:solidFill>
                <a:srgbClr val="3465A4"/>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spcBef>
                  <a:spcPts val="0"/>
                </a:spcBef>
                <a:spcAft>
                  <a:spcPts val="0"/>
                </a:spcAft>
                <a:buNone/>
              </a:pPr>
              <a:r>
                <a:rPr b="0" lang="es-ES" sz="1800" strike="noStrike">
                  <a:latin typeface="Arial"/>
                  <a:ea typeface="Arial"/>
                  <a:cs typeface="Arial"/>
                  <a:sym typeface="Arial"/>
                </a:rPr>
                <a:t>Coche</a:t>
              </a:r>
              <a:endParaRPr b="0" sz="1800" strike="noStrike">
                <a:latin typeface="Arial"/>
                <a:ea typeface="Arial"/>
                <a:cs typeface="Arial"/>
                <a:sym typeface="Arial"/>
              </a:endParaRPr>
            </a:p>
          </p:txBody>
        </p:sp>
        <p:sp>
          <p:nvSpPr>
            <p:cNvPr id="255" name="Google Shape;255;p35"/>
            <p:cNvSpPr/>
            <p:nvPr/>
          </p:nvSpPr>
          <p:spPr>
            <a:xfrm>
              <a:off x="864000" y="4540680"/>
              <a:ext cx="1512000" cy="432000"/>
            </a:xfrm>
            <a:prstGeom prst="rect">
              <a:avLst/>
            </a:prstGeom>
            <a:solidFill>
              <a:srgbClr val="DEE6EF"/>
            </a:solidFill>
            <a:ln cap="flat" cmpd="sng" w="9525">
              <a:solidFill>
                <a:srgbClr val="3465A4"/>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spcBef>
                  <a:spcPts val="0"/>
                </a:spcBef>
                <a:spcAft>
                  <a:spcPts val="0"/>
                </a:spcAft>
                <a:buNone/>
              </a:pPr>
              <a:r>
                <a:rPr b="0" lang="es-ES" sz="1800" strike="noStrike">
                  <a:latin typeface="Arial"/>
                  <a:ea typeface="Arial"/>
                  <a:cs typeface="Arial"/>
                  <a:sym typeface="Arial"/>
                </a:rPr>
                <a:t>Conductor</a:t>
              </a:r>
              <a:endParaRPr b="0" sz="1800" strike="noStrike">
                <a:latin typeface="Arial"/>
                <a:ea typeface="Arial"/>
                <a:cs typeface="Arial"/>
                <a:sym typeface="Arial"/>
              </a:endParaRPr>
            </a:p>
          </p:txBody>
        </p:sp>
        <p:cxnSp>
          <p:nvCxnSpPr>
            <p:cNvPr id="256" name="Google Shape;256;p35"/>
            <p:cNvCxnSpPr>
              <a:stCxn id="255" idx="3"/>
              <a:endCxn id="253" idx="1"/>
            </p:cNvCxnSpPr>
            <p:nvPr/>
          </p:nvCxnSpPr>
          <p:spPr>
            <a:xfrm flipH="1" rot="10800000">
              <a:off x="2376000" y="4751580"/>
              <a:ext cx="1080300" cy="5100"/>
            </a:xfrm>
            <a:prstGeom prst="bentConnector3">
              <a:avLst>
                <a:gd fmla="val 50000" name="adj1"/>
              </a:avLst>
            </a:prstGeom>
            <a:noFill/>
            <a:ln cap="flat" cmpd="sng" w="9525">
              <a:solidFill>
                <a:srgbClr val="3465A4"/>
              </a:solidFill>
              <a:prstDash val="solid"/>
              <a:round/>
              <a:headEnd len="sm" w="sm" type="none"/>
              <a:tailEnd len="sm" w="sm" type="none"/>
            </a:ln>
          </p:spPr>
        </p:cxnSp>
        <p:cxnSp>
          <p:nvCxnSpPr>
            <p:cNvPr id="257" name="Google Shape;257;p35"/>
            <p:cNvCxnSpPr>
              <a:stCxn id="253" idx="3"/>
              <a:endCxn id="254" idx="1"/>
            </p:cNvCxnSpPr>
            <p:nvPr/>
          </p:nvCxnSpPr>
          <p:spPr>
            <a:xfrm>
              <a:off x="5687700" y="4751580"/>
              <a:ext cx="936300" cy="5100"/>
            </a:xfrm>
            <a:prstGeom prst="bentConnector3">
              <a:avLst>
                <a:gd fmla="val 50000" name="adj1"/>
              </a:avLst>
            </a:prstGeom>
            <a:noFill/>
            <a:ln cap="flat" cmpd="sng" w="9525">
              <a:solidFill>
                <a:srgbClr val="3465A4"/>
              </a:solidFill>
              <a:prstDash val="solid"/>
              <a:round/>
              <a:headEnd len="sm" w="sm" type="none"/>
              <a:tailEnd len="sm" w="sm" type="none"/>
            </a:ln>
          </p:spPr>
        </p:cxnSp>
        <p:sp>
          <p:nvSpPr>
            <p:cNvPr id="258" name="Google Shape;258;p35"/>
            <p:cNvSpPr txBox="1"/>
            <p:nvPr/>
          </p:nvSpPr>
          <p:spPr>
            <a:xfrm>
              <a:off x="4248000" y="4045680"/>
              <a:ext cx="599760" cy="34632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0" lang="es-ES" sz="1800" strike="noStrike">
                  <a:latin typeface="Arial"/>
                  <a:ea typeface="Arial"/>
                  <a:cs typeface="Arial"/>
                  <a:sym typeface="Arial"/>
                </a:rPr>
                <a:t>M:N</a:t>
              </a:r>
              <a:endParaRPr b="0" sz="1800" strike="noStrike">
                <a:latin typeface="Arial"/>
                <a:ea typeface="Arial"/>
                <a:cs typeface="Arial"/>
                <a:sym typeface="Arial"/>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nvSpPr>
        <p:spPr>
          <a:xfrm>
            <a:off x="432000" y="360720"/>
            <a:ext cx="9216000" cy="575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1" lang="es-ES" sz="2400" strike="noStrike">
                <a:latin typeface="Arial"/>
                <a:ea typeface="Arial"/>
                <a:cs typeface="Arial"/>
                <a:sym typeface="Arial"/>
              </a:rPr>
              <a:t>Concepto de modelos de datos</a:t>
            </a:r>
            <a:endParaRPr b="0" sz="2400" strike="noStrike">
              <a:latin typeface="Arial"/>
              <a:ea typeface="Arial"/>
              <a:cs typeface="Arial"/>
              <a:sym typeface="Arial"/>
            </a:endParaRPr>
          </a:p>
        </p:txBody>
      </p:sp>
      <p:sp>
        <p:nvSpPr>
          <p:cNvPr id="264" name="Google Shape;264;p36"/>
          <p:cNvSpPr txBox="1"/>
          <p:nvPr/>
        </p:nvSpPr>
        <p:spPr>
          <a:xfrm>
            <a:off x="576000" y="1080000"/>
            <a:ext cx="7572240" cy="16560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s-ES" sz="1800" strike="noStrike">
                <a:latin typeface="Arial"/>
                <a:ea typeface="Arial"/>
                <a:cs typeface="Arial"/>
                <a:sym typeface="Arial"/>
              </a:rPr>
              <a:t>Modalidad</a:t>
            </a:r>
            <a:endParaRPr b="0" sz="1800" strike="noStrike">
              <a:latin typeface="Arial"/>
              <a:ea typeface="Arial"/>
              <a:cs typeface="Arial"/>
              <a:sym typeface="Arial"/>
            </a:endParaRPr>
          </a:p>
          <a:p>
            <a:pPr indent="0" lvl="0" marL="0" marR="0" rtl="0" algn="l">
              <a:spcBef>
                <a:spcPts val="0"/>
              </a:spcBef>
              <a:spcAft>
                <a:spcPts val="0"/>
              </a:spcAft>
              <a:buNone/>
            </a:pPr>
            <a:r>
              <a:t/>
            </a:r>
            <a:endParaRPr b="0" sz="1800" strike="noStrike">
              <a:latin typeface="Arial"/>
              <a:ea typeface="Arial"/>
              <a:cs typeface="Arial"/>
              <a:sym typeface="Arial"/>
            </a:endParaRPr>
          </a:p>
          <a:p>
            <a:pPr indent="0" lvl="0" marL="0" marR="0" rtl="0" algn="l">
              <a:spcBef>
                <a:spcPts val="0"/>
              </a:spcBef>
              <a:spcAft>
                <a:spcPts val="0"/>
              </a:spcAft>
              <a:buNone/>
            </a:pPr>
            <a:r>
              <a:rPr b="0" lang="es-ES" sz="1800" strike="noStrike">
                <a:latin typeface="Arial"/>
                <a:ea typeface="Arial"/>
                <a:cs typeface="Arial"/>
                <a:sym typeface="Arial"/>
              </a:rPr>
              <a:t>Define el número mínimo y máximo de ocurrencias de una entidad que pueden estar relacionadas con una ocurrencia de otra u otras entidades</a:t>
            </a:r>
            <a:endParaRPr b="0" sz="1800" strike="noStrike">
              <a:latin typeface="Arial"/>
              <a:ea typeface="Arial"/>
              <a:cs typeface="Arial"/>
              <a:sym typeface="Arial"/>
            </a:endParaRPr>
          </a:p>
        </p:txBody>
      </p:sp>
      <p:grpSp>
        <p:nvGrpSpPr>
          <p:cNvPr id="265" name="Google Shape;265;p36"/>
          <p:cNvGrpSpPr/>
          <p:nvPr/>
        </p:nvGrpSpPr>
        <p:grpSpPr>
          <a:xfrm>
            <a:off x="864000" y="2808000"/>
            <a:ext cx="7272000" cy="1080000"/>
            <a:chOff x="864000" y="2808000"/>
            <a:chExt cx="7272000" cy="1080000"/>
          </a:xfrm>
        </p:grpSpPr>
        <p:sp>
          <p:nvSpPr>
            <p:cNvPr id="266" name="Google Shape;266;p36"/>
            <p:cNvSpPr/>
            <p:nvPr/>
          </p:nvSpPr>
          <p:spPr>
            <a:xfrm>
              <a:off x="3456000" y="3168000"/>
              <a:ext cx="2232000" cy="720000"/>
            </a:xfrm>
            <a:custGeom>
              <a:rect b="b" l="l" r="r" t="t"/>
              <a:pathLst>
                <a:path extrusionOk="0" h="21600" w="21600">
                  <a:moveTo>
                    <a:pt x="10800" y="0"/>
                  </a:moveTo>
                  <a:lnTo>
                    <a:pt x="21600" y="10800"/>
                  </a:lnTo>
                  <a:lnTo>
                    <a:pt x="10800" y="21600"/>
                  </a:lnTo>
                  <a:lnTo>
                    <a:pt x="0" y="10800"/>
                  </a:lnTo>
                  <a:lnTo>
                    <a:pt x="10800" y="0"/>
                  </a:lnTo>
                  <a:close/>
                </a:path>
              </a:pathLst>
            </a:custGeom>
            <a:solidFill>
              <a:srgbClr val="DEE6EF"/>
            </a:solidFill>
            <a:ln cap="flat" cmpd="sng" w="9525">
              <a:solidFill>
                <a:srgbClr val="3465A4"/>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spcBef>
                  <a:spcPts val="0"/>
                </a:spcBef>
                <a:spcAft>
                  <a:spcPts val="0"/>
                </a:spcAft>
                <a:buNone/>
              </a:pPr>
              <a:r>
                <a:rPr b="0" lang="es-ES" sz="1800" strike="noStrike">
                  <a:latin typeface="Arial"/>
                  <a:ea typeface="Arial"/>
                  <a:cs typeface="Arial"/>
                  <a:sym typeface="Arial"/>
                </a:rPr>
                <a:t>Realiza</a:t>
              </a:r>
              <a:endParaRPr b="0" sz="1800" strike="noStrike">
                <a:latin typeface="Arial"/>
                <a:ea typeface="Arial"/>
                <a:cs typeface="Arial"/>
                <a:sym typeface="Arial"/>
              </a:endParaRPr>
            </a:p>
          </p:txBody>
        </p:sp>
        <p:sp>
          <p:nvSpPr>
            <p:cNvPr id="267" name="Google Shape;267;p36"/>
            <p:cNvSpPr/>
            <p:nvPr/>
          </p:nvSpPr>
          <p:spPr>
            <a:xfrm>
              <a:off x="6624000" y="3316680"/>
              <a:ext cx="1512000" cy="432000"/>
            </a:xfrm>
            <a:prstGeom prst="rect">
              <a:avLst/>
            </a:prstGeom>
            <a:solidFill>
              <a:srgbClr val="DEE6EF"/>
            </a:solidFill>
            <a:ln cap="flat" cmpd="sng" w="9525">
              <a:solidFill>
                <a:srgbClr val="3465A4"/>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spcBef>
                  <a:spcPts val="0"/>
                </a:spcBef>
                <a:spcAft>
                  <a:spcPts val="0"/>
                </a:spcAft>
                <a:buNone/>
              </a:pPr>
              <a:r>
                <a:rPr b="0" lang="es-ES" sz="1800" strike="noStrike">
                  <a:latin typeface="Arial"/>
                  <a:ea typeface="Arial"/>
                  <a:cs typeface="Arial"/>
                  <a:sym typeface="Arial"/>
                </a:rPr>
                <a:t>Factura</a:t>
              </a:r>
              <a:endParaRPr b="0" sz="1800" strike="noStrike">
                <a:latin typeface="Arial"/>
                <a:ea typeface="Arial"/>
                <a:cs typeface="Arial"/>
                <a:sym typeface="Arial"/>
              </a:endParaRPr>
            </a:p>
          </p:txBody>
        </p:sp>
        <p:sp>
          <p:nvSpPr>
            <p:cNvPr id="268" name="Google Shape;268;p36"/>
            <p:cNvSpPr/>
            <p:nvPr/>
          </p:nvSpPr>
          <p:spPr>
            <a:xfrm>
              <a:off x="864000" y="3316680"/>
              <a:ext cx="1512000" cy="432000"/>
            </a:xfrm>
            <a:prstGeom prst="rect">
              <a:avLst/>
            </a:prstGeom>
            <a:solidFill>
              <a:srgbClr val="DEE6EF"/>
            </a:solidFill>
            <a:ln cap="flat" cmpd="sng" w="9525">
              <a:solidFill>
                <a:srgbClr val="3465A4"/>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spcBef>
                  <a:spcPts val="0"/>
                </a:spcBef>
                <a:spcAft>
                  <a:spcPts val="0"/>
                </a:spcAft>
                <a:buNone/>
              </a:pPr>
              <a:r>
                <a:rPr b="0" lang="es-ES" sz="1800" strike="noStrike">
                  <a:latin typeface="Arial"/>
                  <a:ea typeface="Arial"/>
                  <a:cs typeface="Arial"/>
                  <a:sym typeface="Arial"/>
                </a:rPr>
                <a:t>Empleado</a:t>
              </a:r>
              <a:endParaRPr b="0" sz="1800" strike="noStrike">
                <a:latin typeface="Arial"/>
                <a:ea typeface="Arial"/>
                <a:cs typeface="Arial"/>
                <a:sym typeface="Arial"/>
              </a:endParaRPr>
            </a:p>
          </p:txBody>
        </p:sp>
        <p:cxnSp>
          <p:nvCxnSpPr>
            <p:cNvPr id="269" name="Google Shape;269;p36"/>
            <p:cNvCxnSpPr>
              <a:stCxn id="268" idx="3"/>
              <a:endCxn id="266" idx="1"/>
            </p:cNvCxnSpPr>
            <p:nvPr/>
          </p:nvCxnSpPr>
          <p:spPr>
            <a:xfrm flipH="1" rot="10800000">
              <a:off x="2376000" y="3527580"/>
              <a:ext cx="1080300" cy="5100"/>
            </a:xfrm>
            <a:prstGeom prst="bentConnector3">
              <a:avLst>
                <a:gd fmla="val 50000" name="adj1"/>
              </a:avLst>
            </a:prstGeom>
            <a:noFill/>
            <a:ln cap="flat" cmpd="sng" w="9525">
              <a:solidFill>
                <a:srgbClr val="3465A4"/>
              </a:solidFill>
              <a:prstDash val="solid"/>
              <a:round/>
              <a:headEnd len="sm" w="sm" type="none"/>
              <a:tailEnd len="sm" w="sm" type="none"/>
            </a:ln>
          </p:spPr>
        </p:cxnSp>
        <p:cxnSp>
          <p:nvCxnSpPr>
            <p:cNvPr id="270" name="Google Shape;270;p36"/>
            <p:cNvCxnSpPr>
              <a:stCxn id="266" idx="3"/>
              <a:endCxn id="267" idx="1"/>
            </p:cNvCxnSpPr>
            <p:nvPr/>
          </p:nvCxnSpPr>
          <p:spPr>
            <a:xfrm>
              <a:off x="5687700" y="3527580"/>
              <a:ext cx="936300" cy="5100"/>
            </a:xfrm>
            <a:prstGeom prst="bentConnector3">
              <a:avLst>
                <a:gd fmla="val 50000" name="adj1"/>
              </a:avLst>
            </a:prstGeom>
            <a:noFill/>
            <a:ln cap="flat" cmpd="sng" w="9525">
              <a:solidFill>
                <a:srgbClr val="3465A4"/>
              </a:solidFill>
              <a:prstDash val="solid"/>
              <a:round/>
              <a:headEnd len="sm" w="sm" type="none"/>
              <a:tailEnd len="sm" w="sm" type="none"/>
            </a:ln>
          </p:spPr>
        </p:cxnSp>
        <p:sp>
          <p:nvSpPr>
            <p:cNvPr id="271" name="Google Shape;271;p36"/>
            <p:cNvSpPr txBox="1"/>
            <p:nvPr/>
          </p:nvSpPr>
          <p:spPr>
            <a:xfrm>
              <a:off x="4320000" y="2808000"/>
              <a:ext cx="535680" cy="34632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0" lang="es-ES" sz="1800" strike="noStrike">
                  <a:latin typeface="Arial"/>
                  <a:ea typeface="Arial"/>
                  <a:cs typeface="Arial"/>
                  <a:sym typeface="Arial"/>
                </a:rPr>
                <a:t>1:N</a:t>
              </a:r>
              <a:endParaRPr b="0" sz="1800" strike="noStrike">
                <a:latin typeface="Arial"/>
                <a:ea typeface="Arial"/>
                <a:cs typeface="Arial"/>
                <a:sym typeface="Arial"/>
              </a:endParaRPr>
            </a:p>
          </p:txBody>
        </p:sp>
        <p:sp>
          <p:nvSpPr>
            <p:cNvPr id="272" name="Google Shape;272;p36"/>
            <p:cNvSpPr txBox="1"/>
            <p:nvPr/>
          </p:nvSpPr>
          <p:spPr>
            <a:xfrm>
              <a:off x="2661840" y="3186360"/>
              <a:ext cx="650160" cy="34632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0" lang="es-ES" sz="1800" strike="noStrike">
                  <a:latin typeface="Arial"/>
                  <a:ea typeface="Arial"/>
                  <a:cs typeface="Arial"/>
                  <a:sym typeface="Arial"/>
                </a:rPr>
                <a:t>(0,1)</a:t>
              </a:r>
              <a:endParaRPr b="0" sz="1800" strike="noStrike">
                <a:latin typeface="Arial"/>
                <a:ea typeface="Arial"/>
                <a:cs typeface="Arial"/>
                <a:sym typeface="Arial"/>
              </a:endParaRPr>
            </a:p>
          </p:txBody>
        </p:sp>
        <p:sp>
          <p:nvSpPr>
            <p:cNvPr id="273" name="Google Shape;273;p36"/>
            <p:cNvSpPr txBox="1"/>
            <p:nvPr/>
          </p:nvSpPr>
          <p:spPr>
            <a:xfrm>
              <a:off x="5791680" y="3168000"/>
              <a:ext cx="688320" cy="34632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0" lang="es-ES" sz="1800" strike="noStrike">
                  <a:latin typeface="Arial"/>
                  <a:ea typeface="Arial"/>
                  <a:cs typeface="Arial"/>
                  <a:sym typeface="Arial"/>
                </a:rPr>
                <a:t>(0,N)</a:t>
              </a:r>
              <a:endParaRPr b="0" sz="1800" strike="noStrike">
                <a:latin typeface="Arial"/>
                <a:ea typeface="Arial"/>
                <a:cs typeface="Arial"/>
                <a:sym typeface="Arial"/>
              </a:endParaRPr>
            </a:p>
          </p:txBody>
        </p:sp>
      </p:grpSp>
      <p:sp>
        <p:nvSpPr>
          <p:cNvPr id="274" name="Google Shape;274;p36"/>
          <p:cNvSpPr txBox="1"/>
          <p:nvPr/>
        </p:nvSpPr>
        <p:spPr>
          <a:xfrm>
            <a:off x="576000" y="4320000"/>
            <a:ext cx="7076880" cy="85824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0" lang="es-ES" sz="1800" strike="noStrike">
                <a:latin typeface="Arial"/>
                <a:ea typeface="Arial"/>
                <a:cs typeface="Arial"/>
                <a:sym typeface="Arial"/>
              </a:rPr>
              <a:t>Se lee:</a:t>
            </a:r>
            <a:endParaRPr b="0" sz="1800" strike="noStrike">
              <a:latin typeface="Arial"/>
              <a:ea typeface="Arial"/>
              <a:cs typeface="Arial"/>
              <a:sym typeface="Arial"/>
            </a:endParaRPr>
          </a:p>
          <a:p>
            <a:pPr indent="0" lvl="0" marL="0" marR="0" rtl="0" algn="l">
              <a:spcBef>
                <a:spcPts val="0"/>
              </a:spcBef>
              <a:spcAft>
                <a:spcPts val="0"/>
              </a:spcAft>
              <a:buNone/>
            </a:pPr>
            <a:r>
              <a:rPr b="0" lang="es-ES" sz="1800" strike="noStrike">
                <a:latin typeface="Arial"/>
                <a:ea typeface="Arial"/>
                <a:cs typeface="Arial"/>
                <a:sym typeface="Arial"/>
              </a:rPr>
              <a:t>(Desde Empleado) Un empleado puede no hacer facturas o hacer N</a:t>
            </a:r>
            <a:endParaRPr b="0" sz="1800" strike="noStrike">
              <a:latin typeface="Arial"/>
              <a:ea typeface="Arial"/>
              <a:cs typeface="Arial"/>
              <a:sym typeface="Arial"/>
            </a:endParaRPr>
          </a:p>
          <a:p>
            <a:pPr indent="0" lvl="0" marL="0" marR="0" rtl="0" algn="l">
              <a:spcBef>
                <a:spcPts val="0"/>
              </a:spcBef>
              <a:spcAft>
                <a:spcPts val="0"/>
              </a:spcAft>
              <a:buNone/>
            </a:pPr>
            <a:r>
              <a:rPr b="0" lang="es-ES" sz="1800" strike="noStrike">
                <a:latin typeface="Arial"/>
                <a:ea typeface="Arial"/>
                <a:cs typeface="Arial"/>
                <a:sym typeface="Arial"/>
              </a:rPr>
              <a:t>(Desde Factura) Toda Factura debe ser realizada por  un Empleado</a:t>
            </a:r>
            <a:endParaRPr b="0" sz="1800" strike="noStrike">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7"/>
          <p:cNvSpPr txBox="1"/>
          <p:nvPr/>
        </p:nvSpPr>
        <p:spPr>
          <a:xfrm>
            <a:off x="432000" y="360720"/>
            <a:ext cx="9216000" cy="57528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s-ES" sz="2400" strike="noStrike">
                <a:latin typeface="Arial"/>
                <a:ea typeface="Arial"/>
                <a:cs typeface="Arial"/>
                <a:sym typeface="Arial"/>
              </a:rPr>
              <a:t>Funciones y sublenguajes (DDL y DML)</a:t>
            </a:r>
            <a:endParaRPr b="0" sz="2400" strike="noStrike">
              <a:latin typeface="Arial"/>
              <a:ea typeface="Arial"/>
              <a:cs typeface="Arial"/>
              <a:sym typeface="Arial"/>
            </a:endParaRPr>
          </a:p>
        </p:txBody>
      </p:sp>
      <p:sp>
        <p:nvSpPr>
          <p:cNvPr id="280" name="Google Shape;280;p37"/>
          <p:cNvSpPr txBox="1"/>
          <p:nvPr/>
        </p:nvSpPr>
        <p:spPr>
          <a:xfrm>
            <a:off x="504000" y="1080000"/>
            <a:ext cx="9072000" cy="392832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s-ES" sz="1800" strike="noStrike">
                <a:latin typeface="Arial"/>
                <a:ea typeface="Arial"/>
                <a:cs typeface="Arial"/>
                <a:sym typeface="Arial"/>
              </a:rPr>
              <a:t>SQL: El lenguaje de las bases de datos relacionales</a:t>
            </a:r>
            <a:endParaRPr b="0" sz="1800" strike="noStrike">
              <a:latin typeface="Arial"/>
              <a:ea typeface="Arial"/>
              <a:cs typeface="Arial"/>
              <a:sym typeface="Arial"/>
            </a:endParaRPr>
          </a:p>
          <a:p>
            <a:pPr indent="0" lvl="0" marL="0" marR="0" rtl="0" algn="l">
              <a:spcBef>
                <a:spcPts val="0"/>
              </a:spcBef>
              <a:spcAft>
                <a:spcPts val="0"/>
              </a:spcAft>
              <a:buNone/>
            </a:pPr>
            <a:r>
              <a:t/>
            </a:r>
            <a:endParaRPr b="0" sz="1800" strike="noStrike">
              <a:latin typeface="Arial"/>
              <a:ea typeface="Arial"/>
              <a:cs typeface="Arial"/>
              <a:sym typeface="Arial"/>
            </a:endParaRPr>
          </a:p>
          <a:p>
            <a:pPr indent="0" lvl="0" marL="0" marR="0" rtl="0" algn="l">
              <a:spcBef>
                <a:spcPts val="0"/>
              </a:spcBef>
              <a:spcAft>
                <a:spcPts val="0"/>
              </a:spcAft>
              <a:buNone/>
            </a:pPr>
            <a:r>
              <a:t/>
            </a:r>
            <a:endParaRPr b="0" sz="1800" strike="noStrike">
              <a:latin typeface="Arial"/>
              <a:ea typeface="Arial"/>
              <a:cs typeface="Arial"/>
              <a:sym typeface="Arial"/>
            </a:endParaRPr>
          </a:p>
          <a:p>
            <a:pPr indent="0" lvl="0" marL="0" marR="0" rtl="0" algn="l">
              <a:lnSpc>
                <a:spcPct val="150000"/>
              </a:lnSpc>
              <a:spcBef>
                <a:spcPts val="0"/>
              </a:spcBef>
              <a:spcAft>
                <a:spcPts val="0"/>
              </a:spcAft>
              <a:buNone/>
            </a:pPr>
            <a:r>
              <a:rPr b="0" lang="es-ES" sz="1800" strike="noStrike">
                <a:latin typeface="Arial"/>
                <a:ea typeface="Arial"/>
                <a:cs typeface="Arial"/>
                <a:sym typeface="Arial"/>
              </a:rPr>
              <a:t>Lenguaje declarativo de acceso a los datos.</a:t>
            </a:r>
            <a:endParaRPr b="0" sz="1800" strike="noStrike">
              <a:latin typeface="Arial"/>
              <a:ea typeface="Arial"/>
              <a:cs typeface="Arial"/>
              <a:sym typeface="Arial"/>
            </a:endParaRPr>
          </a:p>
          <a:p>
            <a:pPr indent="0" lvl="0" marL="0" marR="0" rtl="0" algn="l">
              <a:lnSpc>
                <a:spcPct val="150000"/>
              </a:lnSpc>
              <a:spcBef>
                <a:spcPts val="0"/>
              </a:spcBef>
              <a:spcAft>
                <a:spcPts val="0"/>
              </a:spcAft>
              <a:buNone/>
            </a:pPr>
            <a:r>
              <a:rPr b="0" lang="es-ES" sz="1800" strike="noStrike">
                <a:latin typeface="Arial"/>
                <a:ea typeface="Arial"/>
                <a:cs typeface="Arial"/>
                <a:sym typeface="Arial"/>
              </a:rPr>
              <a:t>Estándar para las bases de datos relacionales y objeto-relacionales.</a:t>
            </a:r>
            <a:endParaRPr b="0" sz="1800" strike="noStrike">
              <a:latin typeface="Arial"/>
              <a:ea typeface="Arial"/>
              <a:cs typeface="Arial"/>
              <a:sym typeface="Arial"/>
            </a:endParaRPr>
          </a:p>
          <a:p>
            <a:pPr indent="0" lvl="0" marL="0" marR="0" rtl="0" algn="l">
              <a:lnSpc>
                <a:spcPct val="150000"/>
              </a:lnSpc>
              <a:spcBef>
                <a:spcPts val="0"/>
              </a:spcBef>
              <a:spcAft>
                <a:spcPts val="0"/>
              </a:spcAft>
              <a:buNone/>
            </a:pPr>
            <a:r>
              <a:rPr b="0" lang="es-ES" sz="1800" strike="noStrike">
                <a:latin typeface="Arial"/>
                <a:ea typeface="Arial"/>
                <a:cs typeface="Arial"/>
                <a:sym typeface="Arial"/>
              </a:rPr>
              <a:t>Incluye la capacidad de manipular tanto la estructura de la base de datos como sus datos. </a:t>
            </a:r>
            <a:endParaRPr b="0" sz="1800" strike="noStrike">
              <a:latin typeface="Arial"/>
              <a:ea typeface="Arial"/>
              <a:cs typeface="Arial"/>
              <a:sym typeface="Arial"/>
            </a:endParaRPr>
          </a:p>
          <a:p>
            <a:pPr indent="0" lvl="0" marL="0" marR="0" rtl="0" algn="l">
              <a:lnSpc>
                <a:spcPct val="150000"/>
              </a:lnSpc>
              <a:spcBef>
                <a:spcPts val="0"/>
              </a:spcBef>
              <a:spcAft>
                <a:spcPts val="0"/>
              </a:spcAft>
              <a:buNone/>
            </a:pPr>
            <a:r>
              <a:rPr b="0" lang="es-ES" sz="1800" strike="noStrike">
                <a:latin typeface="Arial"/>
                <a:ea typeface="Arial"/>
                <a:cs typeface="Arial"/>
                <a:sym typeface="Arial"/>
              </a:rPr>
              <a:t>Aspectos de seguridad.</a:t>
            </a:r>
            <a:endParaRPr b="0" sz="1800" strike="noStrike">
              <a:latin typeface="Arial"/>
              <a:ea typeface="Arial"/>
              <a:cs typeface="Arial"/>
              <a:sym typeface="Arial"/>
            </a:endParaRPr>
          </a:p>
          <a:p>
            <a:pPr indent="0" lvl="0" marL="0" marR="0" rtl="0" algn="l">
              <a:lnSpc>
                <a:spcPct val="150000"/>
              </a:lnSpc>
              <a:spcBef>
                <a:spcPts val="0"/>
              </a:spcBef>
              <a:spcAft>
                <a:spcPts val="0"/>
              </a:spcAft>
              <a:buNone/>
            </a:pPr>
            <a:r>
              <a:rPr b="0" lang="es-ES" sz="1800" strike="noStrike">
                <a:latin typeface="Arial"/>
                <a:ea typeface="Arial"/>
                <a:cs typeface="Arial"/>
                <a:sym typeface="Arial"/>
              </a:rPr>
              <a:t>Desarrollado en el Laboratorio de investigación de San José de IBM. Fue utilizado por primera vez en 1970.</a:t>
            </a:r>
            <a:endParaRPr b="0" sz="1800" strike="noStrike">
              <a:latin typeface="Arial"/>
              <a:ea typeface="Arial"/>
              <a:cs typeface="Arial"/>
              <a:sym typeface="Arial"/>
            </a:endParaRPr>
          </a:p>
          <a:p>
            <a:pPr indent="0" lvl="0" marL="0" marR="0" rtl="0" algn="l">
              <a:lnSpc>
                <a:spcPct val="150000"/>
              </a:lnSpc>
              <a:spcBef>
                <a:spcPts val="0"/>
              </a:spcBef>
              <a:spcAft>
                <a:spcPts val="0"/>
              </a:spcAft>
              <a:buNone/>
            </a:pPr>
            <a:r>
              <a:rPr b="0" lang="es-ES" sz="1800" strike="noStrike">
                <a:latin typeface="Arial"/>
                <a:ea typeface="Arial"/>
                <a:cs typeface="Arial"/>
                <a:sym typeface="Arial"/>
              </a:rPr>
              <a:t>Es un estándar desde 1986. En la actualidad, se trabaja con el estándar SQL2016</a:t>
            </a:r>
            <a:endParaRPr b="0" sz="1800" strike="noStrike">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8"/>
          <p:cNvSpPr txBox="1"/>
          <p:nvPr/>
        </p:nvSpPr>
        <p:spPr>
          <a:xfrm>
            <a:off x="432000" y="360720"/>
            <a:ext cx="9216000" cy="575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1" lang="es-ES" sz="2400" strike="noStrike">
                <a:latin typeface="Arial"/>
                <a:ea typeface="Arial"/>
                <a:cs typeface="Arial"/>
                <a:sym typeface="Arial"/>
              </a:rPr>
              <a:t>Funciones y sublenguajes (DDL y DML)</a:t>
            </a:r>
            <a:endParaRPr b="0" sz="2400" strike="noStrike">
              <a:latin typeface="Arial"/>
              <a:ea typeface="Arial"/>
              <a:cs typeface="Arial"/>
              <a:sym typeface="Arial"/>
            </a:endParaRPr>
          </a:p>
        </p:txBody>
      </p:sp>
      <p:sp>
        <p:nvSpPr>
          <p:cNvPr id="286" name="Google Shape;286;p38"/>
          <p:cNvSpPr txBox="1"/>
          <p:nvPr/>
        </p:nvSpPr>
        <p:spPr>
          <a:xfrm>
            <a:off x="648000" y="1512000"/>
            <a:ext cx="7992000" cy="29520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s-ES" sz="1800" strike="noStrike">
                <a:latin typeface="Arial"/>
                <a:ea typeface="Arial"/>
                <a:cs typeface="Arial"/>
                <a:sym typeface="Arial"/>
              </a:rPr>
              <a:t>SQL</a:t>
            </a:r>
            <a:r>
              <a:rPr b="0" lang="es-ES" sz="1800" strike="noStrike">
                <a:latin typeface="Arial"/>
                <a:ea typeface="Arial"/>
                <a:cs typeface="Arial"/>
                <a:sym typeface="Arial"/>
              </a:rPr>
              <a:t> incluye dos subconjuntos:</a:t>
            </a:r>
            <a:endParaRPr b="0" sz="1800" strike="noStrike">
              <a:latin typeface="Arial"/>
              <a:ea typeface="Arial"/>
              <a:cs typeface="Arial"/>
              <a:sym typeface="Arial"/>
            </a:endParaRPr>
          </a:p>
          <a:p>
            <a:pPr indent="0" lvl="0" marL="0" marR="0" rtl="0" algn="l">
              <a:spcBef>
                <a:spcPts val="0"/>
              </a:spcBef>
              <a:spcAft>
                <a:spcPts val="0"/>
              </a:spcAft>
              <a:buNone/>
            </a:pPr>
            <a:r>
              <a:t/>
            </a:r>
            <a:endParaRPr b="0" sz="1800" strike="noStrike">
              <a:latin typeface="Arial"/>
              <a:ea typeface="Arial"/>
              <a:cs typeface="Arial"/>
              <a:sym typeface="Arial"/>
            </a:endParaRPr>
          </a:p>
          <a:p>
            <a:pPr indent="0" lvl="0" marL="0" marR="0" rtl="0" algn="l">
              <a:spcBef>
                <a:spcPts val="0"/>
              </a:spcBef>
              <a:spcAft>
                <a:spcPts val="0"/>
              </a:spcAft>
              <a:buNone/>
            </a:pPr>
            <a:r>
              <a:rPr b="1" lang="es-ES" sz="1800" strike="noStrike">
                <a:latin typeface="Arial"/>
                <a:ea typeface="Arial"/>
                <a:cs typeface="Arial"/>
                <a:sym typeface="Arial"/>
              </a:rPr>
              <a:t>DML</a:t>
            </a:r>
            <a:r>
              <a:rPr b="0" lang="es-ES" sz="1800" strike="noStrike">
                <a:latin typeface="Arial"/>
                <a:ea typeface="Arial"/>
                <a:cs typeface="Arial"/>
                <a:sym typeface="Arial"/>
              </a:rPr>
              <a:t> (Data Manipulation Language), para manipular los datos</a:t>
            </a:r>
            <a:endParaRPr b="0" sz="1800" strike="noStrike">
              <a:latin typeface="Arial"/>
              <a:ea typeface="Arial"/>
              <a:cs typeface="Arial"/>
              <a:sym typeface="Arial"/>
            </a:endParaRPr>
          </a:p>
          <a:p>
            <a:pPr indent="0" lvl="0" marL="0" marR="0" rtl="0" algn="l">
              <a:spcBef>
                <a:spcPts val="0"/>
              </a:spcBef>
              <a:spcAft>
                <a:spcPts val="0"/>
              </a:spcAft>
              <a:buNone/>
            </a:pPr>
            <a:r>
              <a:t/>
            </a:r>
            <a:endParaRPr b="0" sz="1800" strike="noStrike">
              <a:latin typeface="Arial"/>
              <a:ea typeface="Arial"/>
              <a:cs typeface="Arial"/>
              <a:sym typeface="Arial"/>
            </a:endParaRPr>
          </a:p>
          <a:p>
            <a:pPr indent="0" lvl="0" marL="0" marR="0" rtl="0" algn="l">
              <a:spcBef>
                <a:spcPts val="0"/>
              </a:spcBef>
              <a:spcAft>
                <a:spcPts val="0"/>
              </a:spcAft>
              <a:buNone/>
            </a:pPr>
            <a:r>
              <a:rPr b="1" lang="es-ES" sz="1800" strike="noStrike">
                <a:latin typeface="Arial"/>
                <a:ea typeface="Arial"/>
                <a:cs typeface="Arial"/>
                <a:sym typeface="Arial"/>
              </a:rPr>
              <a:t>DDL</a:t>
            </a:r>
            <a:r>
              <a:rPr b="0" lang="es-ES" sz="1800" strike="noStrike">
                <a:latin typeface="Arial"/>
                <a:ea typeface="Arial"/>
                <a:cs typeface="Arial"/>
                <a:sym typeface="Arial"/>
              </a:rPr>
              <a:t> (Data Definition Language), para especificar la estructura de la la base de datos y los objetos que contiene. </a:t>
            </a:r>
            <a:endParaRPr b="0" sz="1800" strike="noStrike">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39"/>
          <p:cNvSpPr txBox="1"/>
          <p:nvPr/>
        </p:nvSpPr>
        <p:spPr>
          <a:xfrm>
            <a:off x="432000" y="72000"/>
            <a:ext cx="9216000" cy="575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1" lang="es-ES" sz="2400" strike="noStrike">
                <a:latin typeface="Arial"/>
                <a:ea typeface="Arial"/>
                <a:cs typeface="Arial"/>
                <a:sym typeface="Arial"/>
              </a:rPr>
              <a:t>Funciones y sublenguajes (DDL y DML)</a:t>
            </a:r>
            <a:endParaRPr b="0" sz="2400" strike="noStrike">
              <a:latin typeface="Arial"/>
              <a:ea typeface="Arial"/>
              <a:cs typeface="Arial"/>
              <a:sym typeface="Arial"/>
            </a:endParaRPr>
          </a:p>
        </p:txBody>
      </p:sp>
      <p:sp>
        <p:nvSpPr>
          <p:cNvPr id="292" name="Google Shape;292;p39"/>
          <p:cNvSpPr txBox="1"/>
          <p:nvPr/>
        </p:nvSpPr>
        <p:spPr>
          <a:xfrm>
            <a:off x="432000" y="642240"/>
            <a:ext cx="9432000" cy="49536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s-ES" sz="1800" strike="noStrike">
                <a:latin typeface="Arial"/>
                <a:ea typeface="Arial"/>
                <a:cs typeface="Arial"/>
                <a:sym typeface="Arial"/>
              </a:rPr>
              <a:t>DDL</a:t>
            </a:r>
            <a:endParaRPr b="0" sz="1800" strike="noStrike">
              <a:latin typeface="Arial"/>
              <a:ea typeface="Arial"/>
              <a:cs typeface="Arial"/>
              <a:sym typeface="Arial"/>
            </a:endParaRPr>
          </a:p>
          <a:p>
            <a:pPr indent="0" lvl="0" marL="0" marR="0" rtl="0" algn="l">
              <a:spcBef>
                <a:spcPts val="0"/>
              </a:spcBef>
              <a:spcAft>
                <a:spcPts val="0"/>
              </a:spcAft>
              <a:buNone/>
            </a:pPr>
            <a:r>
              <a:t/>
            </a:r>
            <a:endParaRPr b="0" sz="1800" strike="noStrike">
              <a:latin typeface="Arial"/>
              <a:ea typeface="Arial"/>
              <a:cs typeface="Arial"/>
              <a:sym typeface="Arial"/>
            </a:endParaRPr>
          </a:p>
          <a:p>
            <a:pPr indent="0" lvl="0" marL="0" marR="0" rtl="0" algn="l">
              <a:spcBef>
                <a:spcPts val="0"/>
              </a:spcBef>
              <a:spcAft>
                <a:spcPts val="0"/>
              </a:spcAft>
              <a:buNone/>
            </a:pPr>
            <a:r>
              <a:rPr b="0" lang="es-ES" sz="1800" strike="noStrike">
                <a:latin typeface="Arial"/>
                <a:ea typeface="Arial"/>
                <a:cs typeface="Arial"/>
                <a:sym typeface="Arial"/>
              </a:rPr>
              <a:t>Las instrucciones DDL comprenden todas las operaciones necesarias para implantar y mantener un esquema relacional.</a:t>
            </a:r>
            <a:endParaRPr b="0" sz="1800" strike="noStrike">
              <a:latin typeface="Arial"/>
              <a:ea typeface="Arial"/>
              <a:cs typeface="Arial"/>
              <a:sym typeface="Arial"/>
            </a:endParaRPr>
          </a:p>
          <a:p>
            <a:pPr indent="0" lvl="0" marL="0" marR="0" rtl="0" algn="l">
              <a:spcBef>
                <a:spcPts val="0"/>
              </a:spcBef>
              <a:spcAft>
                <a:spcPts val="0"/>
              </a:spcAft>
              <a:buNone/>
            </a:pPr>
            <a:r>
              <a:rPr b="0" lang="es-ES" sz="1800" strike="noStrike">
                <a:latin typeface="Arial"/>
                <a:ea typeface="Arial"/>
                <a:cs typeface="Arial"/>
                <a:sym typeface="Arial"/>
              </a:rPr>
              <a:t>Las DDL permiten crear, modificar y eliminar tablas, así como todos los componentes que las definen: campos, índices, claves, etc. y las restricciones necesarias.</a:t>
            </a:r>
            <a:endParaRPr b="0" sz="1800" strike="noStrike">
              <a:latin typeface="Arial"/>
              <a:ea typeface="Arial"/>
              <a:cs typeface="Arial"/>
              <a:sym typeface="Arial"/>
            </a:endParaRPr>
          </a:p>
          <a:p>
            <a:pPr indent="0" lvl="0" marL="0" marR="0" rtl="0" algn="l">
              <a:spcBef>
                <a:spcPts val="0"/>
              </a:spcBef>
              <a:spcAft>
                <a:spcPts val="0"/>
              </a:spcAft>
              <a:buNone/>
            </a:pPr>
            <a:r>
              <a:t/>
            </a:r>
            <a:endParaRPr b="0" sz="1800" strike="noStrike">
              <a:latin typeface="Arial"/>
              <a:ea typeface="Arial"/>
              <a:cs typeface="Arial"/>
              <a:sym typeface="Arial"/>
            </a:endParaRPr>
          </a:p>
          <a:p>
            <a:pPr indent="0" lvl="0" marL="0" marR="0" rtl="0" algn="l">
              <a:spcBef>
                <a:spcPts val="0"/>
              </a:spcBef>
              <a:spcAft>
                <a:spcPts val="0"/>
              </a:spcAft>
              <a:buNone/>
            </a:pPr>
            <a:r>
              <a:rPr b="0" lang="es-ES" sz="1800" strike="noStrike">
                <a:latin typeface="Arial"/>
                <a:ea typeface="Arial"/>
                <a:cs typeface="Arial"/>
                <a:sym typeface="Arial"/>
              </a:rPr>
              <a:t>Principales instrucciones:</a:t>
            </a:r>
            <a:endParaRPr b="0" sz="1800" strike="noStrike">
              <a:latin typeface="Arial"/>
              <a:ea typeface="Arial"/>
              <a:cs typeface="Arial"/>
              <a:sym typeface="Arial"/>
            </a:endParaRPr>
          </a:p>
          <a:p>
            <a:pPr indent="0" lvl="0" marL="0" marR="0" rtl="0" algn="l">
              <a:spcBef>
                <a:spcPts val="0"/>
              </a:spcBef>
              <a:spcAft>
                <a:spcPts val="0"/>
              </a:spcAft>
              <a:buNone/>
            </a:pPr>
            <a:r>
              <a:t/>
            </a:r>
            <a:endParaRPr b="0" sz="1800" strike="noStrike">
              <a:latin typeface="Arial"/>
              <a:ea typeface="Arial"/>
              <a:cs typeface="Arial"/>
              <a:sym typeface="Arial"/>
            </a:endParaRPr>
          </a:p>
          <a:p>
            <a:pPr indent="0" lvl="0" marL="0" marR="0" rtl="0" algn="l">
              <a:spcBef>
                <a:spcPts val="0"/>
              </a:spcBef>
              <a:spcAft>
                <a:spcPts val="0"/>
              </a:spcAft>
              <a:buNone/>
            </a:pPr>
            <a:r>
              <a:rPr b="0" lang="es-ES" sz="1800" strike="noStrike">
                <a:latin typeface="Arial"/>
                <a:ea typeface="Arial"/>
                <a:cs typeface="Arial"/>
                <a:sym typeface="Arial"/>
              </a:rPr>
              <a:t>	- CREATE DATABASE</a:t>
            </a:r>
            <a:endParaRPr b="0" sz="1800" strike="noStrike">
              <a:latin typeface="Arial"/>
              <a:ea typeface="Arial"/>
              <a:cs typeface="Arial"/>
              <a:sym typeface="Arial"/>
            </a:endParaRPr>
          </a:p>
          <a:p>
            <a:pPr indent="0" lvl="0" marL="0" marR="0" rtl="0" algn="l">
              <a:spcBef>
                <a:spcPts val="0"/>
              </a:spcBef>
              <a:spcAft>
                <a:spcPts val="0"/>
              </a:spcAft>
              <a:buNone/>
            </a:pPr>
            <a:r>
              <a:rPr b="0" lang="es-ES" sz="1800" strike="noStrike">
                <a:latin typeface="Arial"/>
                <a:ea typeface="Arial"/>
                <a:cs typeface="Arial"/>
                <a:sym typeface="Arial"/>
              </a:rPr>
              <a:t>	- CREATE TABLE</a:t>
            </a:r>
            <a:endParaRPr b="0" sz="1800" strike="noStrike">
              <a:latin typeface="Arial"/>
              <a:ea typeface="Arial"/>
              <a:cs typeface="Arial"/>
              <a:sym typeface="Arial"/>
            </a:endParaRPr>
          </a:p>
          <a:p>
            <a:pPr indent="0" lvl="0" marL="0" marR="0" rtl="0" algn="l">
              <a:spcBef>
                <a:spcPts val="0"/>
              </a:spcBef>
              <a:spcAft>
                <a:spcPts val="0"/>
              </a:spcAft>
              <a:buNone/>
            </a:pPr>
            <a:r>
              <a:rPr b="0" lang="es-ES" sz="1800" strike="noStrike">
                <a:latin typeface="Arial"/>
                <a:ea typeface="Arial"/>
                <a:cs typeface="Arial"/>
                <a:sym typeface="Arial"/>
              </a:rPr>
              <a:t>	- ALTER TABLE</a:t>
            </a:r>
            <a:endParaRPr b="0" sz="1800" strike="noStrike">
              <a:latin typeface="Arial"/>
              <a:ea typeface="Arial"/>
              <a:cs typeface="Arial"/>
              <a:sym typeface="Arial"/>
            </a:endParaRPr>
          </a:p>
          <a:p>
            <a:pPr indent="0" lvl="0" marL="0" marR="0" rtl="0" algn="l">
              <a:spcBef>
                <a:spcPts val="0"/>
              </a:spcBef>
              <a:spcAft>
                <a:spcPts val="0"/>
              </a:spcAft>
              <a:buNone/>
            </a:pPr>
            <a:r>
              <a:rPr b="0" lang="es-ES" sz="1800" strike="noStrike">
                <a:latin typeface="Arial"/>
                <a:ea typeface="Arial"/>
                <a:cs typeface="Arial"/>
                <a:sym typeface="Arial"/>
              </a:rPr>
              <a:t>	- CREATE INDEX</a:t>
            </a:r>
            <a:endParaRPr b="0" sz="1800" strike="noStrike">
              <a:latin typeface="Arial"/>
              <a:ea typeface="Arial"/>
              <a:cs typeface="Arial"/>
              <a:sym typeface="Arial"/>
            </a:endParaRPr>
          </a:p>
          <a:p>
            <a:pPr indent="0" lvl="0" marL="0" marR="0" rtl="0" algn="l">
              <a:spcBef>
                <a:spcPts val="0"/>
              </a:spcBef>
              <a:spcAft>
                <a:spcPts val="0"/>
              </a:spcAft>
              <a:buNone/>
            </a:pPr>
            <a:r>
              <a:rPr b="0" lang="es-ES" sz="1800" strike="noStrike">
                <a:latin typeface="Arial"/>
                <a:ea typeface="Arial"/>
                <a:cs typeface="Arial"/>
                <a:sym typeface="Arial"/>
              </a:rPr>
              <a:t>	- CREATE VIEW</a:t>
            </a:r>
            <a:endParaRPr b="0" sz="1800" strike="noStrike">
              <a:latin typeface="Arial"/>
              <a:ea typeface="Arial"/>
              <a:cs typeface="Arial"/>
              <a:sym typeface="Arial"/>
            </a:endParaRPr>
          </a:p>
          <a:p>
            <a:pPr indent="0" lvl="0" marL="0" marR="0" rtl="0" algn="l">
              <a:spcBef>
                <a:spcPts val="0"/>
              </a:spcBef>
              <a:spcAft>
                <a:spcPts val="0"/>
              </a:spcAft>
              <a:buNone/>
            </a:pPr>
            <a:r>
              <a:rPr b="0" lang="es-ES" sz="1800" strike="noStrike">
                <a:latin typeface="Arial"/>
                <a:ea typeface="Arial"/>
                <a:cs typeface="Arial"/>
                <a:sym typeface="Arial"/>
              </a:rPr>
              <a:t>	- CREATE TRIGGER</a:t>
            </a:r>
            <a:endParaRPr b="0" sz="1800" strike="noStrike">
              <a:latin typeface="Arial"/>
              <a:ea typeface="Arial"/>
              <a:cs typeface="Arial"/>
              <a:sym typeface="Arial"/>
            </a:endParaRPr>
          </a:p>
          <a:p>
            <a:pPr indent="0" lvl="0" marL="0" marR="0" rtl="0" algn="l">
              <a:spcBef>
                <a:spcPts val="0"/>
              </a:spcBef>
              <a:spcAft>
                <a:spcPts val="0"/>
              </a:spcAft>
              <a:buNone/>
            </a:pPr>
            <a:r>
              <a:rPr b="0" lang="es-ES" sz="1800" strike="noStrike">
                <a:latin typeface="Arial"/>
                <a:ea typeface="Arial"/>
                <a:cs typeface="Arial"/>
                <a:sym typeface="Arial"/>
              </a:rPr>
              <a:t>	- CREATE PROCEDURE / FUNCTION</a:t>
            </a:r>
            <a:endParaRPr b="0" sz="1800" strike="noStrike">
              <a:latin typeface="Arial"/>
              <a:ea typeface="Arial"/>
              <a:cs typeface="Arial"/>
              <a:sym typeface="Arial"/>
            </a:endParaRPr>
          </a:p>
          <a:p>
            <a:pPr indent="0" lvl="0" marL="0" marR="0" rtl="0" algn="l">
              <a:spcBef>
                <a:spcPts val="0"/>
              </a:spcBef>
              <a:spcAft>
                <a:spcPts val="0"/>
              </a:spcAft>
              <a:buNone/>
            </a:pPr>
            <a:r>
              <a:rPr b="0" lang="es-ES" sz="1800" strike="noStrike">
                <a:latin typeface="Arial"/>
                <a:ea typeface="Arial"/>
                <a:cs typeface="Arial"/>
                <a:sym typeface="Arial"/>
              </a:rPr>
              <a:t>	- CREATE RULE</a:t>
            </a:r>
            <a:endParaRPr b="0" sz="1800" strike="noStrike">
              <a:latin typeface="Arial"/>
              <a:ea typeface="Arial"/>
              <a:cs typeface="Arial"/>
              <a:sym typeface="Arial"/>
            </a:endParaRPr>
          </a:p>
          <a:p>
            <a:pPr indent="0" lvl="0" marL="0" marR="0" rtl="0" algn="l">
              <a:spcBef>
                <a:spcPts val="0"/>
              </a:spcBef>
              <a:spcAft>
                <a:spcPts val="0"/>
              </a:spcAft>
              <a:buNone/>
            </a:pPr>
            <a:r>
              <a:rPr b="0" lang="es-ES" sz="1800" strike="noStrike">
                <a:latin typeface="Arial"/>
                <a:ea typeface="Arial"/>
                <a:cs typeface="Arial"/>
                <a:sym typeface="Arial"/>
              </a:rPr>
              <a:t>	- CREATE SCHEMA</a:t>
            </a:r>
            <a:endParaRPr b="0" sz="1800" strike="noStrike">
              <a:latin typeface="Arial"/>
              <a:ea typeface="Arial"/>
              <a:cs typeface="Arial"/>
              <a:sym typeface="Arial"/>
            </a:endParaRPr>
          </a:p>
          <a:p>
            <a:pPr indent="0" lvl="0" marL="0" marR="0" rtl="0" algn="l">
              <a:spcBef>
                <a:spcPts val="0"/>
              </a:spcBef>
              <a:spcAft>
                <a:spcPts val="0"/>
              </a:spcAft>
              <a:buNone/>
            </a:pPr>
            <a:r>
              <a:rPr b="0" lang="es-ES" sz="1800" strike="noStrike">
                <a:latin typeface="Arial"/>
                <a:ea typeface="Arial"/>
                <a:cs typeface="Arial"/>
                <a:sym typeface="Arial"/>
              </a:rPr>
              <a:t>	- DROP “objeto”</a:t>
            </a:r>
            <a:endParaRPr b="0" sz="1800" strike="noStrike">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0"/>
          <p:cNvSpPr txBox="1"/>
          <p:nvPr/>
        </p:nvSpPr>
        <p:spPr>
          <a:xfrm>
            <a:off x="432000" y="72000"/>
            <a:ext cx="9216000" cy="575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1" lang="es-ES" sz="2400" strike="noStrike">
                <a:latin typeface="Arial"/>
                <a:ea typeface="Arial"/>
                <a:cs typeface="Arial"/>
                <a:sym typeface="Arial"/>
              </a:rPr>
              <a:t>Funciones y sublenguajes (DDL y DML)</a:t>
            </a:r>
            <a:endParaRPr b="0" sz="2400" strike="noStrike">
              <a:latin typeface="Arial"/>
              <a:ea typeface="Arial"/>
              <a:cs typeface="Arial"/>
              <a:sym typeface="Arial"/>
            </a:endParaRPr>
          </a:p>
        </p:txBody>
      </p:sp>
      <p:sp>
        <p:nvSpPr>
          <p:cNvPr id="298" name="Google Shape;298;p40"/>
          <p:cNvSpPr txBox="1"/>
          <p:nvPr/>
        </p:nvSpPr>
        <p:spPr>
          <a:xfrm>
            <a:off x="108000" y="756000"/>
            <a:ext cx="9936000" cy="4788000"/>
          </a:xfrm>
          <a:prstGeom prst="rect">
            <a:avLst/>
          </a:prstGeom>
          <a:noFill/>
          <a:ln>
            <a:noFill/>
          </a:ln>
        </p:spPr>
        <p:txBody>
          <a:bodyPr anchorCtr="0" anchor="t" bIns="45000" lIns="90000" spcFirstLastPara="1" rIns="90000" wrap="square" tIns="45000">
            <a:noAutofit/>
          </a:bodyPr>
          <a:lstStyle/>
          <a:p>
            <a:pPr indent="0" lvl="0" marL="0" marR="0" rtl="0" algn="l">
              <a:lnSpc>
                <a:spcPct val="150000"/>
              </a:lnSpc>
              <a:spcBef>
                <a:spcPts val="0"/>
              </a:spcBef>
              <a:spcAft>
                <a:spcPts val="0"/>
              </a:spcAft>
              <a:buNone/>
            </a:pPr>
            <a:r>
              <a:rPr b="1" lang="es-ES" sz="1800" strike="noStrike">
                <a:latin typeface="Arial"/>
                <a:ea typeface="Arial"/>
                <a:cs typeface="Arial"/>
                <a:sym typeface="Arial"/>
              </a:rPr>
              <a:t>DML</a:t>
            </a:r>
            <a:endParaRPr b="0" sz="1800" strike="noStrike">
              <a:latin typeface="Arial"/>
              <a:ea typeface="Arial"/>
              <a:cs typeface="Arial"/>
              <a:sym typeface="Arial"/>
            </a:endParaRPr>
          </a:p>
          <a:p>
            <a:pPr indent="0" lvl="0" marL="0" marR="0" rtl="0" algn="l">
              <a:lnSpc>
                <a:spcPct val="150000"/>
              </a:lnSpc>
              <a:spcBef>
                <a:spcPts val="0"/>
              </a:spcBef>
              <a:spcAft>
                <a:spcPts val="0"/>
              </a:spcAft>
              <a:buNone/>
            </a:pPr>
            <a:r>
              <a:t/>
            </a:r>
            <a:endParaRPr b="0" sz="1800" strike="noStrike">
              <a:latin typeface="Arial"/>
              <a:ea typeface="Arial"/>
              <a:cs typeface="Arial"/>
              <a:sym typeface="Arial"/>
            </a:endParaRPr>
          </a:p>
          <a:p>
            <a:pPr indent="0" lvl="0" marL="0" marR="0" rtl="0" algn="l">
              <a:lnSpc>
                <a:spcPct val="150000"/>
              </a:lnSpc>
              <a:spcBef>
                <a:spcPts val="0"/>
              </a:spcBef>
              <a:spcAft>
                <a:spcPts val="0"/>
              </a:spcAft>
              <a:buNone/>
            </a:pPr>
            <a:r>
              <a:rPr b="0" lang="es-ES" sz="1800" strike="noStrike">
                <a:latin typeface="Arial"/>
                <a:ea typeface="Arial"/>
                <a:cs typeface="Arial"/>
                <a:sym typeface="Arial"/>
              </a:rPr>
              <a:t>Las instrucciones del DML permiten actuar sobre los propios datos.</a:t>
            </a:r>
            <a:endParaRPr b="0" sz="1800" strike="noStrike">
              <a:latin typeface="Arial"/>
              <a:ea typeface="Arial"/>
              <a:cs typeface="Arial"/>
              <a:sym typeface="Arial"/>
            </a:endParaRPr>
          </a:p>
          <a:p>
            <a:pPr indent="0" lvl="0" marL="0" marR="0" rtl="0" algn="l">
              <a:lnSpc>
                <a:spcPct val="150000"/>
              </a:lnSpc>
              <a:spcBef>
                <a:spcPts val="0"/>
              </a:spcBef>
              <a:spcAft>
                <a:spcPts val="0"/>
              </a:spcAft>
              <a:buNone/>
            </a:pPr>
            <a:r>
              <a:rPr b="0" lang="es-ES" sz="1800" strike="noStrike">
                <a:latin typeface="Arial"/>
                <a:ea typeface="Arial"/>
                <a:cs typeface="Arial"/>
                <a:sym typeface="Arial"/>
              </a:rPr>
              <a:t>Las operaciones básicas de manipulación de datos son: insertar, modificar, borrar y consultar.</a:t>
            </a:r>
            <a:endParaRPr b="0" sz="1800" strike="noStrike">
              <a:latin typeface="Arial"/>
              <a:ea typeface="Arial"/>
              <a:cs typeface="Arial"/>
              <a:sym typeface="Arial"/>
            </a:endParaRPr>
          </a:p>
          <a:p>
            <a:pPr indent="0" lvl="0" marL="0" marR="0" rtl="0" algn="l">
              <a:lnSpc>
                <a:spcPct val="150000"/>
              </a:lnSpc>
              <a:spcBef>
                <a:spcPts val="0"/>
              </a:spcBef>
              <a:spcAft>
                <a:spcPts val="0"/>
              </a:spcAft>
              <a:buNone/>
            </a:pPr>
            <a:r>
              <a:rPr b="0" lang="es-ES" sz="1800" strike="noStrike">
                <a:latin typeface="Arial"/>
                <a:ea typeface="Arial"/>
                <a:cs typeface="Arial"/>
                <a:sym typeface="Arial"/>
              </a:rPr>
              <a:t>Las tres primeras permiten alterar el contenido de la base de datos.</a:t>
            </a:r>
            <a:endParaRPr b="0" sz="1800" strike="noStrike">
              <a:latin typeface="Arial"/>
              <a:ea typeface="Arial"/>
              <a:cs typeface="Arial"/>
              <a:sym typeface="Arial"/>
            </a:endParaRPr>
          </a:p>
          <a:p>
            <a:pPr indent="0" lvl="0" marL="0" marR="0" rtl="0" algn="l">
              <a:lnSpc>
                <a:spcPct val="150000"/>
              </a:lnSpc>
              <a:spcBef>
                <a:spcPts val="0"/>
              </a:spcBef>
              <a:spcAft>
                <a:spcPts val="0"/>
              </a:spcAft>
              <a:buNone/>
            </a:pPr>
            <a:r>
              <a:rPr b="0" lang="es-ES" sz="1800" strike="noStrike">
                <a:latin typeface="Arial"/>
                <a:ea typeface="Arial"/>
                <a:cs typeface="Arial"/>
                <a:sym typeface="Arial"/>
              </a:rPr>
              <a:t>La última consiste en localizar datos para su observación.</a:t>
            </a:r>
            <a:endParaRPr b="0" sz="1800" strike="noStrike">
              <a:latin typeface="Arial"/>
              <a:ea typeface="Arial"/>
              <a:cs typeface="Arial"/>
              <a:sym typeface="Arial"/>
            </a:endParaRPr>
          </a:p>
          <a:p>
            <a:pPr indent="0" lvl="0" marL="0" marR="0" rtl="0" algn="l">
              <a:lnSpc>
                <a:spcPct val="150000"/>
              </a:lnSpc>
              <a:spcBef>
                <a:spcPts val="0"/>
              </a:spcBef>
              <a:spcAft>
                <a:spcPts val="0"/>
              </a:spcAft>
              <a:buNone/>
            </a:pPr>
            <a:r>
              <a:rPr b="0" lang="es-ES" sz="1800" strike="noStrike">
                <a:latin typeface="Arial"/>
                <a:ea typeface="Arial"/>
                <a:cs typeface="Arial"/>
                <a:sym typeface="Arial"/>
              </a:rPr>
              <a:t>Principales instrucciones:</a:t>
            </a:r>
            <a:endParaRPr b="0" sz="1800" strike="noStrike">
              <a:latin typeface="Arial"/>
              <a:ea typeface="Arial"/>
              <a:cs typeface="Arial"/>
              <a:sym typeface="Arial"/>
            </a:endParaRPr>
          </a:p>
          <a:p>
            <a:pPr indent="0" lvl="0" marL="0" marR="0" rtl="0" algn="l">
              <a:lnSpc>
                <a:spcPct val="150000"/>
              </a:lnSpc>
              <a:spcBef>
                <a:spcPts val="0"/>
              </a:spcBef>
              <a:spcAft>
                <a:spcPts val="0"/>
              </a:spcAft>
              <a:buNone/>
            </a:pPr>
            <a:r>
              <a:rPr b="0" lang="es-ES" sz="1800" strike="noStrike">
                <a:latin typeface="Arial"/>
                <a:ea typeface="Arial"/>
                <a:cs typeface="Arial"/>
                <a:sym typeface="Arial"/>
              </a:rPr>
              <a:t>	- INSERT</a:t>
            </a:r>
            <a:endParaRPr b="0" sz="1800" strike="noStrike">
              <a:latin typeface="Arial"/>
              <a:ea typeface="Arial"/>
              <a:cs typeface="Arial"/>
              <a:sym typeface="Arial"/>
            </a:endParaRPr>
          </a:p>
          <a:p>
            <a:pPr indent="0" lvl="0" marL="0" marR="0" rtl="0" algn="l">
              <a:lnSpc>
                <a:spcPct val="150000"/>
              </a:lnSpc>
              <a:spcBef>
                <a:spcPts val="0"/>
              </a:spcBef>
              <a:spcAft>
                <a:spcPts val="0"/>
              </a:spcAft>
              <a:buNone/>
            </a:pPr>
            <a:r>
              <a:rPr b="0" lang="es-ES" sz="1800" strike="noStrike">
                <a:latin typeface="Arial"/>
                <a:ea typeface="Arial"/>
                <a:cs typeface="Arial"/>
                <a:sym typeface="Arial"/>
              </a:rPr>
              <a:t>	- UPDATE</a:t>
            </a:r>
            <a:endParaRPr b="0" sz="1800" strike="noStrike">
              <a:latin typeface="Arial"/>
              <a:ea typeface="Arial"/>
              <a:cs typeface="Arial"/>
              <a:sym typeface="Arial"/>
            </a:endParaRPr>
          </a:p>
          <a:p>
            <a:pPr indent="0" lvl="0" marL="0" marR="0" rtl="0" algn="l">
              <a:lnSpc>
                <a:spcPct val="150000"/>
              </a:lnSpc>
              <a:spcBef>
                <a:spcPts val="0"/>
              </a:spcBef>
              <a:spcAft>
                <a:spcPts val="0"/>
              </a:spcAft>
              <a:buNone/>
            </a:pPr>
            <a:r>
              <a:rPr b="0" lang="es-ES" sz="1800" strike="noStrike">
                <a:latin typeface="Arial"/>
                <a:ea typeface="Arial"/>
                <a:cs typeface="Arial"/>
                <a:sym typeface="Arial"/>
              </a:rPr>
              <a:t>	- DELETE</a:t>
            </a:r>
            <a:endParaRPr b="0" sz="1800" strike="noStrike">
              <a:latin typeface="Arial"/>
              <a:ea typeface="Arial"/>
              <a:cs typeface="Arial"/>
              <a:sym typeface="Arial"/>
            </a:endParaRPr>
          </a:p>
          <a:p>
            <a:pPr indent="0" lvl="0" marL="0" marR="0" rtl="0" algn="l">
              <a:lnSpc>
                <a:spcPct val="150000"/>
              </a:lnSpc>
              <a:spcBef>
                <a:spcPts val="0"/>
              </a:spcBef>
              <a:spcAft>
                <a:spcPts val="0"/>
              </a:spcAft>
              <a:buNone/>
            </a:pPr>
            <a:r>
              <a:rPr b="0" lang="es-ES" sz="1800" strike="noStrike">
                <a:latin typeface="Arial"/>
                <a:ea typeface="Arial"/>
                <a:cs typeface="Arial"/>
                <a:sym typeface="Arial"/>
              </a:rPr>
              <a:t>	- SELECT</a:t>
            </a:r>
            <a:endParaRPr b="0" sz="1800" strike="noStrike">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1"/>
          <p:cNvSpPr txBox="1"/>
          <p:nvPr/>
        </p:nvSpPr>
        <p:spPr>
          <a:xfrm>
            <a:off x="432000" y="108720"/>
            <a:ext cx="9216000" cy="575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1" lang="es-ES" sz="2400" strike="noStrike">
                <a:latin typeface="Arial"/>
                <a:ea typeface="Arial"/>
                <a:cs typeface="Arial"/>
                <a:sym typeface="Arial"/>
              </a:rPr>
              <a:t>Funciones y sublenguajes (DDL y DML)</a:t>
            </a:r>
            <a:endParaRPr b="0" sz="2400" strike="noStrike">
              <a:latin typeface="Arial"/>
              <a:ea typeface="Arial"/>
              <a:cs typeface="Arial"/>
              <a:sym typeface="Arial"/>
            </a:endParaRPr>
          </a:p>
        </p:txBody>
      </p:sp>
      <p:sp>
        <p:nvSpPr>
          <p:cNvPr id="304" name="Google Shape;304;p41"/>
          <p:cNvSpPr txBox="1"/>
          <p:nvPr/>
        </p:nvSpPr>
        <p:spPr>
          <a:xfrm>
            <a:off x="720000" y="1944000"/>
            <a:ext cx="2955960" cy="17280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s-ES" sz="1800" strike="noStrike">
                <a:latin typeface="Arial"/>
                <a:ea typeface="Arial"/>
                <a:cs typeface="Arial"/>
                <a:sym typeface="Arial"/>
              </a:rPr>
              <a:t>Ejemplo DDL</a:t>
            </a:r>
            <a:endParaRPr b="0" sz="1800" strike="noStrike">
              <a:latin typeface="Arial"/>
              <a:ea typeface="Arial"/>
              <a:cs typeface="Arial"/>
              <a:sym typeface="Arial"/>
            </a:endParaRPr>
          </a:p>
          <a:p>
            <a:pPr indent="0" lvl="0" marL="0" marR="0" rtl="0" algn="l">
              <a:spcBef>
                <a:spcPts val="0"/>
              </a:spcBef>
              <a:spcAft>
                <a:spcPts val="0"/>
              </a:spcAft>
              <a:buNone/>
            </a:pPr>
            <a:r>
              <a:t/>
            </a:r>
            <a:endParaRPr b="0" sz="1800" strike="noStrike">
              <a:latin typeface="Arial"/>
              <a:ea typeface="Arial"/>
              <a:cs typeface="Arial"/>
              <a:sym typeface="Arial"/>
            </a:endParaRPr>
          </a:p>
          <a:p>
            <a:pPr indent="0" lvl="0" marL="0" marR="0" rtl="0" algn="l">
              <a:spcBef>
                <a:spcPts val="0"/>
              </a:spcBef>
              <a:spcAft>
                <a:spcPts val="0"/>
              </a:spcAft>
              <a:buNone/>
            </a:pPr>
            <a:r>
              <a:rPr b="0" lang="es-ES" sz="1800" strike="noStrike">
                <a:latin typeface="Arial"/>
                <a:ea typeface="Arial"/>
                <a:cs typeface="Arial"/>
                <a:sym typeface="Arial"/>
              </a:rPr>
              <a:t>CREATE TABLE  paises  (</a:t>
            </a:r>
            <a:endParaRPr b="0" sz="1800" strike="noStrike">
              <a:latin typeface="Arial"/>
              <a:ea typeface="Arial"/>
              <a:cs typeface="Arial"/>
              <a:sym typeface="Arial"/>
            </a:endParaRPr>
          </a:p>
          <a:p>
            <a:pPr indent="0" lvl="0" marL="0" marR="0" rtl="0" algn="l">
              <a:spcBef>
                <a:spcPts val="0"/>
              </a:spcBef>
              <a:spcAft>
                <a:spcPts val="0"/>
              </a:spcAft>
              <a:buNone/>
            </a:pPr>
            <a:r>
              <a:rPr b="0" lang="es-ES" sz="1800" strike="noStrike">
                <a:latin typeface="Arial"/>
                <a:ea typeface="Arial"/>
                <a:cs typeface="Arial"/>
                <a:sym typeface="Arial"/>
              </a:rPr>
              <a:t>  pais  char(20) NOT NULL,</a:t>
            </a:r>
            <a:endParaRPr b="0" sz="1800" strike="noStrike">
              <a:latin typeface="Arial"/>
              <a:ea typeface="Arial"/>
              <a:cs typeface="Arial"/>
              <a:sym typeface="Arial"/>
            </a:endParaRPr>
          </a:p>
          <a:p>
            <a:pPr indent="0" lvl="0" marL="0" marR="0" rtl="0" algn="l">
              <a:spcBef>
                <a:spcPts val="0"/>
              </a:spcBef>
              <a:spcAft>
                <a:spcPts val="0"/>
              </a:spcAft>
              <a:buNone/>
            </a:pPr>
            <a:r>
              <a:rPr b="0" lang="es-ES" sz="1800" strike="noStrike">
                <a:latin typeface="Arial"/>
                <a:ea typeface="Arial"/>
                <a:cs typeface="Arial"/>
                <a:sym typeface="Arial"/>
              </a:rPr>
              <a:t>  PRIMARY KEY  ( pais )</a:t>
            </a:r>
            <a:endParaRPr b="0" sz="1800" strike="noStrike">
              <a:latin typeface="Arial"/>
              <a:ea typeface="Arial"/>
              <a:cs typeface="Arial"/>
              <a:sym typeface="Arial"/>
            </a:endParaRPr>
          </a:p>
          <a:p>
            <a:pPr indent="0" lvl="0" marL="0" marR="0" rtl="0" algn="l">
              <a:spcBef>
                <a:spcPts val="0"/>
              </a:spcBef>
              <a:spcAft>
                <a:spcPts val="0"/>
              </a:spcAft>
              <a:buNone/>
            </a:pPr>
            <a:r>
              <a:rPr b="0" lang="es-ES" sz="1800" strike="noStrike">
                <a:latin typeface="Arial"/>
                <a:ea typeface="Arial"/>
                <a:cs typeface="Arial"/>
                <a:sym typeface="Arial"/>
              </a:rPr>
              <a:t>) ;</a:t>
            </a:r>
            <a:endParaRPr b="0" sz="1800" strike="noStrike">
              <a:latin typeface="Arial"/>
              <a:ea typeface="Arial"/>
              <a:cs typeface="Arial"/>
              <a:sym typeface="Arial"/>
            </a:endParaRPr>
          </a:p>
        </p:txBody>
      </p:sp>
      <p:sp>
        <p:nvSpPr>
          <p:cNvPr id="305" name="Google Shape;305;p41"/>
          <p:cNvSpPr txBox="1"/>
          <p:nvPr/>
        </p:nvSpPr>
        <p:spPr>
          <a:xfrm>
            <a:off x="4176000" y="1944000"/>
            <a:ext cx="5039280" cy="162612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s-ES" sz="1800" strike="noStrike">
                <a:latin typeface="Arial"/>
                <a:ea typeface="Arial"/>
                <a:cs typeface="Arial"/>
                <a:sym typeface="Arial"/>
              </a:rPr>
              <a:t>Ejemplo DML</a:t>
            </a:r>
            <a:endParaRPr b="0" sz="1800" strike="noStrike">
              <a:latin typeface="Arial"/>
              <a:ea typeface="Arial"/>
              <a:cs typeface="Arial"/>
              <a:sym typeface="Arial"/>
            </a:endParaRPr>
          </a:p>
          <a:p>
            <a:pPr indent="0" lvl="0" marL="0" marR="0" rtl="0" algn="l">
              <a:spcBef>
                <a:spcPts val="0"/>
              </a:spcBef>
              <a:spcAft>
                <a:spcPts val="0"/>
              </a:spcAft>
              <a:buNone/>
            </a:pPr>
            <a:r>
              <a:t/>
            </a:r>
            <a:endParaRPr b="0" sz="1800" strike="noStrike">
              <a:latin typeface="Arial"/>
              <a:ea typeface="Arial"/>
              <a:cs typeface="Arial"/>
              <a:sym typeface="Arial"/>
            </a:endParaRPr>
          </a:p>
          <a:p>
            <a:pPr indent="0" lvl="0" marL="0" marR="0" rtl="0" algn="l">
              <a:spcBef>
                <a:spcPts val="0"/>
              </a:spcBef>
              <a:spcAft>
                <a:spcPts val="0"/>
              </a:spcAft>
              <a:buNone/>
            </a:pPr>
            <a:r>
              <a:rPr b="0" lang="es-ES" sz="1800" strike="noStrike">
                <a:latin typeface="Arial"/>
                <a:ea typeface="Arial"/>
                <a:cs typeface="Arial"/>
                <a:sym typeface="Arial"/>
              </a:rPr>
              <a:t>INSERT INTO  paises  VALUES ('ALEMANIA');</a:t>
            </a:r>
            <a:endParaRPr b="0" sz="1800" strike="noStrike">
              <a:latin typeface="Arial"/>
              <a:ea typeface="Arial"/>
              <a:cs typeface="Arial"/>
              <a:sym typeface="Arial"/>
            </a:endParaRPr>
          </a:p>
          <a:p>
            <a:pPr indent="0" lvl="0" marL="0" marR="0" rtl="0" algn="l">
              <a:spcBef>
                <a:spcPts val="0"/>
              </a:spcBef>
              <a:spcAft>
                <a:spcPts val="0"/>
              </a:spcAft>
              <a:buNone/>
            </a:pPr>
            <a:r>
              <a:rPr b="0" lang="es-ES" sz="1800" strike="noStrike">
                <a:latin typeface="Arial"/>
                <a:ea typeface="Arial"/>
                <a:cs typeface="Arial"/>
                <a:sym typeface="Arial"/>
              </a:rPr>
              <a:t>INSERT INTO  paises  VALUES ('ESPAÑA');</a:t>
            </a:r>
            <a:endParaRPr b="0" sz="1800" strike="noStrike">
              <a:latin typeface="Arial"/>
              <a:ea typeface="Arial"/>
              <a:cs typeface="Arial"/>
              <a:sym typeface="Arial"/>
            </a:endParaRPr>
          </a:p>
          <a:p>
            <a:pPr indent="0" lvl="0" marL="0" marR="0" rtl="0" algn="l">
              <a:spcBef>
                <a:spcPts val="0"/>
              </a:spcBef>
              <a:spcAft>
                <a:spcPts val="0"/>
              </a:spcAft>
              <a:buNone/>
            </a:pPr>
            <a:r>
              <a:rPr b="0" lang="es-ES" sz="1800" strike="noStrike">
                <a:latin typeface="Arial"/>
                <a:ea typeface="Arial"/>
                <a:cs typeface="Arial"/>
                <a:sym typeface="Arial"/>
              </a:rPr>
              <a:t>INSERT INTO  paises  VALUES ('FRANCIA');</a:t>
            </a:r>
            <a:endParaRPr b="0" sz="1800" strike="noStrike">
              <a:latin typeface="Arial"/>
              <a:ea typeface="Arial"/>
              <a:cs typeface="Arial"/>
              <a:sym typeface="Arial"/>
            </a:endParaRPr>
          </a:p>
          <a:p>
            <a:pPr indent="0" lvl="0" marL="0" marR="0" rtl="0" algn="l">
              <a:spcBef>
                <a:spcPts val="0"/>
              </a:spcBef>
              <a:spcAft>
                <a:spcPts val="0"/>
              </a:spcAft>
              <a:buNone/>
            </a:pPr>
            <a:r>
              <a:rPr b="0" lang="es-ES" sz="1800" strike="noStrike">
                <a:latin typeface="Arial"/>
                <a:ea typeface="Arial"/>
                <a:cs typeface="Arial"/>
                <a:sym typeface="Arial"/>
              </a:rPr>
              <a:t>INSERT INTO  paises  VALUES ('PORTUGAL');</a:t>
            </a:r>
            <a:endParaRPr b="0" sz="1800" strike="noStrike">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42"/>
          <p:cNvSpPr txBox="1"/>
          <p:nvPr/>
        </p:nvSpPr>
        <p:spPr>
          <a:xfrm>
            <a:off x="432000" y="108720"/>
            <a:ext cx="9216000" cy="575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1" lang="es-ES" sz="1800" strike="noStrike">
                <a:latin typeface="Arial"/>
                <a:ea typeface="Arial"/>
                <a:cs typeface="Arial"/>
                <a:sym typeface="Arial"/>
              </a:rPr>
              <a:t> Modelos de Datos Conceptuales, físicos y lógicos</a:t>
            </a:r>
            <a:endParaRPr b="0" sz="1800" strike="noStrike">
              <a:latin typeface="Arial"/>
              <a:ea typeface="Arial"/>
              <a:cs typeface="Arial"/>
              <a:sym typeface="Arial"/>
            </a:endParaRPr>
          </a:p>
        </p:txBody>
      </p:sp>
      <p:pic>
        <p:nvPicPr>
          <p:cNvPr id="311" name="Google Shape;311;p42"/>
          <p:cNvPicPr preferRelativeResize="0"/>
          <p:nvPr/>
        </p:nvPicPr>
        <p:blipFill rotWithShape="1">
          <a:blip r:embed="rId3">
            <a:alphaModFix/>
          </a:blip>
          <a:srcRect b="0" l="0" r="0" t="0"/>
          <a:stretch/>
        </p:blipFill>
        <p:spPr>
          <a:xfrm>
            <a:off x="742680" y="1987920"/>
            <a:ext cx="2857320" cy="2476080"/>
          </a:xfrm>
          <a:prstGeom prst="rect">
            <a:avLst/>
          </a:prstGeom>
          <a:noFill/>
          <a:ln>
            <a:noFill/>
          </a:ln>
        </p:spPr>
      </p:pic>
      <p:sp>
        <p:nvSpPr>
          <p:cNvPr id="312" name="Google Shape;312;p42"/>
          <p:cNvSpPr txBox="1"/>
          <p:nvPr/>
        </p:nvSpPr>
        <p:spPr>
          <a:xfrm>
            <a:off x="3600000" y="2376000"/>
            <a:ext cx="5994000" cy="273204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0" lang="es-ES" sz="1400" strike="noStrike">
                <a:latin typeface="Arial"/>
                <a:ea typeface="Arial"/>
                <a:cs typeface="Arial"/>
                <a:sym typeface="Arial"/>
              </a:rPr>
              <a:t>Un modelo conceptual de datos identifica las relaciones de más alto nivel entre las diferentes entidades.</a:t>
            </a:r>
            <a:endParaRPr b="0" sz="1400" strike="noStrike">
              <a:latin typeface="Arial"/>
              <a:ea typeface="Arial"/>
              <a:cs typeface="Arial"/>
              <a:sym typeface="Arial"/>
            </a:endParaRPr>
          </a:p>
          <a:p>
            <a:pPr indent="0" lvl="0" marL="0" marR="0" rtl="0" algn="l">
              <a:spcBef>
                <a:spcPts val="0"/>
              </a:spcBef>
              <a:spcAft>
                <a:spcPts val="0"/>
              </a:spcAft>
              <a:buNone/>
            </a:pPr>
            <a:r>
              <a:rPr b="0" lang="es-ES" sz="1400" strike="noStrike">
                <a:latin typeface="Arial"/>
                <a:ea typeface="Arial"/>
                <a:cs typeface="Arial"/>
                <a:sym typeface="Arial"/>
              </a:rPr>
              <a:t>Las características del modelo conceptual de datos incluyen:</a:t>
            </a:r>
            <a:endParaRPr b="0" sz="1400" strike="noStrike">
              <a:latin typeface="Arial"/>
              <a:ea typeface="Arial"/>
              <a:cs typeface="Arial"/>
              <a:sym typeface="Arial"/>
            </a:endParaRPr>
          </a:p>
          <a:p>
            <a:pPr indent="0" lvl="0" marL="0" marR="0" rtl="0" algn="l">
              <a:spcBef>
                <a:spcPts val="0"/>
              </a:spcBef>
              <a:spcAft>
                <a:spcPts val="0"/>
              </a:spcAft>
              <a:buNone/>
            </a:pPr>
            <a:r>
              <a:rPr b="0" lang="es-ES" sz="1400" strike="noStrike">
                <a:latin typeface="Arial"/>
                <a:ea typeface="Arial"/>
                <a:cs typeface="Arial"/>
                <a:sym typeface="Arial"/>
              </a:rPr>
              <a:t>Incluye las entidades importantes y las relaciones entre ellas.</a:t>
            </a:r>
            <a:endParaRPr b="0" sz="1400" strike="noStrike">
              <a:latin typeface="Arial"/>
              <a:ea typeface="Arial"/>
              <a:cs typeface="Arial"/>
              <a:sym typeface="Arial"/>
            </a:endParaRPr>
          </a:p>
          <a:p>
            <a:pPr indent="0" lvl="0" marL="0" marR="0" rtl="0" algn="l">
              <a:spcBef>
                <a:spcPts val="0"/>
              </a:spcBef>
              <a:spcAft>
                <a:spcPts val="0"/>
              </a:spcAft>
              <a:buNone/>
            </a:pPr>
            <a:r>
              <a:rPr b="0" lang="es-ES" sz="1400" strike="noStrike">
                <a:latin typeface="Arial"/>
                <a:ea typeface="Arial"/>
                <a:cs typeface="Arial"/>
                <a:sym typeface="Arial"/>
              </a:rPr>
              <a:t>No se especifica ningún atributo.</a:t>
            </a:r>
            <a:endParaRPr b="0" sz="1400" strike="noStrike">
              <a:latin typeface="Arial"/>
              <a:ea typeface="Arial"/>
              <a:cs typeface="Arial"/>
              <a:sym typeface="Arial"/>
            </a:endParaRPr>
          </a:p>
          <a:p>
            <a:pPr indent="0" lvl="0" marL="0" marR="0" rtl="0" algn="l">
              <a:spcBef>
                <a:spcPts val="0"/>
              </a:spcBef>
              <a:spcAft>
                <a:spcPts val="0"/>
              </a:spcAft>
              <a:buNone/>
            </a:pPr>
            <a:r>
              <a:rPr b="0" lang="es-ES" sz="1400" strike="noStrike">
                <a:latin typeface="Arial"/>
                <a:ea typeface="Arial"/>
                <a:cs typeface="Arial"/>
                <a:sym typeface="Arial"/>
              </a:rPr>
              <a:t>No se especifica ninguna clave principal.</a:t>
            </a:r>
            <a:endParaRPr b="0" sz="1400" strike="noStrike">
              <a:latin typeface="Arial"/>
              <a:ea typeface="Arial"/>
              <a:cs typeface="Arial"/>
              <a:sym typeface="Arial"/>
            </a:endParaRPr>
          </a:p>
          <a:p>
            <a:pPr indent="0" lvl="0" marL="0" marR="0" rtl="0" algn="l">
              <a:spcBef>
                <a:spcPts val="0"/>
              </a:spcBef>
              <a:spcAft>
                <a:spcPts val="0"/>
              </a:spcAft>
              <a:buNone/>
            </a:pPr>
            <a:r>
              <a:t/>
            </a:r>
            <a:endParaRPr b="0" sz="1400" strike="noStrike">
              <a:latin typeface="Arial"/>
              <a:ea typeface="Arial"/>
              <a:cs typeface="Arial"/>
              <a:sym typeface="Arial"/>
            </a:endParaRPr>
          </a:p>
        </p:txBody>
      </p:sp>
      <p:sp>
        <p:nvSpPr>
          <p:cNvPr id="313" name="Google Shape;313;p42"/>
          <p:cNvSpPr txBox="1"/>
          <p:nvPr/>
        </p:nvSpPr>
        <p:spPr>
          <a:xfrm>
            <a:off x="720000" y="1224000"/>
            <a:ext cx="2253240" cy="34632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s-ES" sz="1800" strike="noStrike">
                <a:latin typeface="Arial"/>
                <a:ea typeface="Arial"/>
                <a:cs typeface="Arial"/>
                <a:sym typeface="Arial"/>
              </a:rPr>
              <a:t>Modelo conceptual</a:t>
            </a:r>
            <a:endParaRPr b="0" sz="1800" strike="noStrike">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3"/>
          <p:cNvSpPr txBox="1"/>
          <p:nvPr/>
        </p:nvSpPr>
        <p:spPr>
          <a:xfrm>
            <a:off x="432000" y="108720"/>
            <a:ext cx="9216000" cy="575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1" lang="es-ES" sz="1800" strike="noStrike">
                <a:latin typeface="Arial"/>
                <a:ea typeface="Arial"/>
                <a:cs typeface="Arial"/>
                <a:sym typeface="Arial"/>
              </a:rPr>
              <a:t> Modelos de Datos Conceptuales, físicos y lógicos</a:t>
            </a:r>
            <a:endParaRPr b="0" sz="1800" strike="noStrike">
              <a:latin typeface="Arial"/>
              <a:ea typeface="Arial"/>
              <a:cs typeface="Arial"/>
              <a:sym typeface="Arial"/>
            </a:endParaRPr>
          </a:p>
        </p:txBody>
      </p:sp>
      <p:sp>
        <p:nvSpPr>
          <p:cNvPr id="319" name="Google Shape;319;p43"/>
          <p:cNvSpPr txBox="1"/>
          <p:nvPr/>
        </p:nvSpPr>
        <p:spPr>
          <a:xfrm>
            <a:off x="5166000" y="1944000"/>
            <a:ext cx="4482000" cy="273204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0" lang="es-ES" sz="1000" strike="noStrike">
                <a:latin typeface="Arial"/>
                <a:ea typeface="Arial"/>
                <a:cs typeface="Arial"/>
                <a:sym typeface="Arial"/>
              </a:rPr>
              <a:t>Descripción de la estructura de la base de datos según el modelo del SGBD que se vaya a utilizar.</a:t>
            </a:r>
            <a:endParaRPr b="0" sz="1000" strike="noStrike">
              <a:latin typeface="Arial"/>
              <a:ea typeface="Arial"/>
              <a:cs typeface="Arial"/>
              <a:sym typeface="Arial"/>
            </a:endParaRPr>
          </a:p>
          <a:p>
            <a:pPr indent="0" lvl="0" marL="0" marR="0" rtl="0" algn="l">
              <a:spcBef>
                <a:spcPts val="0"/>
              </a:spcBef>
              <a:spcAft>
                <a:spcPts val="0"/>
              </a:spcAft>
              <a:buNone/>
            </a:pPr>
            <a:r>
              <a:rPr b="0" lang="es-ES" sz="1000" strike="noStrike">
                <a:latin typeface="Arial"/>
                <a:ea typeface="Arial"/>
                <a:cs typeface="Arial"/>
                <a:sym typeface="Arial"/>
              </a:rPr>
              <a:t>Modelo lógico: Lenguaje que se utiliza para describir esquemas lógicos; hay varios modelos lógicos: de red, relacional, orientado a objetos, ...</a:t>
            </a:r>
            <a:endParaRPr b="0" sz="1000" strike="noStrike">
              <a:latin typeface="Arial"/>
              <a:ea typeface="Arial"/>
              <a:cs typeface="Arial"/>
              <a:sym typeface="Arial"/>
            </a:endParaRPr>
          </a:p>
          <a:p>
            <a:pPr indent="0" lvl="0" marL="0" marR="0" rtl="0" algn="l">
              <a:spcBef>
                <a:spcPts val="0"/>
              </a:spcBef>
              <a:spcAft>
                <a:spcPts val="0"/>
              </a:spcAft>
              <a:buNone/>
            </a:pPr>
            <a:r>
              <a:rPr b="0" lang="es-ES" sz="1000" strike="noStrike">
                <a:latin typeface="Arial"/>
                <a:ea typeface="Arial"/>
                <a:cs typeface="Arial"/>
                <a:sym typeface="Arial"/>
              </a:rPr>
              <a:t>Un modelo de base de datos física muestra todas las estructuras de tabla, incluidos el nombre de columna, el tipo de datos de columna, las restricciones de columna, la clave principal, la clave externa y las relaciones entre las tablas.</a:t>
            </a:r>
            <a:endParaRPr b="0" sz="1000" strike="noStrike">
              <a:latin typeface="Arial"/>
              <a:ea typeface="Arial"/>
              <a:cs typeface="Arial"/>
              <a:sym typeface="Arial"/>
            </a:endParaRPr>
          </a:p>
          <a:p>
            <a:pPr indent="0" lvl="0" marL="0" marR="0" rtl="0" algn="l">
              <a:spcBef>
                <a:spcPts val="0"/>
              </a:spcBef>
              <a:spcAft>
                <a:spcPts val="0"/>
              </a:spcAft>
              <a:buNone/>
            </a:pPr>
            <a:r>
              <a:rPr b="0" lang="es-ES" sz="1000" strike="noStrike">
                <a:latin typeface="Arial"/>
                <a:ea typeface="Arial"/>
                <a:cs typeface="Arial"/>
                <a:sym typeface="Arial"/>
              </a:rPr>
              <a:t>El objetivo es obtener una representación que use de la manera más eficiente los recursos disponibles en el modelo lógico para estructurar datos y modelar restricciones.</a:t>
            </a:r>
            <a:endParaRPr b="0" sz="1000" strike="noStrike">
              <a:latin typeface="Arial"/>
              <a:ea typeface="Arial"/>
              <a:cs typeface="Arial"/>
              <a:sym typeface="Arial"/>
            </a:endParaRPr>
          </a:p>
          <a:p>
            <a:pPr indent="0" lvl="0" marL="0" marR="0" rtl="0" algn="l">
              <a:spcBef>
                <a:spcPts val="0"/>
              </a:spcBef>
              <a:spcAft>
                <a:spcPts val="0"/>
              </a:spcAft>
              <a:buNone/>
            </a:pPr>
            <a:r>
              <a:t/>
            </a:r>
            <a:endParaRPr b="0" sz="1000" strike="noStrike">
              <a:latin typeface="Arial"/>
              <a:ea typeface="Arial"/>
              <a:cs typeface="Arial"/>
              <a:sym typeface="Arial"/>
            </a:endParaRPr>
          </a:p>
        </p:txBody>
      </p:sp>
      <p:sp>
        <p:nvSpPr>
          <p:cNvPr id="320" name="Google Shape;320;p43"/>
          <p:cNvSpPr txBox="1"/>
          <p:nvPr/>
        </p:nvSpPr>
        <p:spPr>
          <a:xfrm>
            <a:off x="720000" y="1224000"/>
            <a:ext cx="1721520" cy="34632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s-ES" sz="1800" strike="noStrike">
                <a:latin typeface="Arial"/>
                <a:ea typeface="Arial"/>
                <a:cs typeface="Arial"/>
                <a:sym typeface="Arial"/>
              </a:rPr>
              <a:t>Modelo lógico</a:t>
            </a:r>
            <a:endParaRPr b="0" sz="1800" strike="noStrike">
              <a:latin typeface="Arial"/>
              <a:ea typeface="Arial"/>
              <a:cs typeface="Arial"/>
              <a:sym typeface="Arial"/>
            </a:endParaRPr>
          </a:p>
        </p:txBody>
      </p:sp>
      <p:pic>
        <p:nvPicPr>
          <p:cNvPr id="321" name="Google Shape;321;p43"/>
          <p:cNvPicPr preferRelativeResize="0"/>
          <p:nvPr/>
        </p:nvPicPr>
        <p:blipFill rotWithShape="1">
          <a:blip r:embed="rId3">
            <a:alphaModFix/>
          </a:blip>
          <a:srcRect b="0" l="0" r="0" t="0"/>
          <a:stretch/>
        </p:blipFill>
        <p:spPr>
          <a:xfrm>
            <a:off x="792000" y="1800000"/>
            <a:ext cx="3425400" cy="28800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44"/>
          <p:cNvSpPr txBox="1"/>
          <p:nvPr/>
        </p:nvSpPr>
        <p:spPr>
          <a:xfrm>
            <a:off x="432000" y="108720"/>
            <a:ext cx="9216000" cy="575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1" lang="es-ES" sz="1800" strike="noStrike">
                <a:latin typeface="Arial"/>
                <a:ea typeface="Arial"/>
                <a:cs typeface="Arial"/>
                <a:sym typeface="Arial"/>
              </a:rPr>
              <a:t> Modelos de Datos Conceptuales, físicos y lógicos</a:t>
            </a:r>
            <a:endParaRPr b="0" sz="1800" strike="noStrike">
              <a:latin typeface="Arial"/>
              <a:ea typeface="Arial"/>
              <a:cs typeface="Arial"/>
              <a:sym typeface="Arial"/>
            </a:endParaRPr>
          </a:p>
        </p:txBody>
      </p:sp>
      <p:sp>
        <p:nvSpPr>
          <p:cNvPr id="327" name="Google Shape;327;p44"/>
          <p:cNvSpPr txBox="1"/>
          <p:nvPr/>
        </p:nvSpPr>
        <p:spPr>
          <a:xfrm>
            <a:off x="3744000" y="1296000"/>
            <a:ext cx="5994000" cy="344628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0" lang="es-ES" sz="1000" strike="noStrike">
                <a:latin typeface="Arial"/>
                <a:ea typeface="Arial"/>
                <a:cs typeface="Arial"/>
                <a:sym typeface="Arial"/>
              </a:rPr>
              <a:t>Descripción de la implantación de una BD en la memoria secundaria: estructuras de almacenamiento y métodos usados para tener un acceso efectivo a los datos. El diseño físico se adapta al SGBD específico que se va a utilizar.</a:t>
            </a:r>
            <a:endParaRPr b="0" sz="1000" strike="noStrike">
              <a:latin typeface="Arial"/>
              <a:ea typeface="Arial"/>
              <a:cs typeface="Arial"/>
              <a:sym typeface="Arial"/>
            </a:endParaRPr>
          </a:p>
          <a:p>
            <a:pPr indent="0" lvl="0" marL="0" marR="0" rtl="0" algn="l">
              <a:spcBef>
                <a:spcPts val="0"/>
              </a:spcBef>
              <a:spcAft>
                <a:spcPts val="0"/>
              </a:spcAft>
              <a:buNone/>
            </a:pPr>
            <a:r>
              <a:rPr b="0" lang="es-ES" sz="1000" strike="noStrike">
                <a:latin typeface="Arial"/>
                <a:ea typeface="Arial"/>
                <a:cs typeface="Arial"/>
                <a:sym typeface="Arial"/>
              </a:rPr>
              <a:t>Se expresa haciendo uso del lenguaje de definición de datos del SGBD.</a:t>
            </a:r>
            <a:endParaRPr b="0" sz="1000" strike="noStrike">
              <a:latin typeface="Arial"/>
              <a:ea typeface="Arial"/>
              <a:cs typeface="Arial"/>
              <a:sym typeface="Arial"/>
            </a:endParaRPr>
          </a:p>
          <a:p>
            <a:pPr indent="0" lvl="0" marL="0" marR="0" rtl="0" algn="l">
              <a:spcBef>
                <a:spcPts val="0"/>
              </a:spcBef>
              <a:spcAft>
                <a:spcPts val="0"/>
              </a:spcAft>
              <a:buNone/>
            </a:pPr>
            <a:r>
              <a:rPr b="0" lang="es-ES" sz="1000" strike="noStrike">
                <a:latin typeface="Arial"/>
                <a:ea typeface="Arial"/>
                <a:cs typeface="Arial"/>
                <a:sym typeface="Arial"/>
              </a:rPr>
              <a:t>Las características de un modelo de datos lógicos incluyen:</a:t>
            </a:r>
            <a:endParaRPr b="0" sz="1000" strike="noStrike">
              <a:latin typeface="Arial"/>
              <a:ea typeface="Arial"/>
              <a:cs typeface="Arial"/>
              <a:sym typeface="Arial"/>
            </a:endParaRPr>
          </a:p>
          <a:p>
            <a:pPr indent="-216000" lvl="0" marL="216000" marR="0" rtl="0" algn="l">
              <a:spcBef>
                <a:spcPts val="1191"/>
              </a:spcBef>
              <a:spcAft>
                <a:spcPts val="0"/>
              </a:spcAft>
              <a:buClr>
                <a:srgbClr val="000000"/>
              </a:buClr>
              <a:buSzPts val="450"/>
              <a:buFont typeface="Noto Sans Symbols"/>
              <a:buChar char="●"/>
            </a:pPr>
            <a:r>
              <a:rPr b="0" lang="es-ES" sz="1000" strike="noStrike">
                <a:latin typeface="Arial"/>
                <a:ea typeface="Arial"/>
                <a:cs typeface="Arial"/>
                <a:sym typeface="Arial"/>
              </a:rPr>
              <a:t>    Incluye todas las entidades y relaciones entre ellos.</a:t>
            </a:r>
            <a:endParaRPr b="0" sz="1000" strike="noStrike">
              <a:latin typeface="Arial"/>
              <a:ea typeface="Arial"/>
              <a:cs typeface="Arial"/>
              <a:sym typeface="Arial"/>
            </a:endParaRPr>
          </a:p>
          <a:p>
            <a:pPr indent="-216000" lvl="0" marL="216000" marR="0" rtl="0" algn="l">
              <a:spcBef>
                <a:spcPts val="2183"/>
              </a:spcBef>
              <a:spcAft>
                <a:spcPts val="0"/>
              </a:spcAft>
              <a:buClr>
                <a:srgbClr val="000000"/>
              </a:buClr>
              <a:buSzPts val="450"/>
              <a:buFont typeface="Noto Sans Symbols"/>
              <a:buChar char="●"/>
            </a:pPr>
            <a:r>
              <a:rPr b="0" lang="es-ES" sz="1000" strike="noStrike">
                <a:latin typeface="Arial"/>
                <a:ea typeface="Arial"/>
                <a:cs typeface="Arial"/>
                <a:sym typeface="Arial"/>
              </a:rPr>
              <a:t>    Todos los atributos para cada entidad están especificados.</a:t>
            </a:r>
            <a:endParaRPr b="0" sz="1000" strike="noStrike">
              <a:latin typeface="Arial"/>
              <a:ea typeface="Arial"/>
              <a:cs typeface="Arial"/>
              <a:sym typeface="Arial"/>
            </a:endParaRPr>
          </a:p>
          <a:p>
            <a:pPr indent="-216000" lvl="0" marL="216000" marR="0" rtl="0" algn="l">
              <a:spcBef>
                <a:spcPts val="2183"/>
              </a:spcBef>
              <a:spcAft>
                <a:spcPts val="0"/>
              </a:spcAft>
              <a:buClr>
                <a:srgbClr val="000000"/>
              </a:buClr>
              <a:buSzPts val="450"/>
              <a:buFont typeface="Noto Sans Symbols"/>
              <a:buChar char="●"/>
            </a:pPr>
            <a:r>
              <a:rPr b="0" lang="es-ES" sz="1000" strike="noStrike">
                <a:latin typeface="Arial"/>
                <a:ea typeface="Arial"/>
                <a:cs typeface="Arial"/>
                <a:sym typeface="Arial"/>
              </a:rPr>
              <a:t>    La clave principal para cada entidad está especificada.</a:t>
            </a:r>
            <a:endParaRPr b="0" sz="1000" strike="noStrike">
              <a:latin typeface="Arial"/>
              <a:ea typeface="Arial"/>
              <a:cs typeface="Arial"/>
              <a:sym typeface="Arial"/>
            </a:endParaRPr>
          </a:p>
          <a:p>
            <a:pPr indent="-216000" lvl="0" marL="216000" marR="0" rtl="0" algn="l">
              <a:spcBef>
                <a:spcPts val="2183"/>
              </a:spcBef>
              <a:spcAft>
                <a:spcPts val="0"/>
              </a:spcAft>
              <a:buClr>
                <a:srgbClr val="000000"/>
              </a:buClr>
              <a:buSzPts val="450"/>
              <a:buFont typeface="Noto Sans Symbols"/>
              <a:buChar char="●"/>
            </a:pPr>
            <a:r>
              <a:rPr b="0" lang="es-ES" sz="1000" strike="noStrike">
                <a:latin typeface="Arial"/>
                <a:ea typeface="Arial"/>
                <a:cs typeface="Arial"/>
                <a:sym typeface="Arial"/>
              </a:rPr>
              <a:t>    Se especifican las claves externas (claves que identifican la relación entre diferentes entidades).</a:t>
            </a:r>
            <a:endParaRPr b="0" sz="1000" strike="noStrike">
              <a:latin typeface="Arial"/>
              <a:ea typeface="Arial"/>
              <a:cs typeface="Arial"/>
              <a:sym typeface="Arial"/>
            </a:endParaRPr>
          </a:p>
          <a:p>
            <a:pPr indent="-216000" lvl="0" marL="216000" marR="0" rtl="0" algn="l">
              <a:spcBef>
                <a:spcPts val="2183"/>
              </a:spcBef>
              <a:spcAft>
                <a:spcPts val="0"/>
              </a:spcAft>
              <a:buClr>
                <a:srgbClr val="000000"/>
              </a:buClr>
              <a:buSzPts val="450"/>
              <a:buFont typeface="Noto Sans Symbols"/>
              <a:buChar char="●"/>
            </a:pPr>
            <a:r>
              <a:rPr b="0" lang="es-ES" sz="1000" strike="noStrike">
                <a:latin typeface="Arial"/>
                <a:ea typeface="Arial"/>
                <a:cs typeface="Arial"/>
                <a:sym typeface="Arial"/>
              </a:rPr>
              <a:t>    La normalización ocurre en este nivel.</a:t>
            </a:r>
            <a:endParaRPr b="0" sz="1000" strike="noStrike">
              <a:latin typeface="Arial"/>
              <a:ea typeface="Arial"/>
              <a:cs typeface="Arial"/>
              <a:sym typeface="Arial"/>
            </a:endParaRPr>
          </a:p>
          <a:p>
            <a:pPr indent="-187425" lvl="0" marL="216000" marR="0" rtl="0" algn="l">
              <a:spcBef>
                <a:spcPts val="2183"/>
              </a:spcBef>
              <a:spcAft>
                <a:spcPts val="0"/>
              </a:spcAft>
              <a:buClr>
                <a:srgbClr val="000000"/>
              </a:buClr>
              <a:buSzPts val="450"/>
              <a:buFont typeface="Noto Sans Symbols"/>
              <a:buNone/>
            </a:pPr>
            <a:r>
              <a:t/>
            </a:r>
            <a:endParaRPr b="0" sz="1000" strike="noStrike">
              <a:latin typeface="Arial"/>
              <a:ea typeface="Arial"/>
              <a:cs typeface="Arial"/>
              <a:sym typeface="Arial"/>
            </a:endParaRPr>
          </a:p>
          <a:p>
            <a:pPr indent="0" lvl="0" marL="0" marR="0" rtl="0" algn="l">
              <a:spcBef>
                <a:spcPts val="992"/>
              </a:spcBef>
              <a:spcAft>
                <a:spcPts val="0"/>
              </a:spcAft>
              <a:buNone/>
            </a:pPr>
            <a:r>
              <a:t/>
            </a:r>
            <a:endParaRPr b="0" sz="1000" strike="noStrike">
              <a:latin typeface="Arial"/>
              <a:ea typeface="Arial"/>
              <a:cs typeface="Arial"/>
              <a:sym typeface="Arial"/>
            </a:endParaRPr>
          </a:p>
          <a:p>
            <a:pPr indent="0" lvl="0" marL="0" marR="0" rtl="0" algn="l">
              <a:spcBef>
                <a:spcPts val="0"/>
              </a:spcBef>
              <a:spcAft>
                <a:spcPts val="0"/>
              </a:spcAft>
              <a:buNone/>
            </a:pPr>
            <a:r>
              <a:t/>
            </a:r>
            <a:endParaRPr b="0" sz="1000" strike="noStrike">
              <a:latin typeface="Arial"/>
              <a:ea typeface="Arial"/>
              <a:cs typeface="Arial"/>
              <a:sym typeface="Arial"/>
            </a:endParaRPr>
          </a:p>
        </p:txBody>
      </p:sp>
      <p:sp>
        <p:nvSpPr>
          <p:cNvPr id="328" name="Google Shape;328;p44"/>
          <p:cNvSpPr txBox="1"/>
          <p:nvPr/>
        </p:nvSpPr>
        <p:spPr>
          <a:xfrm>
            <a:off x="720000" y="1224000"/>
            <a:ext cx="1643760" cy="34632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s-ES" sz="1800" strike="noStrike">
                <a:latin typeface="Arial"/>
                <a:ea typeface="Arial"/>
                <a:cs typeface="Arial"/>
                <a:sym typeface="Arial"/>
              </a:rPr>
              <a:t>Modelo físico</a:t>
            </a:r>
            <a:endParaRPr b="0" sz="1800" strike="noStrike">
              <a:latin typeface="Arial"/>
              <a:ea typeface="Arial"/>
              <a:cs typeface="Arial"/>
              <a:sym typeface="Arial"/>
            </a:endParaRPr>
          </a:p>
        </p:txBody>
      </p:sp>
      <p:pic>
        <p:nvPicPr>
          <p:cNvPr id="329" name="Google Shape;329;p44"/>
          <p:cNvPicPr preferRelativeResize="0"/>
          <p:nvPr/>
        </p:nvPicPr>
        <p:blipFill rotWithShape="1">
          <a:blip r:embed="rId3">
            <a:alphaModFix/>
          </a:blip>
          <a:srcRect b="0" l="0" r="0" t="0"/>
          <a:stretch/>
        </p:blipFill>
        <p:spPr>
          <a:xfrm>
            <a:off x="694800" y="1918800"/>
            <a:ext cx="2617200" cy="26172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45"/>
          <p:cNvSpPr txBox="1"/>
          <p:nvPr/>
        </p:nvSpPr>
        <p:spPr>
          <a:xfrm>
            <a:off x="432000" y="108720"/>
            <a:ext cx="9216000" cy="575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1" lang="es-ES" sz="1800" strike="noStrike">
                <a:latin typeface="Arial"/>
                <a:ea typeface="Arial"/>
                <a:cs typeface="Arial"/>
                <a:sym typeface="Arial"/>
              </a:rPr>
              <a:t> Modelos de Datos Conceptuales, físicos y lógicos</a:t>
            </a:r>
            <a:endParaRPr b="0" sz="1800" strike="noStrike">
              <a:latin typeface="Arial"/>
              <a:ea typeface="Arial"/>
              <a:cs typeface="Arial"/>
              <a:sym typeface="Arial"/>
            </a:endParaRPr>
          </a:p>
        </p:txBody>
      </p:sp>
      <p:sp>
        <p:nvSpPr>
          <p:cNvPr id="335" name="Google Shape;335;p45"/>
          <p:cNvSpPr txBox="1"/>
          <p:nvPr/>
        </p:nvSpPr>
        <p:spPr>
          <a:xfrm>
            <a:off x="696240" y="864000"/>
            <a:ext cx="2975760" cy="34632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s-ES" sz="1800" strike="noStrike">
                <a:latin typeface="Arial"/>
                <a:ea typeface="Arial"/>
                <a:cs typeface="Arial"/>
                <a:sym typeface="Arial"/>
              </a:rPr>
              <a:t>Comparación de modelos</a:t>
            </a:r>
            <a:endParaRPr b="0" sz="1800" strike="noStrike">
              <a:latin typeface="Arial"/>
              <a:ea typeface="Arial"/>
              <a:cs typeface="Arial"/>
              <a:sym typeface="Arial"/>
            </a:endParaRPr>
          </a:p>
        </p:txBody>
      </p:sp>
      <p:graphicFrame>
        <p:nvGraphicFramePr>
          <p:cNvPr id="336" name="Google Shape;336;p45"/>
          <p:cNvGraphicFramePr/>
          <p:nvPr/>
        </p:nvGraphicFramePr>
        <p:xfrm>
          <a:off x="581760" y="1508040"/>
          <a:ext cx="3000000" cy="3000000"/>
        </p:xfrm>
        <a:graphic>
          <a:graphicData uri="http://schemas.openxmlformats.org/drawingml/2006/table">
            <a:tbl>
              <a:tblPr>
                <a:noFill/>
                <a:tableStyleId>{9451CCBE-08B7-4547-8EA2-F0E2F9F66573}</a:tableStyleId>
              </a:tblPr>
              <a:tblGrid>
                <a:gridCol w="3656875"/>
                <a:gridCol w="2301850"/>
                <a:gridCol w="1873450"/>
                <a:gridCol w="1450075"/>
              </a:tblGrid>
              <a:tr h="349200">
                <a:tc>
                  <a:txBody>
                    <a:bodyPr/>
                    <a:lstStyle/>
                    <a:p>
                      <a:pPr indent="0" lvl="0" marL="0" marR="0" rtl="0" algn="l">
                        <a:spcBef>
                          <a:spcPts val="0"/>
                        </a:spcBef>
                        <a:spcAft>
                          <a:spcPts val="0"/>
                        </a:spcAft>
                        <a:buNone/>
                      </a:pPr>
                      <a:r>
                        <a:rPr b="1" lang="es-ES" sz="1800" strike="noStrike">
                          <a:latin typeface="Arial"/>
                          <a:ea typeface="Arial"/>
                          <a:cs typeface="Arial"/>
                          <a:sym typeface="Arial"/>
                        </a:rPr>
                        <a:t>Característica</a:t>
                      </a:r>
                      <a:endParaRPr b="0" sz="1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c>
                  <a:txBody>
                    <a:bodyPr/>
                    <a:lstStyle/>
                    <a:p>
                      <a:pPr indent="0" lvl="0" marL="0" marR="0" rtl="0" algn="l">
                        <a:spcBef>
                          <a:spcPts val="0"/>
                        </a:spcBef>
                        <a:spcAft>
                          <a:spcPts val="0"/>
                        </a:spcAft>
                        <a:buNone/>
                      </a:pPr>
                      <a:r>
                        <a:rPr b="1" lang="es-ES" sz="1800" strike="noStrike">
                          <a:latin typeface="Arial"/>
                          <a:ea typeface="Arial"/>
                          <a:cs typeface="Arial"/>
                          <a:sym typeface="Arial"/>
                        </a:rPr>
                        <a:t>Conceptual</a:t>
                      </a:r>
                      <a:endParaRPr b="0" sz="1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c>
                  <a:txBody>
                    <a:bodyPr/>
                    <a:lstStyle/>
                    <a:p>
                      <a:pPr indent="0" lvl="0" marL="0" marR="0" rtl="0" algn="l">
                        <a:spcBef>
                          <a:spcPts val="0"/>
                        </a:spcBef>
                        <a:spcAft>
                          <a:spcPts val="0"/>
                        </a:spcAft>
                        <a:buNone/>
                      </a:pPr>
                      <a:r>
                        <a:rPr b="1" lang="es-ES" sz="1800" strike="noStrike">
                          <a:latin typeface="Arial"/>
                          <a:ea typeface="Arial"/>
                          <a:cs typeface="Arial"/>
                          <a:sym typeface="Arial"/>
                        </a:rPr>
                        <a:t>Lógico</a:t>
                      </a:r>
                      <a:endParaRPr b="0" sz="1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c>
                  <a:txBody>
                    <a:bodyPr/>
                    <a:lstStyle/>
                    <a:p>
                      <a:pPr indent="0" lvl="0" marL="0" marR="0" rtl="0" algn="l">
                        <a:lnSpc>
                          <a:spcPct val="100000"/>
                        </a:lnSpc>
                        <a:spcBef>
                          <a:spcPts val="0"/>
                        </a:spcBef>
                        <a:spcAft>
                          <a:spcPts val="0"/>
                        </a:spcAft>
                        <a:buNone/>
                      </a:pPr>
                      <a:r>
                        <a:rPr b="1" lang="es-ES" sz="1800" strike="noStrike">
                          <a:latin typeface="Arial"/>
                          <a:ea typeface="Arial"/>
                          <a:cs typeface="Arial"/>
                          <a:sym typeface="Arial"/>
                        </a:rPr>
                        <a:t>Físico</a:t>
                      </a:r>
                      <a:endParaRPr b="0" sz="1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B3B3B3"/>
                    </a:solidFill>
                  </a:tcPr>
                </a:tc>
              </a:tr>
              <a:tr h="349925">
                <a:tc>
                  <a:txBody>
                    <a:bodyPr/>
                    <a:lstStyle/>
                    <a:p>
                      <a:pPr indent="0" lvl="0" marL="0" marR="0" rtl="0" algn="l">
                        <a:spcBef>
                          <a:spcPts val="0"/>
                        </a:spcBef>
                        <a:spcAft>
                          <a:spcPts val="0"/>
                        </a:spcAft>
                        <a:buNone/>
                      </a:pPr>
                      <a:r>
                        <a:rPr b="0" lang="es-ES" sz="1800" strike="noStrike">
                          <a:latin typeface="Arial"/>
                          <a:ea typeface="Arial"/>
                          <a:cs typeface="Arial"/>
                          <a:sym typeface="Arial"/>
                        </a:rPr>
                        <a:t>Nombres entidades</a:t>
                      </a:r>
                      <a:endParaRPr b="0" sz="1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ctr">
                        <a:spcBef>
                          <a:spcPts val="0"/>
                        </a:spcBef>
                        <a:spcAft>
                          <a:spcPts val="0"/>
                        </a:spcAft>
                        <a:buNone/>
                      </a:pPr>
                      <a:r>
                        <a:rPr b="0" lang="es-ES" sz="1800" strike="noStrike">
                          <a:latin typeface="Arial"/>
                          <a:ea typeface="Arial"/>
                          <a:cs typeface="Arial"/>
                          <a:sym typeface="Arial"/>
                        </a:rPr>
                        <a:t>x</a:t>
                      </a:r>
                      <a:endParaRPr b="0" sz="1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ctr">
                        <a:spcBef>
                          <a:spcPts val="0"/>
                        </a:spcBef>
                        <a:spcAft>
                          <a:spcPts val="0"/>
                        </a:spcAft>
                        <a:buNone/>
                      </a:pPr>
                      <a:r>
                        <a:rPr b="0" lang="es-ES" sz="1800" strike="noStrike">
                          <a:latin typeface="Arial"/>
                          <a:ea typeface="Arial"/>
                          <a:cs typeface="Arial"/>
                          <a:sym typeface="Arial"/>
                        </a:rPr>
                        <a:t>x</a:t>
                      </a:r>
                      <a:endParaRPr b="0" sz="1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r>
              <a:tr h="395650">
                <a:tc>
                  <a:txBody>
                    <a:bodyPr/>
                    <a:lstStyle/>
                    <a:p>
                      <a:pPr indent="0" lvl="0" marL="0" marR="0" rtl="0" algn="l">
                        <a:spcBef>
                          <a:spcPts val="0"/>
                        </a:spcBef>
                        <a:spcAft>
                          <a:spcPts val="0"/>
                        </a:spcAft>
                        <a:buNone/>
                      </a:pPr>
                      <a:r>
                        <a:rPr b="0" lang="es-ES" sz="1800" strike="noStrike">
                          <a:latin typeface="Arial"/>
                          <a:ea typeface="Arial"/>
                          <a:cs typeface="Arial"/>
                          <a:sym typeface="Arial"/>
                        </a:rPr>
                        <a:t>Relaciones entidades</a:t>
                      </a:r>
                      <a:endParaRPr b="0" sz="1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c>
                  <a:txBody>
                    <a:bodyPr/>
                    <a:lstStyle/>
                    <a:p>
                      <a:pPr indent="0" lvl="0" marL="0" marR="0" rtl="0" algn="ctr">
                        <a:spcBef>
                          <a:spcPts val="0"/>
                        </a:spcBef>
                        <a:spcAft>
                          <a:spcPts val="0"/>
                        </a:spcAft>
                        <a:buNone/>
                      </a:pPr>
                      <a:r>
                        <a:rPr b="0" lang="es-ES" sz="1800" strike="noStrike">
                          <a:latin typeface="Arial"/>
                          <a:ea typeface="Arial"/>
                          <a:cs typeface="Arial"/>
                          <a:sym typeface="Arial"/>
                        </a:rPr>
                        <a:t>x</a:t>
                      </a:r>
                      <a:endParaRPr b="0" sz="1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c>
                  <a:txBody>
                    <a:bodyPr/>
                    <a:lstStyle/>
                    <a:p>
                      <a:pPr indent="0" lvl="0" marL="0" marR="0" rtl="0" algn="ctr">
                        <a:spcBef>
                          <a:spcPts val="0"/>
                        </a:spcBef>
                        <a:spcAft>
                          <a:spcPts val="0"/>
                        </a:spcAft>
                        <a:buNone/>
                      </a:pPr>
                      <a:r>
                        <a:rPr b="0" lang="es-ES" sz="1800" strike="noStrike">
                          <a:latin typeface="Arial"/>
                          <a:ea typeface="Arial"/>
                          <a:cs typeface="Arial"/>
                          <a:sym typeface="Arial"/>
                        </a:rPr>
                        <a:t>x</a:t>
                      </a:r>
                      <a:endParaRPr b="0" sz="1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r>
              <a:tr h="349925">
                <a:tc>
                  <a:txBody>
                    <a:bodyPr/>
                    <a:lstStyle/>
                    <a:p>
                      <a:pPr indent="0" lvl="0" marL="0" marR="0" rtl="0" algn="l">
                        <a:spcBef>
                          <a:spcPts val="0"/>
                        </a:spcBef>
                        <a:spcAft>
                          <a:spcPts val="0"/>
                        </a:spcAft>
                        <a:buNone/>
                      </a:pPr>
                      <a:r>
                        <a:rPr b="0" lang="es-ES" sz="1800" strike="noStrike">
                          <a:latin typeface="Arial"/>
                          <a:ea typeface="Arial"/>
                          <a:cs typeface="Arial"/>
                          <a:sym typeface="Arial"/>
                        </a:rPr>
                        <a:t>Atributos</a:t>
                      </a:r>
                      <a:endParaRPr b="0" sz="1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ctr">
                        <a:spcBef>
                          <a:spcPts val="0"/>
                        </a:spcBef>
                        <a:spcAft>
                          <a:spcPts val="0"/>
                        </a:spcAft>
                        <a:buNone/>
                      </a:pPr>
                      <a:r>
                        <a:rPr b="0" lang="es-ES" sz="1800" strike="noStrike">
                          <a:latin typeface="Arial"/>
                          <a:ea typeface="Arial"/>
                          <a:cs typeface="Arial"/>
                          <a:sym typeface="Arial"/>
                        </a:rPr>
                        <a:t>x</a:t>
                      </a:r>
                      <a:endParaRPr b="0" sz="1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r>
              <a:tr h="349925">
                <a:tc>
                  <a:txBody>
                    <a:bodyPr/>
                    <a:lstStyle/>
                    <a:p>
                      <a:pPr indent="0" lvl="0" marL="0" marR="0" rtl="0" algn="l">
                        <a:spcBef>
                          <a:spcPts val="0"/>
                        </a:spcBef>
                        <a:spcAft>
                          <a:spcPts val="0"/>
                        </a:spcAft>
                        <a:buNone/>
                      </a:pPr>
                      <a:r>
                        <a:rPr b="0" lang="es-ES" sz="1800" strike="noStrike">
                          <a:latin typeface="Arial"/>
                          <a:ea typeface="Arial"/>
                          <a:cs typeface="Arial"/>
                          <a:sym typeface="Arial"/>
                        </a:rPr>
                        <a:t>Claves principales</a:t>
                      </a:r>
                      <a:endParaRPr b="0" sz="1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c>
                  <a:txBody>
                    <a:bodyPr/>
                    <a:lstStyle/>
                    <a:p>
                      <a:pPr indent="0" lvl="0" marL="0" marR="0" rtl="0" algn="ctr">
                        <a:spcBef>
                          <a:spcPts val="0"/>
                        </a:spcBef>
                        <a:spcAft>
                          <a:spcPts val="0"/>
                        </a:spcAft>
                        <a:buNone/>
                      </a:pPr>
                      <a:r>
                        <a:rPr b="0" lang="es-ES" sz="1800" strike="noStrike">
                          <a:latin typeface="Arial"/>
                          <a:ea typeface="Arial"/>
                          <a:cs typeface="Arial"/>
                          <a:sym typeface="Arial"/>
                        </a:rPr>
                        <a:t>x</a:t>
                      </a:r>
                      <a:endParaRPr b="0" sz="1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c>
                  <a:txBody>
                    <a:bodyPr/>
                    <a:lstStyle/>
                    <a:p>
                      <a:pPr indent="0" lvl="0" marL="0" marR="0" rtl="0" algn="ctr">
                        <a:spcBef>
                          <a:spcPts val="0"/>
                        </a:spcBef>
                        <a:spcAft>
                          <a:spcPts val="0"/>
                        </a:spcAft>
                        <a:buNone/>
                      </a:pPr>
                      <a:r>
                        <a:rPr b="0" lang="es-ES" sz="1800" strike="noStrike">
                          <a:latin typeface="Arial"/>
                          <a:ea typeface="Arial"/>
                          <a:cs typeface="Arial"/>
                          <a:sym typeface="Arial"/>
                        </a:rPr>
                        <a:t>x</a:t>
                      </a:r>
                      <a:endParaRPr b="0" sz="1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r>
              <a:tr h="349925">
                <a:tc>
                  <a:txBody>
                    <a:bodyPr/>
                    <a:lstStyle/>
                    <a:p>
                      <a:pPr indent="0" lvl="0" marL="0" marR="0" rtl="0" algn="l">
                        <a:spcBef>
                          <a:spcPts val="0"/>
                        </a:spcBef>
                        <a:spcAft>
                          <a:spcPts val="0"/>
                        </a:spcAft>
                        <a:buNone/>
                      </a:pPr>
                      <a:r>
                        <a:rPr b="0" lang="es-ES" sz="1800" strike="noStrike">
                          <a:latin typeface="Arial"/>
                          <a:ea typeface="Arial"/>
                          <a:cs typeface="Arial"/>
                          <a:sym typeface="Arial"/>
                        </a:rPr>
                        <a:t>Claves ajenas</a:t>
                      </a:r>
                      <a:endParaRPr b="0" sz="1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ctr">
                        <a:spcBef>
                          <a:spcPts val="0"/>
                        </a:spcBef>
                        <a:spcAft>
                          <a:spcPts val="0"/>
                        </a:spcAft>
                        <a:buNone/>
                      </a:pPr>
                      <a:r>
                        <a:rPr b="0" lang="es-ES" sz="1800" strike="noStrike">
                          <a:latin typeface="Arial"/>
                          <a:ea typeface="Arial"/>
                          <a:cs typeface="Arial"/>
                          <a:sym typeface="Arial"/>
                        </a:rPr>
                        <a:t>x</a:t>
                      </a:r>
                      <a:endParaRPr b="0" sz="1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ctr">
                        <a:spcBef>
                          <a:spcPts val="0"/>
                        </a:spcBef>
                        <a:spcAft>
                          <a:spcPts val="0"/>
                        </a:spcAft>
                        <a:buNone/>
                      </a:pPr>
                      <a:r>
                        <a:rPr b="0" lang="es-ES" sz="1800" strike="noStrike">
                          <a:latin typeface="Arial"/>
                          <a:ea typeface="Arial"/>
                          <a:cs typeface="Arial"/>
                          <a:sym typeface="Arial"/>
                        </a:rPr>
                        <a:t>x</a:t>
                      </a:r>
                      <a:endParaRPr b="0" sz="1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r>
              <a:tr h="349925">
                <a:tc>
                  <a:txBody>
                    <a:bodyPr/>
                    <a:lstStyle/>
                    <a:p>
                      <a:pPr indent="0" lvl="0" marL="0" marR="0" rtl="0" algn="l">
                        <a:spcBef>
                          <a:spcPts val="0"/>
                        </a:spcBef>
                        <a:spcAft>
                          <a:spcPts val="0"/>
                        </a:spcAft>
                        <a:buNone/>
                      </a:pPr>
                      <a:r>
                        <a:rPr b="0" lang="es-ES" sz="1800" strike="noStrike">
                          <a:latin typeface="Arial"/>
                          <a:ea typeface="Arial"/>
                          <a:cs typeface="Arial"/>
                          <a:sym typeface="Arial"/>
                        </a:rPr>
                        <a:t>Nombres de tablas</a:t>
                      </a:r>
                      <a:endParaRPr b="0" sz="1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c>
                  <a:txBody>
                    <a:bodyPr/>
                    <a:lstStyle/>
                    <a:p>
                      <a:pPr indent="0" lvl="0" marL="0" marR="0" rtl="0" algn="ctr">
                        <a:spcBef>
                          <a:spcPts val="0"/>
                        </a:spcBef>
                        <a:spcAft>
                          <a:spcPts val="0"/>
                        </a:spcAft>
                        <a:buNone/>
                      </a:pPr>
                      <a:r>
                        <a:rPr b="0" lang="es-ES" sz="1800" strike="noStrike">
                          <a:latin typeface="Arial"/>
                          <a:ea typeface="Arial"/>
                          <a:cs typeface="Arial"/>
                          <a:sym typeface="Arial"/>
                        </a:rPr>
                        <a:t>x</a:t>
                      </a:r>
                      <a:endParaRPr b="0" sz="1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r>
              <a:tr h="410400">
                <a:tc>
                  <a:txBody>
                    <a:bodyPr/>
                    <a:lstStyle/>
                    <a:p>
                      <a:pPr indent="0" lvl="0" marL="0" marR="0" rtl="0" algn="l">
                        <a:spcBef>
                          <a:spcPts val="0"/>
                        </a:spcBef>
                        <a:spcAft>
                          <a:spcPts val="0"/>
                        </a:spcAft>
                        <a:buNone/>
                      </a:pPr>
                      <a:r>
                        <a:rPr b="0" lang="es-ES" sz="1800" strike="noStrike">
                          <a:latin typeface="Arial"/>
                          <a:ea typeface="Arial"/>
                          <a:cs typeface="Arial"/>
                          <a:sym typeface="Arial"/>
                        </a:rPr>
                        <a:t>Nombres de columnas</a:t>
                      </a:r>
                      <a:endParaRPr b="0" sz="1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c>
                  <a:txBody>
                    <a:bodyPr/>
                    <a:lstStyle/>
                    <a:p>
                      <a:pPr indent="0" lvl="0" marL="0" marR="0" rtl="0" algn="ctr">
                        <a:spcBef>
                          <a:spcPts val="0"/>
                        </a:spcBef>
                        <a:spcAft>
                          <a:spcPts val="0"/>
                        </a:spcAft>
                        <a:buNone/>
                      </a:pPr>
                      <a:r>
                        <a:rPr b="0" lang="es-ES" sz="1800" strike="noStrike">
                          <a:latin typeface="Arial"/>
                          <a:ea typeface="Arial"/>
                          <a:cs typeface="Arial"/>
                          <a:sym typeface="Arial"/>
                        </a:rPr>
                        <a:t>x</a:t>
                      </a:r>
                      <a:endParaRPr b="0" sz="1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CCCCC"/>
                    </a:solidFill>
                  </a:tcPr>
                </a:tc>
              </a:tr>
              <a:tr h="396725">
                <a:tc>
                  <a:txBody>
                    <a:bodyPr/>
                    <a:lstStyle/>
                    <a:p>
                      <a:pPr indent="0" lvl="0" marL="0" marR="0" rtl="0" algn="l">
                        <a:spcBef>
                          <a:spcPts val="0"/>
                        </a:spcBef>
                        <a:spcAft>
                          <a:spcPts val="0"/>
                        </a:spcAft>
                        <a:buNone/>
                      </a:pPr>
                      <a:r>
                        <a:rPr b="0" lang="es-ES" sz="1800" strike="noStrike">
                          <a:latin typeface="Arial"/>
                          <a:ea typeface="Arial"/>
                          <a:cs typeface="Arial"/>
                          <a:sym typeface="Arial"/>
                        </a:rPr>
                        <a:t>Tipos de datos de columnas</a:t>
                      </a:r>
                      <a:endParaRPr b="0" sz="1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c>
                  <a:txBody>
                    <a:bodyPr/>
                    <a:lstStyle/>
                    <a:p>
                      <a:pPr indent="0" lvl="0" marL="0" rtl="0" algn="l">
                        <a:spcBef>
                          <a:spcPts val="0"/>
                        </a:spcBef>
                        <a:spcAft>
                          <a:spcPts val="0"/>
                        </a:spcAft>
                        <a:buNone/>
                      </a:pPr>
                      <a:r>
                        <a:t/>
                      </a:r>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c>
                  <a:txBody>
                    <a:bodyPr/>
                    <a:lstStyle/>
                    <a:p>
                      <a:pPr indent="0" lvl="0" marL="0" marR="0" rtl="0" algn="ctr">
                        <a:spcBef>
                          <a:spcPts val="0"/>
                        </a:spcBef>
                        <a:spcAft>
                          <a:spcPts val="0"/>
                        </a:spcAft>
                        <a:buNone/>
                      </a:pPr>
                      <a:r>
                        <a:rPr b="0" lang="es-ES" sz="1800" strike="noStrike">
                          <a:latin typeface="Arial"/>
                          <a:ea typeface="Arial"/>
                          <a:cs typeface="Arial"/>
                          <a:sym typeface="Arial"/>
                        </a:rPr>
                        <a:t>x</a:t>
                      </a:r>
                      <a:endParaRPr b="0" sz="1800" strike="noStrike">
                        <a:latin typeface="Arial"/>
                        <a:ea typeface="Arial"/>
                        <a:cs typeface="Arial"/>
                        <a:sym typeface="Arial"/>
                      </a:endParaRPr>
                    </a:p>
                  </a:txBody>
                  <a:tcPr marT="45725" marB="45725" marR="90000" marL="90000">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6E6E6"/>
                    </a:solidFill>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46"/>
          <p:cNvSpPr txBox="1"/>
          <p:nvPr/>
        </p:nvSpPr>
        <p:spPr>
          <a:xfrm>
            <a:off x="432000" y="108720"/>
            <a:ext cx="9216000" cy="575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1" lang="es-ES" sz="1800" strike="noStrike">
                <a:latin typeface="Arial"/>
                <a:ea typeface="Arial"/>
                <a:cs typeface="Arial"/>
                <a:sym typeface="Arial"/>
              </a:rPr>
              <a:t>Reglas de Codd</a:t>
            </a:r>
            <a:endParaRPr b="0" sz="1800" strike="noStrike">
              <a:latin typeface="Arial"/>
              <a:ea typeface="Arial"/>
              <a:cs typeface="Arial"/>
              <a:sym typeface="Arial"/>
            </a:endParaRPr>
          </a:p>
        </p:txBody>
      </p:sp>
      <p:sp>
        <p:nvSpPr>
          <p:cNvPr id="342" name="Google Shape;342;p46"/>
          <p:cNvSpPr txBox="1"/>
          <p:nvPr/>
        </p:nvSpPr>
        <p:spPr>
          <a:xfrm>
            <a:off x="360000" y="792000"/>
            <a:ext cx="9432000" cy="4752000"/>
          </a:xfrm>
          <a:prstGeom prst="rect">
            <a:avLst/>
          </a:prstGeom>
          <a:noFill/>
          <a:ln>
            <a:noFill/>
          </a:ln>
        </p:spPr>
        <p:txBody>
          <a:bodyPr anchorCtr="0" anchor="t" bIns="45000" lIns="90000" spcFirstLastPara="1" rIns="90000" wrap="square" tIns="45000">
            <a:noAutofit/>
          </a:bodyPr>
          <a:lstStyle/>
          <a:p>
            <a:pPr indent="0" lvl="0" marL="0" marR="0" rtl="0" algn="l">
              <a:lnSpc>
                <a:spcPct val="200000"/>
              </a:lnSpc>
              <a:spcBef>
                <a:spcPts val="0"/>
              </a:spcBef>
              <a:spcAft>
                <a:spcPts val="0"/>
              </a:spcAft>
              <a:buNone/>
            </a:pPr>
            <a:r>
              <a:rPr b="0" lang="es-ES" sz="2000" strike="noStrike">
                <a:latin typeface="Arial"/>
                <a:ea typeface="Arial"/>
                <a:cs typeface="Arial"/>
                <a:sym typeface="Arial"/>
              </a:rPr>
              <a:t>1. Representación de la información</a:t>
            </a:r>
            <a:endParaRPr b="0" sz="2000" strike="noStrike">
              <a:latin typeface="Arial"/>
              <a:ea typeface="Arial"/>
              <a:cs typeface="Arial"/>
              <a:sym typeface="Arial"/>
            </a:endParaRPr>
          </a:p>
          <a:p>
            <a:pPr indent="0" lvl="0" marL="0" marR="0" rtl="0" algn="l">
              <a:lnSpc>
                <a:spcPct val="200000"/>
              </a:lnSpc>
              <a:spcBef>
                <a:spcPts val="1134"/>
              </a:spcBef>
              <a:spcAft>
                <a:spcPts val="0"/>
              </a:spcAft>
              <a:buNone/>
            </a:pPr>
            <a:r>
              <a:rPr b="0" lang="es-ES" sz="2000" strike="noStrike">
                <a:latin typeface="Arial"/>
                <a:ea typeface="Arial"/>
                <a:cs typeface="Arial"/>
                <a:sym typeface="Arial"/>
              </a:rPr>
              <a:t>2. Acceso garantizado</a:t>
            </a:r>
            <a:endParaRPr b="0" sz="2000" strike="noStrike">
              <a:latin typeface="Arial"/>
              <a:ea typeface="Arial"/>
              <a:cs typeface="Arial"/>
              <a:sym typeface="Arial"/>
            </a:endParaRPr>
          </a:p>
          <a:p>
            <a:pPr indent="0" lvl="0" marL="0" marR="0" rtl="0" algn="l">
              <a:lnSpc>
                <a:spcPct val="200000"/>
              </a:lnSpc>
              <a:spcBef>
                <a:spcPts val="1134"/>
              </a:spcBef>
              <a:spcAft>
                <a:spcPts val="0"/>
              </a:spcAft>
              <a:buNone/>
            </a:pPr>
            <a:r>
              <a:rPr b="0" lang="es-ES" sz="2000" strike="noStrike">
                <a:latin typeface="Arial"/>
                <a:ea typeface="Arial"/>
                <a:cs typeface="Arial"/>
                <a:sym typeface="Arial"/>
              </a:rPr>
              <a:t>3. Tratamiento sistemático de valores nulos</a:t>
            </a:r>
            <a:endParaRPr b="0" sz="2000" strike="noStrike">
              <a:latin typeface="Arial"/>
              <a:ea typeface="Arial"/>
              <a:cs typeface="Arial"/>
              <a:sym typeface="Arial"/>
            </a:endParaRPr>
          </a:p>
          <a:p>
            <a:pPr indent="0" lvl="0" marL="0" marR="0" rtl="0" algn="l">
              <a:lnSpc>
                <a:spcPct val="200000"/>
              </a:lnSpc>
              <a:spcBef>
                <a:spcPts val="1134"/>
              </a:spcBef>
              <a:spcAft>
                <a:spcPts val="0"/>
              </a:spcAft>
              <a:buNone/>
            </a:pPr>
            <a:r>
              <a:rPr b="0" lang="es-ES" sz="2000" strike="noStrike">
                <a:latin typeface="Arial"/>
                <a:ea typeface="Arial"/>
                <a:cs typeface="Arial"/>
                <a:sym typeface="Arial"/>
              </a:rPr>
              <a:t>4. Catálogo en línea (diccionario de datos) basado en el modelo relacional</a:t>
            </a:r>
            <a:endParaRPr b="0" sz="2000" strike="noStrike">
              <a:latin typeface="Arial"/>
              <a:ea typeface="Arial"/>
              <a:cs typeface="Arial"/>
              <a:sym typeface="Arial"/>
            </a:endParaRPr>
          </a:p>
          <a:p>
            <a:pPr indent="0" lvl="0" marL="0" marR="0" rtl="0" algn="l">
              <a:lnSpc>
                <a:spcPct val="200000"/>
              </a:lnSpc>
              <a:spcBef>
                <a:spcPts val="1134"/>
              </a:spcBef>
              <a:spcAft>
                <a:spcPts val="0"/>
              </a:spcAft>
              <a:buNone/>
            </a:pPr>
            <a:r>
              <a:rPr b="0" lang="es-ES" sz="2000" strike="noStrike">
                <a:latin typeface="Arial"/>
                <a:ea typeface="Arial"/>
                <a:cs typeface="Arial"/>
                <a:sym typeface="Arial"/>
              </a:rPr>
              <a:t>5. Sublenguaje de datos completo</a:t>
            </a:r>
            <a:endParaRPr b="0" sz="2000" strike="noStrike">
              <a:latin typeface="Arial"/>
              <a:ea typeface="Arial"/>
              <a:cs typeface="Arial"/>
              <a:sym typeface="Arial"/>
            </a:endParaRPr>
          </a:p>
          <a:p>
            <a:pPr indent="0" lvl="0" marL="0" marR="0" rtl="0" algn="l">
              <a:lnSpc>
                <a:spcPct val="200000"/>
              </a:lnSpc>
              <a:spcBef>
                <a:spcPts val="1134"/>
              </a:spcBef>
              <a:spcAft>
                <a:spcPts val="0"/>
              </a:spcAft>
              <a:buNone/>
            </a:pPr>
            <a:r>
              <a:rPr b="0" lang="es-ES" sz="2000" strike="noStrike">
                <a:latin typeface="Arial"/>
                <a:ea typeface="Arial"/>
                <a:cs typeface="Arial"/>
                <a:sym typeface="Arial"/>
              </a:rPr>
              <a:t>6. Actualización de vistas</a:t>
            </a:r>
            <a:endParaRPr b="0" sz="2000" strike="noStrike">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47"/>
          <p:cNvSpPr txBox="1"/>
          <p:nvPr/>
        </p:nvSpPr>
        <p:spPr>
          <a:xfrm>
            <a:off x="936000" y="1008000"/>
            <a:ext cx="6732360" cy="377352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1800" strike="noStrike">
              <a:latin typeface="Arial"/>
              <a:ea typeface="Arial"/>
              <a:cs typeface="Arial"/>
              <a:sym typeface="Arial"/>
            </a:endParaRPr>
          </a:p>
          <a:p>
            <a:pPr indent="0" lvl="0" marL="0" marR="0" rtl="0" algn="l">
              <a:lnSpc>
                <a:spcPct val="200000"/>
              </a:lnSpc>
              <a:spcBef>
                <a:spcPts val="0"/>
              </a:spcBef>
              <a:spcAft>
                <a:spcPts val="0"/>
              </a:spcAft>
              <a:buNone/>
            </a:pPr>
            <a:r>
              <a:rPr b="0" lang="es-ES" sz="2000" strike="noStrike">
                <a:latin typeface="Arial"/>
                <a:ea typeface="Arial"/>
                <a:cs typeface="Arial"/>
                <a:sym typeface="Arial"/>
              </a:rPr>
              <a:t>7. Inserción, modificación y borrado de tuplas de alto nivel</a:t>
            </a:r>
            <a:endParaRPr b="0" sz="2000" strike="noStrike">
              <a:latin typeface="Arial"/>
              <a:ea typeface="Arial"/>
              <a:cs typeface="Arial"/>
              <a:sym typeface="Arial"/>
            </a:endParaRPr>
          </a:p>
          <a:p>
            <a:pPr indent="0" lvl="0" marL="0" marR="0" rtl="0" algn="l">
              <a:lnSpc>
                <a:spcPct val="200000"/>
              </a:lnSpc>
              <a:spcBef>
                <a:spcPts val="0"/>
              </a:spcBef>
              <a:spcAft>
                <a:spcPts val="0"/>
              </a:spcAft>
              <a:buNone/>
            </a:pPr>
            <a:r>
              <a:rPr b="0" lang="es-ES" sz="2000" strike="noStrike">
                <a:latin typeface="Arial"/>
                <a:ea typeface="Arial"/>
                <a:cs typeface="Arial"/>
                <a:sym typeface="Arial"/>
              </a:rPr>
              <a:t>8. Independencia física de los datos</a:t>
            </a:r>
            <a:endParaRPr b="0" sz="2000" strike="noStrike">
              <a:latin typeface="Arial"/>
              <a:ea typeface="Arial"/>
              <a:cs typeface="Arial"/>
              <a:sym typeface="Arial"/>
            </a:endParaRPr>
          </a:p>
          <a:p>
            <a:pPr indent="0" lvl="0" marL="0" marR="0" rtl="0" algn="l">
              <a:lnSpc>
                <a:spcPct val="200000"/>
              </a:lnSpc>
              <a:spcBef>
                <a:spcPts val="0"/>
              </a:spcBef>
              <a:spcAft>
                <a:spcPts val="0"/>
              </a:spcAft>
              <a:buNone/>
            </a:pPr>
            <a:r>
              <a:rPr b="0" lang="es-ES" sz="2000" strike="noStrike">
                <a:latin typeface="Arial"/>
                <a:ea typeface="Arial"/>
                <a:cs typeface="Arial"/>
                <a:sym typeface="Arial"/>
              </a:rPr>
              <a:t>9. Independencia lógica de los datos</a:t>
            </a:r>
            <a:endParaRPr b="0" sz="2000" strike="noStrike">
              <a:latin typeface="Arial"/>
              <a:ea typeface="Arial"/>
              <a:cs typeface="Arial"/>
              <a:sym typeface="Arial"/>
            </a:endParaRPr>
          </a:p>
          <a:p>
            <a:pPr indent="0" lvl="0" marL="0" marR="0" rtl="0" algn="l">
              <a:lnSpc>
                <a:spcPct val="200000"/>
              </a:lnSpc>
              <a:spcBef>
                <a:spcPts val="0"/>
              </a:spcBef>
              <a:spcAft>
                <a:spcPts val="0"/>
              </a:spcAft>
              <a:buNone/>
            </a:pPr>
            <a:r>
              <a:rPr b="0" lang="es-ES" sz="2000" strike="noStrike">
                <a:latin typeface="Arial"/>
                <a:ea typeface="Arial"/>
                <a:cs typeface="Arial"/>
                <a:sym typeface="Arial"/>
              </a:rPr>
              <a:t>10. Independencia de la integridad</a:t>
            </a:r>
            <a:endParaRPr b="0" sz="2000" strike="noStrike">
              <a:latin typeface="Arial"/>
              <a:ea typeface="Arial"/>
              <a:cs typeface="Arial"/>
              <a:sym typeface="Arial"/>
            </a:endParaRPr>
          </a:p>
          <a:p>
            <a:pPr indent="0" lvl="0" marL="0" marR="0" rtl="0" algn="l">
              <a:lnSpc>
                <a:spcPct val="200000"/>
              </a:lnSpc>
              <a:spcBef>
                <a:spcPts val="0"/>
              </a:spcBef>
              <a:spcAft>
                <a:spcPts val="0"/>
              </a:spcAft>
              <a:buNone/>
            </a:pPr>
            <a:r>
              <a:rPr b="0" lang="es-ES" sz="2000" strike="noStrike">
                <a:latin typeface="Arial"/>
                <a:ea typeface="Arial"/>
                <a:cs typeface="Arial"/>
                <a:sym typeface="Arial"/>
              </a:rPr>
              <a:t>11. Independencia de la distribución</a:t>
            </a:r>
            <a:endParaRPr b="0" sz="2000" strike="noStrike">
              <a:latin typeface="Arial"/>
              <a:ea typeface="Arial"/>
              <a:cs typeface="Arial"/>
              <a:sym typeface="Arial"/>
            </a:endParaRPr>
          </a:p>
          <a:p>
            <a:pPr indent="0" lvl="0" marL="0" marR="0" rtl="0" algn="l">
              <a:lnSpc>
                <a:spcPct val="200000"/>
              </a:lnSpc>
              <a:spcBef>
                <a:spcPts val="0"/>
              </a:spcBef>
              <a:spcAft>
                <a:spcPts val="0"/>
              </a:spcAft>
              <a:buNone/>
            </a:pPr>
            <a:r>
              <a:rPr b="0" lang="es-ES" sz="2000" strike="noStrike">
                <a:latin typeface="Arial"/>
                <a:ea typeface="Arial"/>
                <a:cs typeface="Arial"/>
                <a:sym typeface="Arial"/>
              </a:rPr>
              <a:t>12. Regla de no subversión</a:t>
            </a:r>
            <a:endParaRPr b="0" sz="2000" strike="noStrike">
              <a:latin typeface="Arial"/>
              <a:ea typeface="Arial"/>
              <a:cs typeface="Arial"/>
              <a:sym typeface="Arial"/>
            </a:endParaRPr>
          </a:p>
        </p:txBody>
      </p:sp>
      <p:sp>
        <p:nvSpPr>
          <p:cNvPr id="348" name="Google Shape;348;p47"/>
          <p:cNvSpPr txBox="1"/>
          <p:nvPr/>
        </p:nvSpPr>
        <p:spPr>
          <a:xfrm>
            <a:off x="322920" y="229320"/>
            <a:ext cx="2773080" cy="41868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s-ES" sz="1800" strike="noStrike">
                <a:latin typeface="Arial"/>
                <a:ea typeface="Arial"/>
                <a:cs typeface="Arial"/>
                <a:sym typeface="Arial"/>
              </a:rPr>
              <a:t>Reglas de Codd (2)</a:t>
            </a:r>
            <a:endParaRPr b="0" sz="1800" strike="noStrike">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E994"/>
        </a:solidFill>
      </p:bgPr>
    </p:bg>
    <p:spTree>
      <p:nvGrpSpPr>
        <p:cNvPr id="364" name="Shape 364"/>
        <p:cNvGrpSpPr/>
        <p:nvPr/>
      </p:nvGrpSpPr>
      <p:grpSpPr>
        <a:xfrm>
          <a:off x="0" y="0"/>
          <a:ext cx="0" cy="0"/>
          <a:chOff x="0" y="0"/>
          <a:chExt cx="0" cy="0"/>
        </a:xfrm>
      </p:grpSpPr>
      <p:sp>
        <p:nvSpPr>
          <p:cNvPr id="365" name="Google Shape;365;p51"/>
          <p:cNvSpPr txBox="1"/>
          <p:nvPr/>
        </p:nvSpPr>
        <p:spPr>
          <a:xfrm>
            <a:off x="758160" y="792000"/>
            <a:ext cx="1526400" cy="48672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0" lang="es-ES" sz="2800" strike="noStrike">
                <a:latin typeface="Arial"/>
                <a:ea typeface="Arial"/>
                <a:cs typeface="Arial"/>
                <a:sym typeface="Arial"/>
              </a:rPr>
              <a:t>Ejercicio</a:t>
            </a:r>
            <a:endParaRPr b="0" sz="2800" strike="noStrike">
              <a:latin typeface="Arial"/>
              <a:ea typeface="Arial"/>
              <a:cs typeface="Arial"/>
              <a:sym typeface="Arial"/>
            </a:endParaRPr>
          </a:p>
        </p:txBody>
      </p:sp>
      <p:sp>
        <p:nvSpPr>
          <p:cNvPr id="366" name="Google Shape;366;p51"/>
          <p:cNvSpPr txBox="1"/>
          <p:nvPr/>
        </p:nvSpPr>
        <p:spPr>
          <a:xfrm>
            <a:off x="667080" y="1629360"/>
            <a:ext cx="8548920" cy="60264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0" lang="es-ES" sz="1800" strike="noStrike">
                <a:latin typeface="Arial"/>
                <a:ea typeface="Arial"/>
                <a:cs typeface="Arial"/>
                <a:sym typeface="Arial"/>
              </a:rPr>
              <a:t>Con la ayuda de Internet, elaborar una lista de bases de datos comerciales y libres</a:t>
            </a:r>
            <a:endParaRPr b="0" sz="1800" strike="noStrike">
              <a:latin typeface="Arial"/>
              <a:ea typeface="Arial"/>
              <a:cs typeface="Arial"/>
              <a:sym typeface="Arial"/>
            </a:endParaRPr>
          </a:p>
          <a:p>
            <a:pPr indent="0" lvl="0" marL="0" marR="0" rtl="0" algn="l">
              <a:spcBef>
                <a:spcPts val="0"/>
              </a:spcBef>
              <a:spcAft>
                <a:spcPts val="0"/>
              </a:spcAft>
              <a:buNone/>
            </a:pPr>
            <a:r>
              <a:rPr b="0" lang="es-ES" sz="1800" strike="noStrike">
                <a:latin typeface="Arial"/>
                <a:ea typeface="Arial"/>
                <a:cs typeface="Arial"/>
                <a:sym typeface="Arial"/>
              </a:rPr>
              <a:t>relacionando cada una de ellas con su modelo de datos correspondiente.</a:t>
            </a:r>
            <a:endParaRPr b="0" sz="1800" strike="noStrike">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52"/>
          <p:cNvSpPr txBox="1"/>
          <p:nvPr/>
        </p:nvSpPr>
        <p:spPr>
          <a:xfrm>
            <a:off x="0" y="72000"/>
            <a:ext cx="10080000" cy="4320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s-ES" sz="2400" strike="noStrike">
                <a:latin typeface="Arial"/>
                <a:ea typeface="Arial"/>
                <a:cs typeface="Arial"/>
                <a:sym typeface="Arial"/>
              </a:rPr>
              <a:t>CE1.2 Describir las operaciones básicas del álgebra relacional.</a:t>
            </a:r>
            <a:endParaRPr b="0" sz="2400" strike="noStrike">
              <a:latin typeface="Arial"/>
              <a:ea typeface="Arial"/>
              <a:cs typeface="Arial"/>
              <a:sym typeface="Arial"/>
            </a:endParaRPr>
          </a:p>
        </p:txBody>
      </p:sp>
      <p:sp>
        <p:nvSpPr>
          <p:cNvPr id="372" name="Google Shape;372;p52"/>
          <p:cNvSpPr txBox="1"/>
          <p:nvPr/>
        </p:nvSpPr>
        <p:spPr>
          <a:xfrm>
            <a:off x="475920" y="1694160"/>
            <a:ext cx="7840080" cy="969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s-ES" sz="1400" strike="noStrike">
                <a:latin typeface="Arial"/>
                <a:ea typeface="Arial"/>
                <a:cs typeface="Arial"/>
                <a:sym typeface="Arial"/>
              </a:rPr>
              <a:t>El álgebra relacional es un conjunto de operaciones que describen paso a paso cómo computar una respuesta sobre las relaciones, tal y como éstas son definidas en el modelo relacional. Denominada de tipo procedimental, a diferencia del Cálculo relacional que es de tipo declarativo.</a:t>
            </a:r>
            <a:endParaRPr b="0" sz="1400" strike="noStrike">
              <a:latin typeface="Arial"/>
              <a:ea typeface="Arial"/>
              <a:cs typeface="Arial"/>
              <a:sym typeface="Arial"/>
            </a:endParaRPr>
          </a:p>
        </p:txBody>
      </p:sp>
      <p:sp>
        <p:nvSpPr>
          <p:cNvPr id="373" name="Google Shape;373;p52"/>
          <p:cNvSpPr txBox="1"/>
          <p:nvPr/>
        </p:nvSpPr>
        <p:spPr>
          <a:xfrm>
            <a:off x="451800" y="2937240"/>
            <a:ext cx="8152200" cy="109476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0" lang="es-ES" sz="1400" strike="noStrike">
                <a:latin typeface="Arial"/>
                <a:ea typeface="Arial"/>
                <a:cs typeface="Arial"/>
                <a:sym typeface="Arial"/>
              </a:rPr>
              <a:t>Describe el aspecto de la manipulación de datos. Estas operaciones se usan como una representación intermedia de una consulta a una base de datos y, debido a sus propiedades algebraicas, sirven para obtener una versión más optimizada y eficiente de dicha consulta. </a:t>
            </a:r>
            <a:endParaRPr b="0" sz="1400" strike="noStrike">
              <a:latin typeface="Arial"/>
              <a:ea typeface="Arial"/>
              <a:cs typeface="Arial"/>
              <a:sym typeface="Arial"/>
            </a:endParaRPr>
          </a:p>
        </p:txBody>
      </p:sp>
      <p:sp>
        <p:nvSpPr>
          <p:cNvPr id="374" name="Google Shape;374;p52"/>
          <p:cNvSpPr txBox="1"/>
          <p:nvPr/>
        </p:nvSpPr>
        <p:spPr>
          <a:xfrm>
            <a:off x="360000" y="864000"/>
            <a:ext cx="2616120" cy="4302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0" lang="es-ES" sz="2400" strike="noStrike">
                <a:latin typeface="Arial"/>
                <a:ea typeface="Arial"/>
                <a:cs typeface="Arial"/>
                <a:sym typeface="Arial"/>
              </a:rPr>
              <a:t>Álgebra relacional</a:t>
            </a:r>
            <a:endParaRPr b="0" sz="2400" strike="noStrike">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53"/>
          <p:cNvSpPr txBox="1"/>
          <p:nvPr/>
        </p:nvSpPr>
        <p:spPr>
          <a:xfrm>
            <a:off x="0" y="72000"/>
            <a:ext cx="10080000" cy="4320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s-ES" sz="2400" strike="noStrike">
                <a:latin typeface="Arial"/>
                <a:ea typeface="Arial"/>
                <a:cs typeface="Arial"/>
                <a:sym typeface="Arial"/>
              </a:rPr>
              <a:t>CE1.2 Describir las operaciones básicas del álgebra relacional.</a:t>
            </a:r>
            <a:endParaRPr b="0" sz="2400" strike="noStrike">
              <a:latin typeface="Arial"/>
              <a:ea typeface="Arial"/>
              <a:cs typeface="Arial"/>
              <a:sym typeface="Arial"/>
            </a:endParaRPr>
          </a:p>
        </p:txBody>
      </p:sp>
      <p:sp>
        <p:nvSpPr>
          <p:cNvPr id="380" name="Google Shape;380;p53"/>
          <p:cNvSpPr txBox="1"/>
          <p:nvPr/>
        </p:nvSpPr>
        <p:spPr>
          <a:xfrm>
            <a:off x="648000" y="1446480"/>
            <a:ext cx="8163360" cy="23976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s-ES" sz="1800" strike="noStrike">
                <a:latin typeface="Arial"/>
                <a:ea typeface="Arial"/>
                <a:cs typeface="Arial"/>
                <a:sym typeface="Arial"/>
              </a:rPr>
              <a:t>Proyección (Π)</a:t>
            </a:r>
            <a:endParaRPr b="0" sz="1800" strike="noStrike">
              <a:latin typeface="Arial"/>
              <a:ea typeface="Arial"/>
              <a:cs typeface="Arial"/>
              <a:sym typeface="Arial"/>
            </a:endParaRPr>
          </a:p>
          <a:p>
            <a:pPr indent="0" lvl="0" marL="0" marR="0" rtl="0" algn="l">
              <a:spcBef>
                <a:spcPts val="0"/>
              </a:spcBef>
              <a:spcAft>
                <a:spcPts val="0"/>
              </a:spcAft>
              <a:buNone/>
            </a:pPr>
            <a:r>
              <a:rPr b="0" lang="es-ES" sz="1000" strike="noStrike">
                <a:latin typeface="Arial"/>
                <a:ea typeface="Arial"/>
                <a:cs typeface="Arial"/>
                <a:sym typeface="Arial"/>
              </a:rPr>
              <a:t>Permite extraer columnas (atributos) de una relación, dando como resultado un subconjunto vertical de atributos de la relación, esto es: </a:t>
            </a:r>
            <a:endParaRPr b="0" sz="1000" strike="noStrike">
              <a:latin typeface="Arial"/>
              <a:ea typeface="Arial"/>
              <a:cs typeface="Arial"/>
              <a:sym typeface="Arial"/>
            </a:endParaRPr>
          </a:p>
          <a:p>
            <a:pPr indent="0" lvl="0" marL="0" marR="0" rtl="0" algn="l">
              <a:spcBef>
                <a:spcPts val="0"/>
              </a:spcBef>
              <a:spcAft>
                <a:spcPts val="0"/>
              </a:spcAft>
              <a:buNone/>
            </a:pPr>
            <a:r>
              <a:rPr b="0" lang="es-ES" sz="1000" strike="noStrike">
                <a:latin typeface="Arial"/>
                <a:ea typeface="Arial"/>
                <a:cs typeface="Arial"/>
                <a:sym typeface="Arial"/>
              </a:rPr>
              <a:t>ΠA1, A2, … , A n </a:t>
            </a:r>
            <a:endParaRPr b="0" sz="1000" strike="noStrike">
              <a:latin typeface="Arial"/>
              <a:ea typeface="Arial"/>
              <a:cs typeface="Arial"/>
              <a:sym typeface="Arial"/>
            </a:endParaRPr>
          </a:p>
          <a:p>
            <a:pPr indent="0" lvl="0" marL="0" marR="0" rtl="0" algn="l">
              <a:spcBef>
                <a:spcPts val="0"/>
              </a:spcBef>
              <a:spcAft>
                <a:spcPts val="0"/>
              </a:spcAft>
              <a:buNone/>
            </a:pPr>
            <a:r>
              <a:rPr b="0" lang="es-ES" sz="1000" strike="noStrike">
                <a:latin typeface="Arial"/>
                <a:ea typeface="Arial"/>
                <a:cs typeface="Arial"/>
                <a:sym typeface="Arial"/>
              </a:rPr>
              <a:t>donde A1 , A2 , … , A n son atributos de la relación R . </a:t>
            </a:r>
            <a:endParaRPr b="0" sz="1000" strike="noStrike">
              <a:latin typeface="Arial"/>
              <a:ea typeface="Arial"/>
              <a:cs typeface="Arial"/>
              <a:sym typeface="Arial"/>
            </a:endParaRPr>
          </a:p>
          <a:p>
            <a:pPr indent="0" lvl="0" marL="0" marR="0" rtl="0" algn="l">
              <a:spcBef>
                <a:spcPts val="0"/>
              </a:spcBef>
              <a:spcAft>
                <a:spcPts val="0"/>
              </a:spcAft>
              <a:buNone/>
            </a:pPr>
            <a:r>
              <a:rPr b="0" lang="es-ES" sz="1000" strike="noStrike">
                <a:latin typeface="Arial"/>
                <a:ea typeface="Arial"/>
                <a:cs typeface="Arial"/>
                <a:sym typeface="Arial"/>
              </a:rPr>
              <a:t>Ejemplo: </a:t>
            </a:r>
            <a:endParaRPr b="0" sz="1000" strike="noStrike">
              <a:latin typeface="Arial"/>
              <a:ea typeface="Arial"/>
              <a:cs typeface="Arial"/>
              <a:sym typeface="Arial"/>
            </a:endParaRPr>
          </a:p>
          <a:p>
            <a:pPr indent="0" lvl="0" marL="0" marR="0" rtl="0" algn="l">
              <a:spcBef>
                <a:spcPts val="0"/>
              </a:spcBef>
              <a:spcAft>
                <a:spcPts val="0"/>
              </a:spcAft>
              <a:buNone/>
            </a:pPr>
            <a:r>
              <a:rPr b="0" lang="es-ES" sz="1000" strike="noStrike">
                <a:latin typeface="Arial"/>
                <a:ea typeface="Arial"/>
                <a:cs typeface="Arial"/>
                <a:sym typeface="Arial"/>
              </a:rPr>
              <a:t>ΠApellido, Semestre, NumeroControl(Alumnos)</a:t>
            </a:r>
            <a:endParaRPr b="0" sz="1000" strike="noStrike">
              <a:latin typeface="Arial"/>
              <a:ea typeface="Arial"/>
              <a:cs typeface="Arial"/>
              <a:sym typeface="Arial"/>
            </a:endParaRPr>
          </a:p>
          <a:p>
            <a:pPr indent="0" lvl="0" marL="0" marR="0" rtl="0" algn="l">
              <a:spcBef>
                <a:spcPts val="0"/>
              </a:spcBef>
              <a:spcAft>
                <a:spcPts val="0"/>
              </a:spcAft>
              <a:buNone/>
            </a:pPr>
            <a:r>
              <a:rPr b="0" lang="es-ES" sz="1000" strike="noStrike">
                <a:latin typeface="Arial"/>
                <a:ea typeface="Arial"/>
                <a:cs typeface="Arial"/>
                <a:sym typeface="Arial"/>
              </a:rPr>
              <a:t>Selecciona los atributos Apellido, Semestre y NumeroControl de la relación Alumnos, mostrados como un subconjunto de la relación Alumnos. </a:t>
            </a:r>
            <a:endParaRPr b="0" sz="1000" strike="noStrike">
              <a:latin typeface="Arial"/>
              <a:ea typeface="Arial"/>
              <a:cs typeface="Arial"/>
              <a:sym typeface="Arial"/>
            </a:endParaRPr>
          </a:p>
          <a:p>
            <a:pPr indent="0" lvl="0" marL="0" marR="0" rtl="0" algn="l">
              <a:spcBef>
                <a:spcPts val="0"/>
              </a:spcBef>
              <a:spcAft>
                <a:spcPts val="0"/>
              </a:spcAft>
              <a:buNone/>
            </a:pPr>
            <a:r>
              <a:t/>
            </a:r>
            <a:endParaRPr b="0" sz="1000" strike="noStrike">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54"/>
          <p:cNvSpPr txBox="1"/>
          <p:nvPr/>
        </p:nvSpPr>
        <p:spPr>
          <a:xfrm>
            <a:off x="0" y="72000"/>
            <a:ext cx="10080000" cy="4320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s-ES" sz="2400" strike="noStrike">
                <a:latin typeface="Arial"/>
                <a:ea typeface="Arial"/>
                <a:cs typeface="Arial"/>
                <a:sym typeface="Arial"/>
              </a:rPr>
              <a:t>CE1.2 Describir las operaciones básicas del álgebra relacional.</a:t>
            </a:r>
            <a:endParaRPr b="0" sz="2400" strike="noStrike">
              <a:latin typeface="Arial"/>
              <a:ea typeface="Arial"/>
              <a:cs typeface="Arial"/>
              <a:sym typeface="Arial"/>
            </a:endParaRPr>
          </a:p>
        </p:txBody>
      </p:sp>
      <p:sp>
        <p:nvSpPr>
          <p:cNvPr id="386" name="Google Shape;386;p54"/>
          <p:cNvSpPr txBox="1"/>
          <p:nvPr/>
        </p:nvSpPr>
        <p:spPr>
          <a:xfrm>
            <a:off x="864000" y="1545840"/>
            <a:ext cx="7704000" cy="268128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s-ES" sz="1800" strike="noStrike">
                <a:latin typeface="Arial"/>
                <a:ea typeface="Arial"/>
                <a:cs typeface="Arial"/>
                <a:sym typeface="Arial"/>
              </a:rPr>
              <a:t>Producto cartesiano (X)</a:t>
            </a:r>
            <a:endParaRPr b="0" sz="1800" strike="noStrike">
              <a:latin typeface="Arial"/>
              <a:ea typeface="Arial"/>
              <a:cs typeface="Arial"/>
              <a:sym typeface="Arial"/>
            </a:endParaRPr>
          </a:p>
          <a:p>
            <a:pPr indent="0" lvl="0" marL="0" marR="0" rtl="0" algn="l">
              <a:spcBef>
                <a:spcPts val="0"/>
              </a:spcBef>
              <a:spcAft>
                <a:spcPts val="0"/>
              </a:spcAft>
              <a:buNone/>
            </a:pPr>
            <a:r>
              <a:rPr b="0" lang="es-ES" sz="1000" strike="noStrike">
                <a:latin typeface="Arial"/>
                <a:ea typeface="Arial"/>
                <a:cs typeface="Arial"/>
                <a:sym typeface="Arial"/>
              </a:rPr>
              <a:t>El producto cartesiano de dos relaciones se escribe como: </a:t>
            </a:r>
            <a:endParaRPr b="0" sz="1000" strike="noStrike">
              <a:latin typeface="Arial"/>
              <a:ea typeface="Arial"/>
              <a:cs typeface="Arial"/>
              <a:sym typeface="Arial"/>
            </a:endParaRPr>
          </a:p>
          <a:p>
            <a:pPr indent="0" lvl="0" marL="0" marR="0" rtl="0" algn="l">
              <a:spcBef>
                <a:spcPts val="0"/>
              </a:spcBef>
              <a:spcAft>
                <a:spcPts val="0"/>
              </a:spcAft>
              <a:buNone/>
            </a:pPr>
            <a:r>
              <a:rPr b="0" lang="es-ES" sz="1000" strike="noStrike">
                <a:latin typeface="Arial"/>
                <a:ea typeface="Arial"/>
                <a:cs typeface="Arial"/>
                <a:sym typeface="Arial"/>
              </a:rPr>
              <a:t>R X S  </a:t>
            </a:r>
            <a:endParaRPr b="0" sz="1000" strike="noStrike">
              <a:latin typeface="Arial"/>
              <a:ea typeface="Arial"/>
              <a:cs typeface="Arial"/>
              <a:sym typeface="Arial"/>
            </a:endParaRPr>
          </a:p>
          <a:p>
            <a:pPr indent="0" lvl="0" marL="0" marR="0" rtl="0" algn="l">
              <a:spcBef>
                <a:spcPts val="0"/>
              </a:spcBef>
              <a:spcAft>
                <a:spcPts val="0"/>
              </a:spcAft>
              <a:buNone/>
            </a:pPr>
            <a:r>
              <a:rPr b="0" lang="es-ES" sz="1000" strike="noStrike">
                <a:latin typeface="Arial"/>
                <a:ea typeface="Arial"/>
                <a:cs typeface="Arial"/>
                <a:sym typeface="Arial"/>
              </a:rPr>
              <a:t>y devuelve una relación, cuyo esquema corresponde a una combinación de todas las tuplas de R con cada una de las tuplas de S, y sus atributos corresponden a los de R seguidos por los de S. </a:t>
            </a:r>
            <a:endParaRPr b="0" sz="1000" strike="noStrike">
              <a:latin typeface="Arial"/>
              <a:ea typeface="Arial"/>
              <a:cs typeface="Arial"/>
              <a:sym typeface="Arial"/>
            </a:endParaRPr>
          </a:p>
          <a:p>
            <a:pPr indent="0" lvl="0" marL="0" marR="0" rtl="0" algn="l">
              <a:spcBef>
                <a:spcPts val="0"/>
              </a:spcBef>
              <a:spcAft>
                <a:spcPts val="0"/>
              </a:spcAft>
              <a:buNone/>
            </a:pPr>
            <a:r>
              <a:rPr b="0" lang="es-ES" sz="1000" strike="noStrike">
                <a:latin typeface="Arial"/>
                <a:ea typeface="Arial"/>
                <a:cs typeface="Arial"/>
                <a:sym typeface="Arial"/>
              </a:rPr>
              <a:t>Ejemplo: </a:t>
            </a:r>
            <a:endParaRPr b="0" sz="1000" strike="noStrike">
              <a:latin typeface="Arial"/>
              <a:ea typeface="Arial"/>
              <a:cs typeface="Arial"/>
              <a:sym typeface="Arial"/>
            </a:endParaRPr>
          </a:p>
          <a:p>
            <a:pPr indent="0" lvl="0" marL="0" marR="0" rtl="0" algn="l">
              <a:spcBef>
                <a:spcPts val="0"/>
              </a:spcBef>
              <a:spcAft>
                <a:spcPts val="0"/>
              </a:spcAft>
              <a:buNone/>
            </a:pPr>
            <a:r>
              <a:rPr b="0" lang="es-ES" sz="1000" strike="noStrike">
                <a:latin typeface="Arial"/>
                <a:ea typeface="Arial"/>
                <a:cs typeface="Arial"/>
                <a:sym typeface="Arial"/>
              </a:rPr>
              <a:t>Alumnos X Maestros</a:t>
            </a:r>
            <a:endParaRPr b="0" sz="1000" strike="noStrike">
              <a:latin typeface="Arial"/>
              <a:ea typeface="Arial"/>
              <a:cs typeface="Arial"/>
              <a:sym typeface="Arial"/>
            </a:endParaRPr>
          </a:p>
          <a:p>
            <a:pPr indent="0" lvl="0" marL="0" marR="0" rtl="0" algn="l">
              <a:spcBef>
                <a:spcPts val="0"/>
              </a:spcBef>
              <a:spcAft>
                <a:spcPts val="0"/>
              </a:spcAft>
              <a:buNone/>
            </a:pPr>
            <a:r>
              <a:rPr b="0" lang="es-ES" sz="1000" strike="noStrike">
                <a:latin typeface="Arial"/>
                <a:ea typeface="Arial"/>
                <a:cs typeface="Arial"/>
                <a:sym typeface="Arial"/>
              </a:rPr>
              <a:t>Muestra una nueva relación, cuyo esquema contiene cada una de las tuplas de la relación Alumnos junto con las tuplas de la relación Maestros, mostrando primero los atributos de la relación Alumnos seguidos por las tuplas de la relación Maestros. </a:t>
            </a:r>
            <a:endParaRPr b="0" sz="1000" strike="noStrike">
              <a:latin typeface="Arial"/>
              <a:ea typeface="Arial"/>
              <a:cs typeface="Arial"/>
              <a:sym typeface="Arial"/>
            </a:endParaRPr>
          </a:p>
          <a:p>
            <a:pPr indent="0" lvl="0" marL="0" marR="0" rtl="0" algn="l">
              <a:spcBef>
                <a:spcPts val="0"/>
              </a:spcBef>
              <a:spcAft>
                <a:spcPts val="0"/>
              </a:spcAft>
              <a:buNone/>
            </a:pPr>
            <a:r>
              <a:t/>
            </a:r>
            <a:endParaRPr b="0" sz="1000" strike="noStrike">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55"/>
          <p:cNvSpPr txBox="1"/>
          <p:nvPr/>
        </p:nvSpPr>
        <p:spPr>
          <a:xfrm>
            <a:off x="0" y="72000"/>
            <a:ext cx="10080000" cy="4320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s-ES" sz="2400" strike="noStrike">
                <a:latin typeface="Arial"/>
                <a:ea typeface="Arial"/>
                <a:cs typeface="Arial"/>
                <a:sym typeface="Arial"/>
              </a:rPr>
              <a:t>CE1.2 Describir las operaciones básicas del álgebra relacional.</a:t>
            </a:r>
            <a:endParaRPr b="0" sz="2400" strike="noStrike">
              <a:latin typeface="Arial"/>
              <a:ea typeface="Arial"/>
              <a:cs typeface="Arial"/>
              <a:sym typeface="Arial"/>
            </a:endParaRPr>
          </a:p>
        </p:txBody>
      </p:sp>
      <p:sp>
        <p:nvSpPr>
          <p:cNvPr id="392" name="Google Shape;392;p55"/>
          <p:cNvSpPr txBox="1"/>
          <p:nvPr/>
        </p:nvSpPr>
        <p:spPr>
          <a:xfrm>
            <a:off x="850320" y="1389600"/>
            <a:ext cx="6061680" cy="151848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s-ES" sz="1800" strike="noStrike">
                <a:latin typeface="Arial"/>
                <a:ea typeface="Arial"/>
                <a:cs typeface="Arial"/>
                <a:sym typeface="Arial"/>
              </a:rPr>
              <a:t>Unión (∪)</a:t>
            </a:r>
            <a:endParaRPr b="0" sz="1800" strike="noStrike">
              <a:latin typeface="Arial"/>
              <a:ea typeface="Arial"/>
              <a:cs typeface="Arial"/>
              <a:sym typeface="Arial"/>
            </a:endParaRPr>
          </a:p>
          <a:p>
            <a:pPr indent="0" lvl="0" marL="0" marR="0" rtl="0" algn="l">
              <a:spcBef>
                <a:spcPts val="0"/>
              </a:spcBef>
              <a:spcAft>
                <a:spcPts val="0"/>
              </a:spcAft>
              <a:buNone/>
            </a:pPr>
            <a:r>
              <a:rPr b="0" lang="es-ES" sz="1000" strike="noStrike">
                <a:latin typeface="Arial"/>
                <a:ea typeface="Arial"/>
                <a:cs typeface="Arial"/>
                <a:sym typeface="Arial"/>
              </a:rPr>
              <a:t>La operación R ∪ S </a:t>
            </a:r>
            <a:endParaRPr b="0" sz="1000" strike="noStrike">
              <a:latin typeface="Arial"/>
              <a:ea typeface="Arial"/>
              <a:cs typeface="Arial"/>
              <a:sym typeface="Arial"/>
            </a:endParaRPr>
          </a:p>
          <a:p>
            <a:pPr indent="0" lvl="0" marL="0" marR="0" rtl="0" algn="l">
              <a:spcBef>
                <a:spcPts val="0"/>
              </a:spcBef>
              <a:spcAft>
                <a:spcPts val="0"/>
              </a:spcAft>
              <a:buNone/>
            </a:pPr>
            <a:r>
              <a:rPr b="0" lang="es-ES" sz="1000" strike="noStrike">
                <a:latin typeface="Arial"/>
                <a:ea typeface="Arial"/>
                <a:cs typeface="Arial"/>
                <a:sym typeface="Arial"/>
              </a:rPr>
              <a:t>retorna el conjunto de tuplas que están en R, o en S, o en ambas. </a:t>
            </a:r>
            <a:endParaRPr b="0" sz="1000" strike="noStrike">
              <a:latin typeface="Arial"/>
              <a:ea typeface="Arial"/>
              <a:cs typeface="Arial"/>
              <a:sym typeface="Arial"/>
            </a:endParaRPr>
          </a:p>
          <a:p>
            <a:pPr indent="0" lvl="0" marL="0" marR="0" rtl="0" algn="l">
              <a:spcBef>
                <a:spcPts val="0"/>
              </a:spcBef>
              <a:spcAft>
                <a:spcPts val="0"/>
              </a:spcAft>
              <a:buNone/>
            </a:pPr>
            <a:r>
              <a:rPr b="0" lang="es-ES" sz="1000" strike="noStrike">
                <a:latin typeface="Arial"/>
                <a:ea typeface="Arial"/>
                <a:cs typeface="Arial"/>
                <a:sym typeface="Arial"/>
              </a:rPr>
              <a:t>R y S deben ser uniones compatibles, es decir con las mismas columnas. </a:t>
            </a:r>
            <a:endParaRPr b="0" sz="1000" strike="noStrike">
              <a:latin typeface="Arial"/>
              <a:ea typeface="Arial"/>
              <a:cs typeface="Arial"/>
              <a:sym typeface="Arial"/>
            </a:endParaRPr>
          </a:p>
          <a:p>
            <a:pPr indent="0" lvl="0" marL="0" marR="0" rtl="0" algn="l">
              <a:spcBef>
                <a:spcPts val="0"/>
              </a:spcBef>
              <a:spcAft>
                <a:spcPts val="0"/>
              </a:spcAft>
              <a:buNone/>
            </a:pPr>
            <a:r>
              <a:t/>
            </a:r>
            <a:endParaRPr b="0" sz="1000" strike="noStrike">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56"/>
          <p:cNvSpPr txBox="1"/>
          <p:nvPr/>
        </p:nvSpPr>
        <p:spPr>
          <a:xfrm>
            <a:off x="0" y="72000"/>
            <a:ext cx="10080000" cy="4320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s-ES" sz="2400" strike="noStrike">
                <a:latin typeface="Arial"/>
                <a:ea typeface="Arial"/>
                <a:cs typeface="Arial"/>
                <a:sym typeface="Arial"/>
              </a:rPr>
              <a:t>CE1.2 Describir las operaciones básicas del álgebra relacional.</a:t>
            </a:r>
            <a:endParaRPr b="0" sz="2400" strike="noStrike">
              <a:latin typeface="Arial"/>
              <a:ea typeface="Arial"/>
              <a:cs typeface="Arial"/>
              <a:sym typeface="Arial"/>
            </a:endParaRPr>
          </a:p>
        </p:txBody>
      </p:sp>
      <p:sp>
        <p:nvSpPr>
          <p:cNvPr id="398" name="Google Shape;398;p56"/>
          <p:cNvSpPr txBox="1"/>
          <p:nvPr/>
        </p:nvSpPr>
        <p:spPr>
          <a:xfrm>
            <a:off x="767520" y="1224000"/>
            <a:ext cx="7656480" cy="36738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s-ES" sz="1800" strike="noStrike">
                <a:latin typeface="Arial"/>
                <a:ea typeface="Arial"/>
                <a:cs typeface="Arial"/>
                <a:sym typeface="Arial"/>
              </a:rPr>
              <a:t>Selección - restricción (σ)</a:t>
            </a:r>
            <a:endParaRPr b="0" sz="1800" strike="noStrike">
              <a:latin typeface="Arial"/>
              <a:ea typeface="Arial"/>
              <a:cs typeface="Arial"/>
              <a:sym typeface="Arial"/>
            </a:endParaRPr>
          </a:p>
          <a:p>
            <a:pPr indent="0" lvl="0" marL="0" marR="0" rtl="0" algn="l">
              <a:spcBef>
                <a:spcPts val="0"/>
              </a:spcBef>
              <a:spcAft>
                <a:spcPts val="0"/>
              </a:spcAft>
              <a:buNone/>
            </a:pPr>
            <a:r>
              <a:t/>
            </a:r>
            <a:endParaRPr b="0" sz="1800" strike="noStrike">
              <a:latin typeface="Arial"/>
              <a:ea typeface="Arial"/>
              <a:cs typeface="Arial"/>
              <a:sym typeface="Arial"/>
            </a:endParaRPr>
          </a:p>
          <a:p>
            <a:pPr indent="0" lvl="0" marL="0" marR="0" rtl="0" algn="l">
              <a:spcBef>
                <a:spcPts val="0"/>
              </a:spcBef>
              <a:spcAft>
                <a:spcPts val="0"/>
              </a:spcAft>
              <a:buNone/>
            </a:pPr>
            <a:r>
              <a:rPr b="0" lang="es-ES" sz="1800" strike="noStrike">
                <a:latin typeface="Arial"/>
                <a:ea typeface="Arial"/>
                <a:cs typeface="Arial"/>
                <a:sym typeface="Arial"/>
              </a:rPr>
              <a:t>Permite seleccionar un subconjunto de tuplas de una relación (R), todas aquellas que cumplan la(s) condición(es) P, esto es:</a:t>
            </a:r>
            <a:endParaRPr b="0" sz="1800" strike="noStrike">
              <a:latin typeface="Arial"/>
              <a:ea typeface="Arial"/>
              <a:cs typeface="Arial"/>
              <a:sym typeface="Arial"/>
            </a:endParaRPr>
          </a:p>
          <a:p>
            <a:pPr indent="0" lvl="0" marL="0" marR="0" rtl="0" algn="l">
              <a:spcBef>
                <a:spcPts val="0"/>
              </a:spcBef>
              <a:spcAft>
                <a:spcPts val="0"/>
              </a:spcAft>
              <a:buNone/>
            </a:pPr>
            <a:r>
              <a:t/>
            </a:r>
            <a:endParaRPr b="0" sz="1800" strike="noStrike">
              <a:latin typeface="Arial"/>
              <a:ea typeface="Arial"/>
              <a:cs typeface="Arial"/>
              <a:sym typeface="Arial"/>
            </a:endParaRPr>
          </a:p>
          <a:p>
            <a:pPr indent="0" lvl="0" marL="0" marR="0" rtl="0" algn="l">
              <a:spcBef>
                <a:spcPts val="0"/>
              </a:spcBef>
              <a:spcAft>
                <a:spcPts val="0"/>
              </a:spcAft>
              <a:buNone/>
            </a:pPr>
            <a:r>
              <a:rPr b="0" lang="es-ES" sz="1800" strike="noStrike">
                <a:latin typeface="Arial"/>
                <a:ea typeface="Arial"/>
                <a:cs typeface="Arial"/>
                <a:sym typeface="Arial"/>
              </a:rPr>
              <a:t>        σ P ( R ) </a:t>
            </a:r>
            <a:endParaRPr b="0" sz="1800" strike="noStrike">
              <a:latin typeface="Arial"/>
              <a:ea typeface="Arial"/>
              <a:cs typeface="Arial"/>
              <a:sym typeface="Arial"/>
            </a:endParaRPr>
          </a:p>
          <a:p>
            <a:pPr indent="0" lvl="0" marL="0" marR="0" rtl="0" algn="l">
              <a:spcBef>
                <a:spcPts val="0"/>
              </a:spcBef>
              <a:spcAft>
                <a:spcPts val="0"/>
              </a:spcAft>
              <a:buNone/>
            </a:pPr>
            <a:r>
              <a:t/>
            </a:r>
            <a:endParaRPr b="0" sz="1800" strike="noStrike">
              <a:latin typeface="Arial"/>
              <a:ea typeface="Arial"/>
              <a:cs typeface="Arial"/>
              <a:sym typeface="Arial"/>
            </a:endParaRPr>
          </a:p>
          <a:p>
            <a:pPr indent="0" lvl="0" marL="0" marR="0" rtl="0" algn="l">
              <a:spcBef>
                <a:spcPts val="0"/>
              </a:spcBef>
              <a:spcAft>
                <a:spcPts val="0"/>
              </a:spcAft>
              <a:buNone/>
            </a:pPr>
            <a:r>
              <a:rPr b="0" lang="es-ES" sz="1800" strike="noStrike">
                <a:latin typeface="Arial"/>
                <a:ea typeface="Arial"/>
                <a:cs typeface="Arial"/>
                <a:sym typeface="Arial"/>
              </a:rPr>
              <a:t>Ejemplo:</a:t>
            </a:r>
            <a:endParaRPr b="0" sz="1800" strike="noStrike">
              <a:latin typeface="Arial"/>
              <a:ea typeface="Arial"/>
              <a:cs typeface="Arial"/>
              <a:sym typeface="Arial"/>
            </a:endParaRPr>
          </a:p>
          <a:p>
            <a:pPr indent="0" lvl="0" marL="0" marR="0" rtl="0" algn="l">
              <a:spcBef>
                <a:spcPts val="0"/>
              </a:spcBef>
              <a:spcAft>
                <a:spcPts val="0"/>
              </a:spcAft>
              <a:buNone/>
            </a:pPr>
            <a:r>
              <a:t/>
            </a:r>
            <a:endParaRPr b="0" sz="1800" strike="noStrike">
              <a:latin typeface="Arial"/>
              <a:ea typeface="Arial"/>
              <a:cs typeface="Arial"/>
              <a:sym typeface="Arial"/>
            </a:endParaRPr>
          </a:p>
          <a:p>
            <a:pPr indent="0" lvl="0" marL="0" marR="0" rtl="0" algn="l">
              <a:spcBef>
                <a:spcPts val="0"/>
              </a:spcBef>
              <a:spcAft>
                <a:spcPts val="0"/>
              </a:spcAft>
              <a:buNone/>
            </a:pPr>
            <a:r>
              <a:rPr b="0" lang="es-ES" sz="1800" strike="noStrike">
                <a:latin typeface="Arial"/>
                <a:ea typeface="Arial"/>
                <a:cs typeface="Arial"/>
                <a:sym typeface="Arial"/>
              </a:rPr>
              <a:t>        σApellido = Gomez(Alumnos) </a:t>
            </a:r>
            <a:endParaRPr b="0" sz="1800" strike="noStrike">
              <a:latin typeface="Arial"/>
              <a:ea typeface="Arial"/>
              <a:cs typeface="Arial"/>
              <a:sym typeface="Arial"/>
            </a:endParaRPr>
          </a:p>
          <a:p>
            <a:pPr indent="0" lvl="0" marL="0" marR="0" rtl="0" algn="l">
              <a:spcBef>
                <a:spcPts val="0"/>
              </a:spcBef>
              <a:spcAft>
                <a:spcPts val="0"/>
              </a:spcAft>
              <a:buNone/>
            </a:pPr>
            <a:r>
              <a:t/>
            </a:r>
            <a:endParaRPr b="0" sz="1800" strike="noStrike">
              <a:latin typeface="Arial"/>
              <a:ea typeface="Arial"/>
              <a:cs typeface="Arial"/>
              <a:sym typeface="Arial"/>
            </a:endParaRPr>
          </a:p>
          <a:p>
            <a:pPr indent="0" lvl="0" marL="0" marR="0" rtl="0" algn="l">
              <a:spcBef>
                <a:spcPts val="0"/>
              </a:spcBef>
              <a:spcAft>
                <a:spcPts val="0"/>
              </a:spcAft>
              <a:buNone/>
            </a:pPr>
            <a:r>
              <a:rPr b="0" lang="es-ES" sz="1800" strike="noStrike">
                <a:latin typeface="Arial"/>
                <a:ea typeface="Arial"/>
                <a:cs typeface="Arial"/>
                <a:sym typeface="Arial"/>
              </a:rPr>
              <a:t>Selecciona todas las tuplas que contengan Gómez como apellido en la relación Alumnos. </a:t>
            </a:r>
            <a:endParaRPr b="0" sz="1800" strike="noStrike">
              <a:latin typeface="Arial"/>
              <a:ea typeface="Arial"/>
              <a:cs typeface="Arial"/>
              <a:sym typeface="Arial"/>
            </a:endParaRPr>
          </a:p>
          <a:p>
            <a:pPr indent="0" lvl="0" marL="0" marR="0" rtl="0" algn="l">
              <a:spcBef>
                <a:spcPts val="0"/>
              </a:spcBef>
              <a:spcAft>
                <a:spcPts val="0"/>
              </a:spcAft>
              <a:buNone/>
            </a:pPr>
            <a:r>
              <a:t/>
            </a:r>
            <a:endParaRPr b="0" sz="1800" strike="noStrike">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57"/>
          <p:cNvSpPr txBox="1"/>
          <p:nvPr/>
        </p:nvSpPr>
        <p:spPr>
          <a:xfrm>
            <a:off x="0" y="72000"/>
            <a:ext cx="10080000" cy="4320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s-ES" sz="2400" strike="noStrike">
                <a:latin typeface="Arial"/>
                <a:ea typeface="Arial"/>
                <a:cs typeface="Arial"/>
                <a:sym typeface="Arial"/>
              </a:rPr>
              <a:t>CE1.2 Describir las operaciones básicas del álgebra relacional.</a:t>
            </a:r>
            <a:endParaRPr b="0" sz="2400" strike="noStrike">
              <a:latin typeface="Arial"/>
              <a:ea typeface="Arial"/>
              <a:cs typeface="Arial"/>
              <a:sym typeface="Arial"/>
            </a:endParaRPr>
          </a:p>
        </p:txBody>
      </p:sp>
      <p:sp>
        <p:nvSpPr>
          <p:cNvPr id="404" name="Google Shape;404;p57"/>
          <p:cNvSpPr txBox="1"/>
          <p:nvPr/>
        </p:nvSpPr>
        <p:spPr>
          <a:xfrm>
            <a:off x="624240" y="1595880"/>
            <a:ext cx="4847760" cy="210456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s-ES" sz="1800" strike="noStrike">
                <a:latin typeface="Arial"/>
                <a:ea typeface="Arial"/>
                <a:cs typeface="Arial"/>
                <a:sym typeface="Arial"/>
              </a:rPr>
              <a:t>Diferencia (-)</a:t>
            </a:r>
            <a:endParaRPr b="0" sz="1800" strike="noStrike">
              <a:latin typeface="Arial"/>
              <a:ea typeface="Arial"/>
              <a:cs typeface="Arial"/>
              <a:sym typeface="Arial"/>
            </a:endParaRPr>
          </a:p>
          <a:p>
            <a:pPr indent="0" lvl="0" marL="0" marR="0" rtl="0" algn="l">
              <a:spcBef>
                <a:spcPts val="0"/>
              </a:spcBef>
              <a:spcAft>
                <a:spcPts val="0"/>
              </a:spcAft>
              <a:buNone/>
            </a:pPr>
            <a:r>
              <a:rPr b="0" lang="es-ES" sz="1000" strike="noStrike">
                <a:latin typeface="Arial"/>
                <a:ea typeface="Arial"/>
                <a:cs typeface="Arial"/>
                <a:sym typeface="Arial"/>
              </a:rPr>
              <a:t>La diferencia de dos relaciones, R y S denotada por: </a:t>
            </a:r>
            <a:endParaRPr b="0" sz="1000" strike="noStrike">
              <a:latin typeface="Arial"/>
              <a:ea typeface="Arial"/>
              <a:cs typeface="Arial"/>
              <a:sym typeface="Arial"/>
            </a:endParaRPr>
          </a:p>
          <a:p>
            <a:pPr indent="0" lvl="0" marL="0" marR="0" rtl="0" algn="l">
              <a:spcBef>
                <a:spcPts val="0"/>
              </a:spcBef>
              <a:spcAft>
                <a:spcPts val="0"/>
              </a:spcAft>
              <a:buNone/>
            </a:pPr>
            <a:r>
              <a:rPr b="0" lang="es-ES" sz="1000" strike="noStrike">
                <a:latin typeface="Arial"/>
                <a:ea typeface="Arial"/>
                <a:cs typeface="Arial"/>
                <a:sym typeface="Arial"/>
              </a:rPr>
              <a:t>R − S </a:t>
            </a:r>
            <a:endParaRPr b="0" sz="1000" strike="noStrike">
              <a:latin typeface="Arial"/>
              <a:ea typeface="Arial"/>
              <a:cs typeface="Arial"/>
              <a:sym typeface="Arial"/>
            </a:endParaRPr>
          </a:p>
          <a:p>
            <a:pPr indent="0" lvl="0" marL="0" marR="0" rtl="0" algn="l">
              <a:spcBef>
                <a:spcPts val="0"/>
              </a:spcBef>
              <a:spcAft>
                <a:spcPts val="0"/>
              </a:spcAft>
              <a:buNone/>
            </a:pPr>
            <a:r>
              <a:rPr b="0" lang="es-ES" sz="1000" strike="noStrike">
                <a:latin typeface="Arial"/>
                <a:ea typeface="Arial"/>
                <a:cs typeface="Arial"/>
                <a:sym typeface="Arial"/>
              </a:rPr>
              <a:t>devuelve todas aquellas tuplas que están en R, pero no en S. </a:t>
            </a:r>
            <a:endParaRPr b="0" sz="1000" strike="noStrike">
              <a:latin typeface="Arial"/>
              <a:ea typeface="Arial"/>
              <a:cs typeface="Arial"/>
              <a:sym typeface="Arial"/>
            </a:endParaRPr>
          </a:p>
          <a:p>
            <a:pPr indent="0" lvl="0" marL="0" marR="0" rtl="0" algn="l">
              <a:spcBef>
                <a:spcPts val="0"/>
              </a:spcBef>
              <a:spcAft>
                <a:spcPts val="0"/>
              </a:spcAft>
              <a:buNone/>
            </a:pPr>
            <a:r>
              <a:rPr b="0" lang="es-ES" sz="1000" strike="noStrike">
                <a:latin typeface="Arial"/>
                <a:ea typeface="Arial"/>
                <a:cs typeface="Arial"/>
                <a:sym typeface="Arial"/>
              </a:rPr>
              <a:t>R y S deben ser uniones compatibles. </a:t>
            </a:r>
            <a:endParaRPr b="0" sz="1000" strike="noStrike">
              <a:latin typeface="Arial"/>
              <a:ea typeface="Arial"/>
              <a:cs typeface="Arial"/>
              <a:sym typeface="Arial"/>
            </a:endParaRPr>
          </a:p>
          <a:p>
            <a:pPr indent="0" lvl="0" marL="0" marR="0" rtl="0" algn="l">
              <a:spcBef>
                <a:spcPts val="0"/>
              </a:spcBef>
              <a:spcAft>
                <a:spcPts val="0"/>
              </a:spcAft>
              <a:buNone/>
            </a:pPr>
            <a:r>
              <a:t/>
            </a:r>
            <a:endParaRPr b="0" sz="1000" strike="noStrike">
              <a:latin typeface="Arial"/>
              <a:ea typeface="Arial"/>
              <a:cs typeface="Arial"/>
              <a:sym typeface="Arial"/>
            </a:endParaRPr>
          </a:p>
          <a:p>
            <a:pPr indent="0" lvl="0" marL="0" marR="0" rtl="0" algn="l">
              <a:spcBef>
                <a:spcPts val="0"/>
              </a:spcBef>
              <a:spcAft>
                <a:spcPts val="0"/>
              </a:spcAft>
              <a:buNone/>
            </a:pPr>
            <a:r>
              <a:t/>
            </a:r>
            <a:endParaRPr b="0" sz="1000" strike="noStrike">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58"/>
          <p:cNvSpPr txBox="1"/>
          <p:nvPr/>
        </p:nvSpPr>
        <p:spPr>
          <a:xfrm>
            <a:off x="0" y="72000"/>
            <a:ext cx="10080000" cy="4320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s-ES" sz="2400" strike="noStrike">
                <a:latin typeface="Arial"/>
                <a:ea typeface="Arial"/>
                <a:cs typeface="Arial"/>
                <a:sym typeface="Arial"/>
              </a:rPr>
              <a:t>CE1.2 Describir las operaciones básicas del álgebra relacional.</a:t>
            </a:r>
            <a:endParaRPr b="0" sz="2400" strike="noStrike">
              <a:latin typeface="Arial"/>
              <a:ea typeface="Arial"/>
              <a:cs typeface="Arial"/>
              <a:sym typeface="Arial"/>
            </a:endParaRPr>
          </a:p>
        </p:txBody>
      </p:sp>
      <p:sp>
        <p:nvSpPr>
          <p:cNvPr id="410" name="Google Shape;410;p58"/>
          <p:cNvSpPr txBox="1"/>
          <p:nvPr/>
        </p:nvSpPr>
        <p:spPr>
          <a:xfrm>
            <a:off x="648000" y="864000"/>
            <a:ext cx="5464440" cy="4302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s-ES" sz="2400" strike="noStrike">
                <a:latin typeface="Arial"/>
                <a:ea typeface="Arial"/>
                <a:cs typeface="Arial"/>
                <a:sym typeface="Arial"/>
              </a:rPr>
              <a:t>Operaciones no básicas o derivadas</a:t>
            </a:r>
            <a:endParaRPr b="0" sz="2400" strike="noStrike">
              <a:latin typeface="Arial"/>
              <a:ea typeface="Arial"/>
              <a:cs typeface="Arial"/>
              <a:sym typeface="Arial"/>
            </a:endParaRPr>
          </a:p>
        </p:txBody>
      </p:sp>
      <p:sp>
        <p:nvSpPr>
          <p:cNvPr id="411" name="Google Shape;411;p58"/>
          <p:cNvSpPr txBox="1"/>
          <p:nvPr/>
        </p:nvSpPr>
        <p:spPr>
          <a:xfrm>
            <a:off x="657720" y="1512000"/>
            <a:ext cx="8558280" cy="14184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s-ES" sz="1100" strike="noStrike">
                <a:latin typeface="Arial"/>
                <a:ea typeface="Arial"/>
                <a:cs typeface="Arial"/>
                <a:sym typeface="Arial"/>
              </a:rPr>
              <a:t>Intersección (∩)</a:t>
            </a:r>
            <a:endParaRPr b="0" sz="1100" strike="noStrike">
              <a:latin typeface="Arial"/>
              <a:ea typeface="Arial"/>
              <a:cs typeface="Arial"/>
              <a:sym typeface="Arial"/>
            </a:endParaRPr>
          </a:p>
          <a:p>
            <a:pPr indent="0" lvl="0" marL="0" marR="0" rtl="0" algn="l">
              <a:spcBef>
                <a:spcPts val="0"/>
              </a:spcBef>
              <a:spcAft>
                <a:spcPts val="0"/>
              </a:spcAft>
              <a:buNone/>
            </a:pPr>
            <a:r>
              <a:rPr b="0" lang="es-ES" sz="1000" strike="noStrike">
                <a:latin typeface="Arial"/>
                <a:ea typeface="Arial"/>
                <a:cs typeface="Arial"/>
                <a:sym typeface="Arial"/>
              </a:rPr>
              <a:t>La intersección de dos relaciones se puede especificar en función de otros operadores básicos: </a:t>
            </a:r>
            <a:endParaRPr b="0" sz="1000" strike="noStrike">
              <a:latin typeface="Arial"/>
              <a:ea typeface="Arial"/>
              <a:cs typeface="Arial"/>
              <a:sym typeface="Arial"/>
            </a:endParaRPr>
          </a:p>
          <a:p>
            <a:pPr indent="0" lvl="0" marL="0" marR="0" rtl="0" algn="l">
              <a:spcBef>
                <a:spcPts val="0"/>
              </a:spcBef>
              <a:spcAft>
                <a:spcPts val="0"/>
              </a:spcAft>
              <a:buNone/>
            </a:pPr>
            <a:r>
              <a:rPr b="0" lang="es-ES" sz="1000" strike="noStrike">
                <a:latin typeface="Arial"/>
                <a:ea typeface="Arial"/>
                <a:cs typeface="Arial"/>
                <a:sym typeface="Arial"/>
              </a:rPr>
              <a:t>R ∩ S = R − ( R − S ) {\displaystyle R\cap S=R-(R-S)} </a:t>
            </a:r>
            <a:endParaRPr b="0" sz="1000" strike="noStrike">
              <a:latin typeface="Arial"/>
              <a:ea typeface="Arial"/>
              <a:cs typeface="Arial"/>
              <a:sym typeface="Arial"/>
            </a:endParaRPr>
          </a:p>
          <a:p>
            <a:pPr indent="0" lvl="0" marL="0" marR="0" rtl="0" algn="l">
              <a:spcBef>
                <a:spcPts val="0"/>
              </a:spcBef>
              <a:spcAft>
                <a:spcPts val="0"/>
              </a:spcAft>
              <a:buNone/>
            </a:pPr>
            <a:r>
              <a:rPr b="0" lang="es-ES" sz="1000" strike="noStrike">
                <a:latin typeface="Arial"/>
                <a:ea typeface="Arial"/>
                <a:cs typeface="Arial"/>
                <a:sym typeface="Arial"/>
              </a:rPr>
              <a:t>La intersección, corresponde al conjunto de todas las tuplas que están en R y en S, siendo R y S uniones compatibles. </a:t>
            </a:r>
            <a:endParaRPr b="0" sz="1000" strike="noStrike">
              <a:latin typeface="Arial"/>
              <a:ea typeface="Arial"/>
              <a:cs typeface="Arial"/>
              <a:sym typeface="Arial"/>
            </a:endParaRPr>
          </a:p>
          <a:p>
            <a:pPr indent="0" lvl="0" marL="0" marR="0" rtl="0" algn="l">
              <a:spcBef>
                <a:spcPts val="0"/>
              </a:spcBef>
              <a:spcAft>
                <a:spcPts val="0"/>
              </a:spcAft>
              <a:buNone/>
            </a:pPr>
            <a:r>
              <a:t/>
            </a:r>
            <a:endParaRPr b="0" sz="1000" strike="noStrike">
              <a:latin typeface="Arial"/>
              <a:ea typeface="Arial"/>
              <a:cs typeface="Arial"/>
              <a:sym typeface="Arial"/>
            </a:endParaRPr>
          </a:p>
        </p:txBody>
      </p:sp>
      <p:sp>
        <p:nvSpPr>
          <p:cNvPr id="412" name="Google Shape;412;p58"/>
          <p:cNvSpPr txBox="1"/>
          <p:nvPr/>
        </p:nvSpPr>
        <p:spPr>
          <a:xfrm>
            <a:off x="576000" y="2988000"/>
            <a:ext cx="8496000" cy="24120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s-ES" sz="1100" strike="noStrike">
                <a:latin typeface="Arial"/>
                <a:ea typeface="Arial"/>
                <a:cs typeface="Arial"/>
                <a:sym typeface="Arial"/>
              </a:rPr>
              <a:t>Unión natural (⋈) (Natural Join)</a:t>
            </a:r>
            <a:endParaRPr b="0" sz="1100" strike="noStrike">
              <a:latin typeface="Arial"/>
              <a:ea typeface="Arial"/>
              <a:cs typeface="Arial"/>
              <a:sym typeface="Arial"/>
            </a:endParaRPr>
          </a:p>
          <a:p>
            <a:pPr indent="0" lvl="0" marL="0" marR="0" rtl="0" algn="l">
              <a:spcBef>
                <a:spcPts val="0"/>
              </a:spcBef>
              <a:spcAft>
                <a:spcPts val="0"/>
              </a:spcAft>
              <a:buNone/>
            </a:pPr>
            <a:r>
              <a:rPr b="0" lang="es-ES" sz="1000" strike="noStrike">
                <a:latin typeface="Arial"/>
                <a:ea typeface="Arial"/>
                <a:cs typeface="Arial"/>
                <a:sym typeface="Arial"/>
              </a:rPr>
              <a:t>Consiste en combinar las proyección, selección y producto cartesiano en una sola operación, donde la condición θ es la igualdad </a:t>
            </a:r>
            <a:endParaRPr b="0" sz="1000" strike="noStrike">
              <a:latin typeface="Arial"/>
              <a:ea typeface="Arial"/>
              <a:cs typeface="Arial"/>
              <a:sym typeface="Arial"/>
            </a:endParaRPr>
          </a:p>
          <a:p>
            <a:pPr indent="0" lvl="0" marL="0" marR="0" rtl="0" algn="l">
              <a:spcBef>
                <a:spcPts val="0"/>
              </a:spcBef>
              <a:spcAft>
                <a:spcPts val="0"/>
              </a:spcAft>
              <a:buNone/>
            </a:pPr>
            <a:r>
              <a:rPr b="0" lang="es-ES" sz="1000" strike="noStrike">
                <a:latin typeface="Arial"/>
                <a:ea typeface="Arial"/>
                <a:cs typeface="Arial"/>
                <a:sym typeface="Arial"/>
              </a:rPr>
              <a:t>Clave Primaria = Clave Externa (o Foránea), y la proyección elimina la columna duplicada (clave externa). </a:t>
            </a:r>
            <a:endParaRPr b="0" sz="1000" strike="noStrike">
              <a:latin typeface="Arial"/>
              <a:ea typeface="Arial"/>
              <a:cs typeface="Arial"/>
              <a:sym typeface="Arial"/>
            </a:endParaRPr>
          </a:p>
          <a:p>
            <a:pPr indent="0" lvl="0" marL="0" marR="0" rtl="0" algn="l">
              <a:spcBef>
                <a:spcPts val="0"/>
              </a:spcBef>
              <a:spcAft>
                <a:spcPts val="0"/>
              </a:spcAft>
              <a:buNone/>
            </a:pPr>
            <a:r>
              <a:rPr b="0" lang="es-ES" sz="1000" strike="noStrike">
                <a:latin typeface="Arial"/>
                <a:ea typeface="Arial"/>
                <a:cs typeface="Arial"/>
                <a:sym typeface="Arial"/>
              </a:rPr>
              <a:t>Expresada en las operaciones básicas, queda  R ⋈ S = Π A 1 , A 2... A n ( σ θ ( R × S ) ) </a:t>
            </a:r>
            <a:endParaRPr b="0" sz="1000" strike="noStrike">
              <a:latin typeface="Arial"/>
              <a:ea typeface="Arial"/>
              <a:cs typeface="Arial"/>
              <a:sym typeface="Arial"/>
            </a:endParaRPr>
          </a:p>
          <a:p>
            <a:pPr indent="0" lvl="0" marL="0" marR="0" rtl="0" algn="l">
              <a:spcBef>
                <a:spcPts val="0"/>
              </a:spcBef>
              <a:spcAft>
                <a:spcPts val="0"/>
              </a:spcAft>
              <a:buNone/>
            </a:pPr>
            <a:r>
              <a:rPr b="0" lang="es-ES" sz="1000" strike="noStrike">
                <a:latin typeface="Arial"/>
                <a:ea typeface="Arial"/>
                <a:cs typeface="Arial"/>
                <a:sym typeface="Arial"/>
              </a:rPr>
              <a:t>Una reunión theta ( θ-Join) de dos relaciones es equivalente a: </a:t>
            </a:r>
            <a:endParaRPr b="0" sz="1000" strike="noStrike">
              <a:latin typeface="Arial"/>
              <a:ea typeface="Arial"/>
              <a:cs typeface="Arial"/>
              <a:sym typeface="Arial"/>
            </a:endParaRPr>
          </a:p>
          <a:p>
            <a:pPr indent="0" lvl="0" marL="0" marR="0" rtl="0" algn="l">
              <a:spcBef>
                <a:spcPts val="0"/>
              </a:spcBef>
              <a:spcAft>
                <a:spcPts val="0"/>
              </a:spcAft>
              <a:buNone/>
            </a:pPr>
            <a:r>
              <a:rPr b="0" lang="es-ES" sz="1000" strike="noStrike">
                <a:latin typeface="Arial"/>
                <a:ea typeface="Arial"/>
                <a:cs typeface="Arial"/>
                <a:sym typeface="Arial"/>
              </a:rPr>
              <a:t>R ⋈ θ S = σ θ ( R × S )  donde la condición θ es libre. </a:t>
            </a:r>
            <a:endParaRPr b="0" sz="1000" strike="noStrike">
              <a:latin typeface="Arial"/>
              <a:ea typeface="Arial"/>
              <a:cs typeface="Arial"/>
              <a:sym typeface="Arial"/>
            </a:endParaRPr>
          </a:p>
          <a:p>
            <a:pPr indent="0" lvl="0" marL="0" marR="0" rtl="0" algn="l">
              <a:spcBef>
                <a:spcPts val="0"/>
              </a:spcBef>
              <a:spcAft>
                <a:spcPts val="0"/>
              </a:spcAft>
              <a:buNone/>
            </a:pPr>
            <a:r>
              <a:rPr b="0" lang="es-ES" sz="1000" strike="noStrike">
                <a:latin typeface="Arial"/>
                <a:ea typeface="Arial"/>
                <a:cs typeface="Arial"/>
                <a:sym typeface="Arial"/>
              </a:rPr>
              <a:t>Si la condición θ {\displaystyle \theta } es una igualdad se denomina EquiJoin. </a:t>
            </a:r>
            <a:endParaRPr b="0" sz="1000" strike="noStrike">
              <a:latin typeface="Arial"/>
              <a:ea typeface="Arial"/>
              <a:cs typeface="Arial"/>
              <a:sym typeface="Arial"/>
            </a:endParaRPr>
          </a:p>
          <a:p>
            <a:pPr indent="0" lvl="0" marL="0" marR="0" rtl="0" algn="l">
              <a:spcBef>
                <a:spcPts val="0"/>
              </a:spcBef>
              <a:spcAft>
                <a:spcPts val="0"/>
              </a:spcAft>
              <a:buNone/>
            </a:pPr>
            <a:r>
              <a:t/>
            </a:r>
            <a:endParaRPr b="0" sz="1000" strike="noStrike">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59"/>
          <p:cNvSpPr txBox="1"/>
          <p:nvPr/>
        </p:nvSpPr>
        <p:spPr>
          <a:xfrm>
            <a:off x="0" y="72000"/>
            <a:ext cx="10080000" cy="4320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s-ES" sz="2400" strike="noStrike">
                <a:latin typeface="Arial"/>
                <a:ea typeface="Arial"/>
                <a:cs typeface="Arial"/>
                <a:sym typeface="Arial"/>
              </a:rPr>
              <a:t>CE1.2 Describir las operaciones básicas del álgebra relacional.</a:t>
            </a:r>
            <a:endParaRPr b="0" sz="2400" strike="noStrike">
              <a:latin typeface="Arial"/>
              <a:ea typeface="Arial"/>
              <a:cs typeface="Arial"/>
              <a:sym typeface="Arial"/>
            </a:endParaRPr>
          </a:p>
        </p:txBody>
      </p:sp>
      <p:sp>
        <p:nvSpPr>
          <p:cNvPr id="418" name="Google Shape;418;p59"/>
          <p:cNvSpPr txBox="1"/>
          <p:nvPr/>
        </p:nvSpPr>
        <p:spPr>
          <a:xfrm>
            <a:off x="692640" y="2106000"/>
            <a:ext cx="8739360" cy="228600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s-ES" sz="1100" strike="noStrike">
                <a:latin typeface="Arial"/>
                <a:ea typeface="Arial"/>
                <a:cs typeface="Arial"/>
                <a:sym typeface="Arial"/>
              </a:rPr>
              <a:t>División (/) (Cociente)</a:t>
            </a:r>
            <a:endParaRPr b="0" sz="1100" strike="noStrike">
              <a:latin typeface="Arial"/>
              <a:ea typeface="Arial"/>
              <a:cs typeface="Arial"/>
              <a:sym typeface="Arial"/>
            </a:endParaRPr>
          </a:p>
          <a:p>
            <a:pPr indent="0" lvl="0" marL="0" marR="0" rtl="0" algn="l">
              <a:spcBef>
                <a:spcPts val="0"/>
              </a:spcBef>
              <a:spcAft>
                <a:spcPts val="0"/>
              </a:spcAft>
              <a:buNone/>
            </a:pPr>
            <a:r>
              <a:rPr b="0" lang="es-ES" sz="1000" strike="noStrike">
                <a:latin typeface="Arial"/>
                <a:ea typeface="Arial"/>
                <a:cs typeface="Arial"/>
                <a:sym typeface="Arial"/>
              </a:rPr>
              <a:t>Supongamos que tenemos dos relaciones A(x, y) y B(y) donde el dominio de y en A y B, es el mismo. </a:t>
            </a:r>
            <a:endParaRPr b="0" sz="1000" strike="noStrike">
              <a:latin typeface="Arial"/>
              <a:ea typeface="Arial"/>
              <a:cs typeface="Arial"/>
              <a:sym typeface="Arial"/>
            </a:endParaRPr>
          </a:p>
          <a:p>
            <a:pPr indent="0" lvl="0" marL="0" marR="0" rtl="0" algn="l">
              <a:spcBef>
                <a:spcPts val="0"/>
              </a:spcBef>
              <a:spcAft>
                <a:spcPts val="0"/>
              </a:spcAft>
              <a:buNone/>
            </a:pPr>
            <a:r>
              <a:rPr b="0" lang="es-ES" sz="1000" strike="noStrike">
                <a:latin typeface="Arial"/>
                <a:ea typeface="Arial"/>
                <a:cs typeface="Arial"/>
                <a:sym typeface="Arial"/>
              </a:rPr>
              <a:t>El operador división A / B retorna todos los valores de x tales que para todo valor y en B existe una tupla ⟨ x , y ⟩ {\displaystyle \langle x,y\rangle } en A. </a:t>
            </a:r>
            <a:endParaRPr b="0" sz="1000" strike="noStrike">
              <a:latin typeface="Arial"/>
              <a:ea typeface="Arial"/>
              <a:cs typeface="Arial"/>
              <a:sym typeface="Arial"/>
            </a:endParaRPr>
          </a:p>
          <a:p>
            <a:pPr indent="0" lvl="0" marL="0" marR="0" rtl="0" algn="l">
              <a:spcBef>
                <a:spcPts val="0"/>
              </a:spcBef>
              <a:spcAft>
                <a:spcPts val="0"/>
              </a:spcAft>
              <a:buNone/>
            </a:pPr>
            <a:r>
              <a:rPr b="1" lang="es-ES" sz="1100" strike="noStrike">
                <a:latin typeface="Arial"/>
                <a:ea typeface="Arial"/>
                <a:cs typeface="Arial"/>
                <a:sym typeface="Arial"/>
              </a:rPr>
              <a:t>Agrupación (Ģ) (Unión)</a:t>
            </a:r>
            <a:endParaRPr b="0" sz="1100" strike="noStrike">
              <a:latin typeface="Arial"/>
              <a:ea typeface="Arial"/>
              <a:cs typeface="Arial"/>
              <a:sym typeface="Arial"/>
            </a:endParaRPr>
          </a:p>
          <a:p>
            <a:pPr indent="0" lvl="0" marL="0" marR="0" rtl="0" algn="l">
              <a:spcBef>
                <a:spcPts val="0"/>
              </a:spcBef>
              <a:spcAft>
                <a:spcPts val="0"/>
              </a:spcAft>
              <a:buNone/>
            </a:pPr>
            <a:r>
              <a:rPr b="0" lang="es-ES" sz="1000" strike="noStrike">
                <a:latin typeface="Arial"/>
                <a:ea typeface="Arial"/>
                <a:cs typeface="Arial"/>
                <a:sym typeface="Arial"/>
              </a:rPr>
              <a:t>Permite agrupar conjuntos de valores en función de un campo determinado y hacer operaciones con otros campos. </a:t>
            </a:r>
            <a:endParaRPr b="0" sz="1000" strike="noStrike">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60"/>
          <p:cNvSpPr txBox="1"/>
          <p:nvPr/>
        </p:nvSpPr>
        <p:spPr>
          <a:xfrm>
            <a:off x="0" y="93960"/>
            <a:ext cx="10008000" cy="55404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rPr b="1" lang="es-ES" sz="2400" strike="noStrike">
                <a:latin typeface="Arial"/>
                <a:ea typeface="Arial"/>
                <a:cs typeface="Arial"/>
                <a:sym typeface="Arial"/>
              </a:rPr>
              <a:t>CE1.3 Identificar las técnicas de modelización de datos habituales.</a:t>
            </a:r>
            <a:endParaRPr b="0" sz="2400" strike="noStrike">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